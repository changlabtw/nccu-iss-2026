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 2025</c:v>
                  </c:pt>
                  <c:pt idx="1">
                    <c:v>Aug 2025</c:v>
                  </c:pt>
                  <c:pt idx="2">
                    <c:v>Nov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49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Augmentation</c:v>
                </c:pt>
              </c:strCache>
            </c:strRef>
          </c:tx>
          <c:spPr>
            <a:solidFill>
              <a:srgbClr val="0B5C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 2025</c:v>
                  </c:pt>
                  <c:pt idx="1">
                    <c:v>Aug 2025</c:v>
                  </c:pt>
                  <c:pt idx="2">
                    <c:v>Nov 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</c:v>
                </c:pt>
                <c:pt idx="1">
                  <c:v>47</c:v>
                </c:pt>
                <c:pt idx="2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photos/AT6QkCgfVH8JsmH69" TargetMode="External"/><Relationship Id="rId4" Type="http://schemas.openxmlformats.org/officeDocument/2006/relationships/hyperlink" Target="https://goo.gl/photos/dBiRxWYxbWSsbCHA8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CA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B5CAD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NCCU International Summer School 2026 · Course S3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Communication and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Technologies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AI: The Big Picture &amp; Neural Network Intuition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20, 2026 · 09:10–12:00 · Jia-Ming Chang, Dept. of Computer Science, NCCU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changlabtw.github.io/nccu-iss-2026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from history to hands-on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morning, three parts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09:10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153619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your instructor &amp; course map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teaching you, how the 6 days fit, grading, teams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0545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09:25</a:t>
            </a:r>
            <a:endParaRPr lang="en-US" sz="1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68833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2505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A: AI, the big picture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years of AI in one story, ending with a Nobel Prize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41985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3474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10:10</a:t>
            </a:r>
            <a:endParaRPr lang="en-US" sz="1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7480" y="3474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B: AI is reshaping work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 how millions of people work with AI today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4443984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10:30</a:t>
            </a:r>
            <a:endParaRPr lang="en-US" sz="1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462686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97480" y="44439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grab water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535838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54132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10:45</a:t>
            </a:r>
            <a:endParaRPr lang="en-US" sz="1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559612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697480" y="541324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(~1.25 hr)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teams, and training your first neural network in the browser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join our Zuvio classroom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Zuvio for quick polls and check-ins all week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2514600"/>
          </a:xfrm>
          <a:prstGeom prst="roundRect">
            <a:avLst>
              <a:gd name="adj" fmla="val 29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93852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register online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“Zuvio Campus” from the App Store / Google Play, or sign up at zuvio.com.tw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78224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06824" y="1691640"/>
            <a:ext cx="3575304" cy="2514600"/>
          </a:xfrm>
          <a:prstGeom prst="roundRect">
            <a:avLst>
              <a:gd name="adj" fmla="val 290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62856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9385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 in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in the Zuvio Campus app and sign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836408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065008" y="1691640"/>
            <a:ext cx="3575304" cy="2514600"/>
          </a:xfrm>
          <a:prstGeom prst="roundRect">
            <a:avLst>
              <a:gd name="adj" fmla="val 2909"/>
            </a:avLst>
          </a:prstGeom>
          <a:solidFill>
            <a:srgbClr val="EAF2FB"/>
          </a:solidFill>
          <a:ln/>
        </p:spPr>
      </p:sp>
      <p:sp>
        <p:nvSpPr>
          <p:cNvPr id="15" name="Text 11"/>
          <p:cNvSpPr/>
          <p:nvPr/>
        </p:nvSpPr>
        <p:spPr>
          <a:xfrm>
            <a:off x="832104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93852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course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“Learning,” tap + and enter the course passcode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93F76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passcode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206240" y="4617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152422914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9052560" y="4754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a hand — we'll set it up together in the first minutes.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teaching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Jia-Ming Chang (張家銘) · Dept. of Computer Science, NCCU</a:t>
            </a:r>
            <a:endParaRPr lang="en-US" sz="1500" dirty="0"/>
          </a:p>
        </p:txBody>
      </p:sp>
      <p:pic>
        <p:nvPicPr>
          <p:cNvPr id="4" name="Image 0" descr="/home/claude/day1/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00400" cy="3200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1645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computational biologist. </a:t>
            </a:r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computers to make sense of the data of life — genomes, proteins, cells.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023360" y="2331720"/>
            <a:ext cx="7616952" cy="566928"/>
          </a:xfrm>
          <a:prstGeom prst="roundRect">
            <a:avLst>
              <a:gd name="adj" fmla="val 96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51960" y="235915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&amp; MSc in Computer Science, National Tsing Hua University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023360" y="2990088"/>
            <a:ext cx="7616952" cy="566928"/>
          </a:xfrm>
          <a:prstGeom prst="roundRect">
            <a:avLst>
              <a:gd name="adj" fmla="val 96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30175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Genomic Regulation (CRG), Barcelona — La Caixa fellowship, with Cedric Notredame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23360" y="3648456"/>
            <a:ext cx="7616952" cy="566928"/>
          </a:xfrm>
          <a:prstGeom prst="roundRect">
            <a:avLst>
              <a:gd name="adj" fmla="val 96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367588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Postdoc 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Human Genetics (IGH / CNRS), Montpellier — with Giacomo Cavalli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023360" y="4306824"/>
            <a:ext cx="7616952" cy="566928"/>
          </a:xfrm>
          <a:prstGeom prst="roundRect">
            <a:avLst>
              <a:gd name="adj" fmla="val 96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51960" y="4334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NCCU — I lead the Big / Biodata Science Lab (巨觀生物資料科學實驗室)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023360" y="4965192"/>
            <a:ext cx="7616952" cy="566928"/>
          </a:xfrm>
          <a:prstGeom prst="roundRect">
            <a:avLst>
              <a:gd name="adj" fmla="val 96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499262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Editor, NAR Genomics and Bioinformatics (Oxford University Press)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trained: the PRBB, Barcelona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Genomic Regulation (CRG) — right on the Mediterranean</a:t>
            </a:r>
            <a:endParaRPr lang="en-US" sz="1500" dirty="0"/>
          </a:p>
        </p:txBody>
      </p:sp>
      <p:pic>
        <p:nvPicPr>
          <p:cNvPr id="4" name="Image 0" descr="/home/claude/day1/prbb_bld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97764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45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PRBB building on Barceloneta beach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00600" y="1600200"/>
            <a:ext cx="3108960" cy="4160520"/>
          </a:xfrm>
          <a:prstGeom prst="roundRect">
            <a:avLst>
              <a:gd name="adj" fmla="val 2353"/>
            </a:avLst>
          </a:prstGeom>
          <a:solidFill>
            <a:srgbClr val="EAF2FB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1828800"/>
            <a:ext cx="2560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CRG at a glance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2000
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groups, 6 core facilities
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· 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abroad
</a:t>
            </a:r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#9 worldwide </a:t>
            </a:r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(SCImago, health sector, 2014)
</a:t>
            </a:r>
            <a:pPr indent="0" marL="0">
              <a:buNone/>
            </a:pPr>
            <a:r>
              <a:rPr lang="en-US" sz="12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international institute — much like this summer school.</a:t>
            </a:r>
            <a:endParaRPr lang="en-US" sz="1600" dirty="0"/>
          </a:p>
        </p:txBody>
      </p:sp>
      <p:pic>
        <p:nvPicPr>
          <p:cNvPr id="8" name="Image 1" descr="/home/claude/day1/crg_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00200"/>
            <a:ext cx="2770632" cy="4160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0" y="57790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CRG lab group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9560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albums: </a:t>
            </a:r>
            <a:pPr algn="ctr" indent="0" marL="0">
              <a:buNone/>
            </a:pPr>
            <a:r>
              <a:rPr lang="en-US" sz="1100" u="sng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album 1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100" u="sng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album 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bioinformatician is teaching you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fields grew up together — and are merging again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in 2024 what he'd study today, NVIDIA's CEO Jensen Huang reportedly pointed away from programming and toward the life sciences. </a:t>
            </a:r>
            <a:pPr indent="0" marL="0"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you'll meet this week — the same GPUs, the same neural networks — are now reading genomes and folding proteins.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64992"/>
            <a:ext cx="658368" cy="658368"/>
          </a:xfrm>
          <a:prstGeom prst="ellipse">
            <a:avLst/>
          </a:prstGeom>
          <a:solidFill>
            <a:srgbClr val="EAF2FB"/>
          </a:solidFill>
          <a:ln w="31750">
            <a:solidFill>
              <a:srgbClr val="0B5C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64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2448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Karp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Award laureate who moved his combinatorial-algorithms expertise into computational biology in mid-career.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06824" y="315468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3364992"/>
            <a:ext cx="658368" cy="658368"/>
          </a:xfrm>
          <a:prstGeom prst="ellipse">
            <a:avLst/>
          </a:prstGeom>
          <a:solidFill>
            <a:srgbClr val="EAF2FB"/>
          </a:solidFill>
          <a:ln w="3175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3364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</a:t>
            </a:r>
            <a:endParaRPr lang="en-US" sz="2448" dirty="0"/>
          </a:p>
        </p:txBody>
      </p:sp>
      <p:sp>
        <p:nvSpPr>
          <p:cNvPr id="13" name="Text 11"/>
          <p:cNvSpPr/>
          <p:nvPr/>
        </p:nvSpPr>
        <p:spPr>
          <a:xfrm>
            <a:off x="4581144" y="4114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Donald Knuth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father of algorithm analysis said that if he were starting over, he'd be drawn to biology.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65008" y="315468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28" y="338328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39328" y="4114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it on Day 4: AlphaFold (protein folding) and AI reading the genome — a Nobel-winning frontier.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AI is not a topic apart from your field. It's a tool that's arriving in every field — including yours.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in six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using AI, to understanding AI, to questioning 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7/20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4560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7/21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9631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image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7/22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7083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agents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7/23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frontier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science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18120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0B5CAD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7/27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987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trust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92640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21240" y="182880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19659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7/28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94392" y="228600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day: </a:t>
            </a:r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lecture + a ~1.5-hour hands-on lab in the browser. No programming background needed — that is a promise, not a disclaimer.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that ties it together: </a:t>
            </a:r>
            <a:pPr indent="0" marL="0">
              <a:buNone/>
            </a:pPr>
            <a:r>
              <a:rPr lang="en-US" sz="15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technologies change what we communicate, and what we trust.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&amp; how we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 purpose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in-class participation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(including the daily computer labs)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on Day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Q&amp;A; rubric on the course site)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up, take part, present well. That's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&amp; tools</a:t>
            </a:r>
            <a:endParaRPr lang="en-US" sz="1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31343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86600" y="221284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 (three of 4, one of 3) — formed today, you present together on 7/28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54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305409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standardize on Claude (claude.ai) for consistency — but you're welcome to use ChatGPT, Gemini, or others</a:t>
            </a:r>
            <a:endParaRPr lang="en-US" sz="13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9959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389534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&amp; NotebookLM — free accounts, set up in today's lab</a:t>
            </a:r>
            <a:endParaRPr lang="en-US" sz="13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83717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473659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on the course website: schedule, readings, worksheets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AI — from the movies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shout out a film about AI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00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 A Space Odyssey (1968) · The Terminator (1984) · The Matrix (1999) · A.I. (2001) · Her (2013) · Ex Machina (2014) · M3GAN (2022) · The Creator (2023) …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093F7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BD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AI is about robots that </a:t>
            </a:r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</a:t>
            </a:r>
            <a:pPr indent="0" marL="0">
              <a:buNone/>
            </a:pPr>
            <a:r>
              <a:rPr lang="en-US" sz="2100" dirty="0">
                <a:solidFill>
                  <a:srgbClr val="BBD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things.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BBD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AI is about systems that 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patterns from data</a:t>
            </a:r>
            <a:pPr indent="0" marL="0">
              <a:buNone/>
            </a:pPr>
            <a:r>
              <a:rPr lang="en-US" sz="2100" dirty="0">
                <a:solidFill>
                  <a:srgbClr val="BBD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that is already everywhere.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9377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you already use AI today? (Phone unlock? Translation? Maps? A recommendation? A chatbot?)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012680" y="4983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10" name="Text 7"/>
          <p:cNvSpPr/>
          <p:nvPr/>
        </p:nvSpPr>
        <p:spPr>
          <a:xfrm>
            <a:off x="10012680" y="4983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got its name at a summer workshop — like this 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103120"/>
          </a:xfrm>
          <a:prstGeom prst="roundRect">
            <a:avLst>
              <a:gd name="adj" fmla="val 3478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“Making machines behave in ways that would be called intelligent if a human were so behaving.”
</a:t>
            </a:r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working definition from the field's founding proposal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0B5CAD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737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
</a:t>
            </a:r>
            <a:pPr indent="0" marL="0">
              <a:buNone/>
            </a:pPr>
            <a:r>
              <a:rPr lang="en-US" sz="12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Summer Research Project — McCarthy, Minsky, Shannon &amp; colleagues coin the term “artificial intelligence”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big families of approaches since then: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written by humans </a:t>
            </a:r>
            <a:pPr indent="0" marL="0"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(“if the board looks like this, move here”) — brittle, limited.   </a:t>
            </a:r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learned from data </a:t>
            </a:r>
            <a:pPr indent="0" marL="0"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 learning) — the approach that won, and today's story.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nested ideas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you read fits in one of these circles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EAF2FB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that makes machines act “smart”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26060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D3E4F6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 instead of hand-written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3520440"/>
            <a:ext cx="4389120" cy="1920240"/>
          </a:xfrm>
          <a:prstGeom prst="roundRect">
            <a:avLst>
              <a:gd name="adj" fmla="val 4762"/>
            </a:avLst>
          </a:prstGeom>
          <a:solidFill>
            <a:srgbClr val="0B5CAD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7033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
</a:t>
            </a:r>
            <a:pPr indent="0" marL="0">
              <a:buNone/>
            </a:pPr>
            <a:r>
              <a:rPr lang="en-US" sz="11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many-layered neural networks — powers image recognition, ChatGPT, Claude, deepfakes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1920240"/>
            <a:ext cx="457200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99339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chess program following hand-written rules
</a:t>
            </a:r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but not ML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3337560"/>
            <a:ext cx="457200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41071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spam filter that learns from examples
</a:t>
            </a:r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but not deep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4754880"/>
            <a:ext cx="457200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482803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ChatGPT, face recognition, deepfakes
</a:t>
            </a:r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AI, ML, or deep learning?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Zuvio — no wrong answers, just a warm-up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thermostat that turns on the heat below 18°C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2666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81635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suggesting your next show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05656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9534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unlocking with your 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928616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97433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adding two numbers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your vote for each — we'll reveal the answers next.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and the answers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matters less than the range “AI” covers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thermostat that turns on the heat below 18°C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5B647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874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(simple rules)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81160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at 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2666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suggesting your next show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040880" y="2953512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953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81160" y="28163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from what you watch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105656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89534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unlocking with your face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040880" y="4032504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093F76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403250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81160" y="389534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recognizes you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28616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97433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adding two numbers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040880" y="5111496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5B6470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511149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81160" y="497433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follows fixed arithmetic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fixed rules to systems that learn: that spread is exactly the story of the next 15 slides.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years in two slides — Act 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hopes, hard winters, first victories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606040"/>
            <a:ext cx="10332720" cy="0"/>
          </a:xfrm>
          <a:prstGeom prst="line">
            <a:avLst/>
          </a:prstGeom>
          <a:noFill/>
          <a:ln w="31750">
            <a:solidFill>
              <a:srgbClr val="0B5C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346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6" name="Text 4"/>
          <p:cNvSpPr/>
          <p:nvPr/>
        </p:nvSpPr>
        <p:spPr>
          <a:xfrm>
            <a:off x="879653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workshop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“AI” is born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15284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2601468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learning neuron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3709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4323283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winters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outrun computers; funding freezes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9829" y="252374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046013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network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meets memory — today's paper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81644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4" name="Text 12"/>
          <p:cNvSpPr/>
          <p:nvPr/>
        </p:nvSpPr>
        <p:spPr>
          <a:xfrm>
            <a:off x="7767828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beats Kasparov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win chess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0345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9489643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wins Jeopardy!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parse language on TV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rhythm: excitement → disappointment → quiet progress → breakthrough. Keep it in mind for today's AI hype, too.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years in two slides — Act II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learning decade becomes the AI decade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606040"/>
            <a:ext cx="10332720" cy="0"/>
          </a:xfrm>
          <a:prstGeom prst="line">
            <a:avLst/>
          </a:prstGeom>
          <a:noFill/>
          <a:ln w="31750">
            <a:solidFill>
              <a:srgbClr val="0B5C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346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6" name="Text 4"/>
          <p:cNvSpPr/>
          <p:nvPr/>
        </p:nvSpPr>
        <p:spPr>
          <a:xfrm>
            <a:off x="879653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wins image recognition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15284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2601468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Lee Sedol at Go (more on 7/23)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3709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4323283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(7/22)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9829" y="2523744"/>
            <a:ext cx="164592" cy="164592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046013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reaches 100M users in 2 months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81644" y="252374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67828" y="10515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Nobel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&amp; Chemistry go to AI pioneers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03459" y="2523744"/>
            <a:ext cx="164592" cy="1645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9489643" y="288036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
</a:t>
            </a:r>
            <a:pPr algn="ctr"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era
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does tasks, not just chats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four years compressed decades of change. </a:t>
            </a:r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exists because that compression is now hitting communication: content, credibility, and trust.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behind it all: borrow from the brain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neuron, simplified to arithmetic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brain neuron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signals from thousands of neighbors. If the combined signal is strong enough, it fires and passes the message on. 86 billion of these, wired together, produce you.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artificial neuron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24688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04888" y="2660904"/>
            <a:ext cx="1371600" cy="512064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30175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7104888" y="3172968"/>
            <a:ext cx="1371600" cy="36576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56616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7104888" y="3172968"/>
            <a:ext cx="1371600" cy="585216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743200"/>
            <a:ext cx="868680" cy="86868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326880" y="3172968"/>
            <a:ext cx="1097280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5840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/ don't fire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= how much each input matters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adjusting the weights.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sentence is 80% of what “training an AI” means. You will do it yourself in an hour, with sliders instead of code.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1982: John Hopfield — memory as a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landmark paper (PNAS, 1982)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network of simple neurons store and recall memories?
</a:t>
            </a:r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physicist's answer: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network like a physical system rolling downhill in an energy landscape. Each valley is a stored memory. Show the network a noisy, partial pattern, and it “rolls” to the nearest valley — recalling the complete memory.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43800" y="16002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" cy="9144"/>
          </a:xfrm>
          <a:prstGeom prst="chartPlus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377440"/>
            <a:ext cx="548640" cy="1645920"/>
          </a:xfrm>
          <a:prstGeom prst="line">
            <a:avLst/>
          </a:prstGeom>
          <a:noFill/>
          <a:ln w="28575">
            <a:solidFill>
              <a:srgbClr val="0B5C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412480" y="2743200"/>
            <a:ext cx="548640" cy="1280160"/>
          </a:xfrm>
          <a:prstGeom prst="line">
            <a:avLst/>
          </a:prstGeom>
          <a:noFill/>
          <a:ln w="28575">
            <a:solidFill>
              <a:srgbClr val="0B5C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743200"/>
            <a:ext cx="640080" cy="1554480"/>
          </a:xfrm>
          <a:prstGeom prst="line">
            <a:avLst/>
          </a:prstGeom>
          <a:noFill/>
          <a:ln w="28575">
            <a:solidFill>
              <a:srgbClr val="0B5C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601200" y="2651760"/>
            <a:ext cx="822960" cy="1645920"/>
          </a:xfrm>
          <a:prstGeom prst="line">
            <a:avLst/>
          </a:prstGeom>
          <a:noFill/>
          <a:ln w="28575">
            <a:solidFill>
              <a:srgbClr val="0B5C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2651760"/>
            <a:ext cx="822960" cy="1280160"/>
          </a:xfrm>
          <a:prstGeom prst="line">
            <a:avLst/>
          </a:prstGeom>
          <a:noFill/>
          <a:ln w="28575">
            <a:solidFill>
              <a:srgbClr val="0B5C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404164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it made neural networks respectable science again — and it is why a physicist shares the 2024 Nobel Prize in Physics. Your brain finishing the lyric “Twinkle, twinkle, little …” is associative memory at work.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1985–86: Geoffrey Hinton — learning from mistakes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 the algorithm that trains every modern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
</a:t>
            </a:r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makes a prediction — probably wrong at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39312" y="2468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
</a:t>
            </a:r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right answer; the gap is the “loss”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71032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72784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01384" y="2468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
</a:t>
            </a:r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error backwards: which weights caused it?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33104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34856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B5CAD"/>
          </a:solidFill>
          <a:ln/>
        </p:spPr>
      </p:sp>
      <p:sp>
        <p:nvSpPr>
          <p:cNvPr id="17" name="Text 15"/>
          <p:cNvSpPr/>
          <p:nvPr/>
        </p:nvSpPr>
        <p:spPr>
          <a:xfrm>
            <a:off x="9363456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
</a:t>
            </a:r>
            <a:pPr indent="0" marL="0">
              <a:buNone/>
            </a:pPr>
            <a:r>
              <a:rPr lang="en-US" sz="12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every weight slightly to shrink the error. Repeat, millions of times.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Boltzmann machines (1985) and backprop (1986), Hinton showed multi-layer networks could learn. 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 remained…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 today, the “play” button on TensorFlow Playground runs exactly this loop — you will watch the loss shrink in real time.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took 30 more years: the scale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ideas were ready in 1986. The world wasn't.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learn from examples — and needed millions. The internet, smartphones, and social media created them.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means billions of tiny weight updates. Gaming GPUs turned out to be perfect for it.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
</a:t>
            </a:r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architectures (CNNs, then Transformers) let networks grow deep without falling apart.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47548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/>
        </p:spPr>
      </p:sp>
      <p:sp>
        <p:nvSpPr>
          <p:cNvPr id="14" name="Text 9"/>
          <p:cNvSpPr/>
          <p:nvPr/>
        </p:nvSpPr>
        <p:spPr>
          <a:xfrm>
            <a:off x="868680" y="4892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2012, AlexNet: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Hinton's students combine all three and crush the ImageNet competition. The deep learning era begins — and leads straight to the tools you use daily.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Nobel Prize in Physics 2024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foundational discoveries and inventions that enable machine learning with artificial neural networks”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7240" y="3017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B5CAD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3246120"/>
            <a:ext cx="914400" cy="914400"/>
          </a:xfrm>
          <a:prstGeom prst="ellipse">
            <a:avLst/>
          </a:prstGeom>
          <a:solidFill>
            <a:srgbClr val="093F76"/>
          </a:solidFill>
          <a:ln w="25400">
            <a:solidFill>
              <a:srgbClr val="F0C8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14884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J. Hopfield
</a:t>
            </a:r>
            <a:pPr indent="0" marL="0">
              <a:buNone/>
            </a:pPr>
            <a:r>
              <a:rPr lang="en-US" sz="1200" i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Princeton University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43434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Hopfield network (1982): memory as an energy landscape — the paper you're reading today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3017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B5CAD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3246120"/>
            <a:ext cx="914400" cy="914400"/>
          </a:xfrm>
          <a:prstGeom prst="ellipse">
            <a:avLst/>
          </a:prstGeom>
          <a:solidFill>
            <a:srgbClr val="093F76"/>
          </a:solidFill>
          <a:ln w="25400">
            <a:solidFill>
              <a:srgbClr val="F0C8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3524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E. Hinton
</a:t>
            </a:r>
            <a:pPr indent="0" marL="0">
              <a:buNone/>
            </a:pPr>
            <a:r>
              <a:rPr lang="en-US" sz="1200" i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Toronto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37960" y="43434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Boltzmann machines &amp; backpropagation: how multi-layer networks learn from data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year, the Chemistry prize went to AlphaFold (Hassabis, Jumper) and protein design (Baker) — our 7/23 topic. Two Nobel Prizes for AI in one week.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is this physics?” — and a warning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laureates' own words, October 2024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physics?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borrowed the mathematics of magnetic materials (spin systems) to describe memory. The tools of physics explained how networks of simple units produce collective behavior — remembering, recognizing, learning.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74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his first interview after the prize, Hinton — who left Google in 2023 to speak freely — repeated his concern that we don't fully understand systems smarter than us in some ways, and urged more research on AI safety.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thought: it returns on 7/27, when we study deepfakes and trust.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lectures &amp; interviews linked on the course site (nobelprize.org).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 computer “think”? It searches.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deep learning, AI meant exploring possibilities — fast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37360" y="19659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659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803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737360" y="28803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8803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651760" y="28803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EAF2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947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94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737360" y="37947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794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651760" y="3794760"/>
            <a:ext cx="841248" cy="841248"/>
          </a:xfrm>
          <a:prstGeom prst="roundRect">
            <a:avLst>
              <a:gd name="adj" fmla="val 5435"/>
            </a:avLst>
          </a:prstGeom>
          <a:solidFill>
            <a:srgbClr val="0B5CA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3794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2296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8-puzzle: slide tiles into the gap to reach the goal order.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1965960"/>
            <a:ext cx="6793992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148840"/>
            <a:ext cx="6263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creates a new arrangement — a new “state.”
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treats problem-solving as a search: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where I am, what moves can I make? And from each of those, what next? It builds a branching tree of possibilities and looks for a path to the goal.
</a:t>
            </a:r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yet — just disciplined trial and error, far faster than a human.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4937760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AI of the 1960s–90s: chess, puzzles, routes, logistics. It's still everywhere — GPS routing is search.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search tree — and why it explodes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branches. The branches multiply. Fast.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1691640" y="2057400"/>
            <a:ext cx="1828800" cy="68580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20440" y="2057400"/>
            <a:ext cx="0" cy="68580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2057400"/>
            <a:ext cx="1828800" cy="68580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60120" y="3200400"/>
            <a:ext cx="73152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3200400"/>
            <a:ext cx="27432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880360" y="3200400"/>
            <a:ext cx="64008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200400"/>
            <a:ext cx="27432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709160" y="3200400"/>
            <a:ext cx="64008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3200400"/>
            <a:ext cx="365760" cy="822960"/>
          </a:xfrm>
          <a:prstGeom prst="line">
            <a:avLst/>
          </a:prstGeom>
          <a:noFill/>
          <a:ln w="15875">
            <a:solidFill>
              <a:srgbClr val="9DB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600200"/>
            <a:ext cx="457200" cy="45720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74320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74320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74320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4023360"/>
            <a:ext cx="457200" cy="457200"/>
          </a:xfrm>
          <a:prstGeom prst="ellipse">
            <a:avLst/>
          </a:prstGeom>
          <a:solidFill>
            <a:srgbClr val="6E93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65176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B4C8"/>
                </a:solidFill>
              </a:rPr>
              <a:t>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3464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1737360"/>
            <a:ext cx="4965192" cy="3566160"/>
          </a:xfrm>
          <a:prstGeom prst="roundRect">
            <a:avLst>
              <a:gd name="adj" fmla="val 2051"/>
            </a:avLst>
          </a:prstGeom>
          <a:solidFill>
            <a:srgbClr val="093F76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combinatorial explosion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49440" y="23774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Tic-tac-toe: </a:t>
            </a:r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~10⁵ games — a computer checks them all instantly.
</a:t>
            </a:r>
            <a:pPr indent="0" marL="0">
              <a:buNone/>
            </a:pPr>
            <a:r>
              <a:rPr lang="en-US" sz="14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Chess: </a:t>
            </a:r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~10⁴⁰ positions — Deep Blue searched cleverly, not fully.
</a:t>
            </a:r>
            <a:pPr indent="0" marL="0">
              <a:buNone/>
            </a:pPr>
            <a:r>
              <a:rPr lang="en-US" sz="14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</a:t>
            </a:r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~10¹⁷⁰ positions — more than atoms in the universe. Brute-force search is hopeless.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machine needs a way to guess which branches are worth exploring — without checking them all.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clever trick: play it out at random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tree search — the idea inside AlphaGo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check everything?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don't. From the current position, pick a promising move to explore.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07822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06824" y="173736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144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random games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there, let the computer play many quick games to the end, choosing moves at random.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836408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065008" y="173736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wins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that led to more wins get explored more. Good branches grow; bad ones are pruned.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93F76"/>
          </a:solidFill>
          <a:ln/>
        </p:spPr>
      </p:sp>
      <p:sp>
        <p:nvSpPr>
          <p:cNvPr id="16" name="Text 11"/>
          <p:cNvSpPr/>
          <p:nvPr/>
        </p:nvSpPr>
        <p:spPr>
          <a:xfrm>
            <a:off x="868680" y="47731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</a:t>
            </a:r>
            <a:pPr indent="0" marL="0">
              <a:buNone/>
            </a:pPr>
            <a:r>
              <a:rPr lang="en-US" sz="14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plus memory beats brute force. But MCTS alone still wasn't enough for Go — it needed a sense of which positions are </a:t>
            </a:r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pPr indent="0" marL="0">
              <a:buNone/>
            </a:pPr>
            <a:r>
              <a:rPr lang="en-US" sz="14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intuition came from a neural network. Search met learning — and AlphaGo was born.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Preview: when learning met intuition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 2016 — a 30-second teaser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has more board positions than atoms in the observable universe — no rulebook can cover it.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combined deep networks (the intuition you just met) with clever search, and in March 2016 defeated legend Lee Sedol 4–1, watched by 200 million people.
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37 </a:t>
            </a:r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 two was a move no human would play — commentators called it a mistake, then called it beautiful. We tell the full story (and AlphaFold's) on 7/23.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homework tonight: the AlphaGo documentary is free on YouTube — 90 minutes, genuinely moving.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754880" cy="4754880"/>
          </a:xfrm>
          <a:prstGeom prst="ellipse">
            <a:avLst/>
          </a:prstGeom>
          <a:solidFill>
            <a:srgbClr val="0B5C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is reshaping work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(and communication)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predictions. Measured data from millions of real AI conversations.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Anthropic Economic Index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people how they use AI, measure 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early 2025, Anthropic (the maker of Claude, our course tool) has published a recurring study of </a:t>
            </a:r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real conversations</a:t>
            </a:r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Claude — mapping them to official job-task categories (O*NET).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877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people use AI for?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dominates; writing, analysis, and education follow. The top 10 tasks alone cover about a quarter of all conversations.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30168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03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widely?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late 2025, about half of occupations had at least a quarter of their tasks show up in Claude usage.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745736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1888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humans and AI split the work?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is classified into one of five collaboration modes → next slide.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Anthropic Economic Index reports, 2025–2026 (anthropic.com/economic-index)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people work with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are automation. Three are augmentation.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— AI does the task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77840" y="14813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— AI works with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C98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
</a:t>
            </a:r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“Translate this press release.” Hand it over, take the result.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2971800" y="187452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C98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0574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72968" y="2532888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
</a:t>
            </a:r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it again — fix the tone.” AI works, you steer with corrections.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577840" y="1874520"/>
            <a:ext cx="1929384" cy="1965960"/>
          </a:xfrm>
          <a:prstGeom prst="roundRect">
            <a:avLst>
              <a:gd name="adj" fmla="val 3791"/>
            </a:avLst>
          </a:prstGeom>
          <a:solidFill>
            <a:srgbClr val="0B5CA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0574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79008" y="2532888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
</a:t>
            </a:r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a neural network learns.” AI as tutor.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7598664" y="1874520"/>
            <a:ext cx="1929384" cy="1965960"/>
          </a:xfrm>
          <a:prstGeom prst="roundRect">
            <a:avLst>
              <a:gd name="adj" fmla="val 3791"/>
            </a:avLst>
          </a:prstGeom>
          <a:solidFill>
            <a:srgbClr val="0B5CA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205740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99832" y="2532888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iteration
</a:t>
            </a:r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draft this article together.” Co-writing, turn by turn.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9619488" y="1874520"/>
            <a:ext cx="2020824" cy="1965960"/>
          </a:xfrm>
          <a:prstGeom prst="roundRect">
            <a:avLst>
              <a:gd name="adj" fmla="val 3721"/>
            </a:avLst>
          </a:prstGeom>
          <a:solidFill>
            <a:srgbClr val="0B5CA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205740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820656" y="2532888"/>
            <a:ext cx="1618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
</a:t>
            </a:r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my essay — what's weak?” You work, AI gives feedback.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548640" y="411480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AF2FB"/>
          </a:solidFill>
          <a:ln/>
        </p:spPr>
      </p:sp>
      <p:sp>
        <p:nvSpPr>
          <p:cNvPr id="22" name="Text 15"/>
          <p:cNvSpPr/>
          <p:nvPr/>
        </p:nvSpPr>
        <p:spPr>
          <a:xfrm>
            <a:off x="868680" y="4279392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technology, five different relationships.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AI take my job?” is really the question: which of these five modes will my tasks end up in? A translator in validation mode has a job; a translator in directive mode has a hobby.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tug-of-war: automation vs. augmentation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Claude.ai conversations, by broad mode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6459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2025 —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dominates — people iterate and learn with AI.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040880" y="267004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 —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overtakes for the first time; “just do it for me” (directive) jumps from 27% to 39% of conversations.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40880" y="369417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2025 —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edges back ahead — as tools get more collaborative, people work with AI again.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0" y="471830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—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through the API stays ~75% automated: classifying emails, processing invoices…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shares; remainder unclassified. Source: Anthropic Economic Index reports (Sep 2025, Jan 2026).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communication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future tasks onto the five modes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19656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C98A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subtitles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heavily directive — full drafts by AI, humans review high-stakes 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52928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791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&amp; research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augmentation — learning, verification, and drafting with a human byline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666744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886200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C98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1246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marketing copy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— AI drafts, humans steer brand voice and strategy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919472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4573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fact-checking   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human judgment stays central; AI flags, humans decide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 pairs (2 min): </a:t>
            </a:r>
            <a:pPr indent="0" marL="0">
              <a:buNone/>
            </a:pPr>
            <a:r>
              <a:rPr lang="en-US" sz="15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do you actually use AI in? And for the news you read — which mode do you want journalists to use?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12680" y="58704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5870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Now: your first neural network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Playground — everything from Lecture A, as sliders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Set up (10 min)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account (Colab + NotebookLM)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account (claude.ai)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your neighbor — teams that set up together, stay together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06824" y="169164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144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Form teams (5 min)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81144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teams: three of 4, one of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together, pick a team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present together on 7/28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65008" y="169164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20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Playground (~1 hr)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39328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playground.tensorflow.org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worksheet on the course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Spiral test loss &lt; 0.1 — and see overfitting with your own eyes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5212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of your best Spiral network + two sentences: what adding neurons/layers did, and what overfitting means in your own words.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1  | 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0B5CA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90195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377440" y="19019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(2023), “AI is about to completely change how you use computers” — agents, in plain English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944368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0B5CA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0175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77440" y="3017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(1982), the Nobel paper — read the first page; bring one question, however small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4059936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3308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413308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3Blue1Brown, “But what is a neural network?” — the best 19 minutes on today's topic (for tomorrow)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you train a real image classifier — no code required. Same room, 09:10.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changlabtw.github.io/nccu-iss-2026 · chang.jiaming@gmail.com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2026-07-19T22:27:44Z</dcterms:created>
  <dcterms:modified xsi:type="dcterms:W3CDTF">2026-07-19T22:27:44Z</dcterms:modified>
</cp:coreProperties>
</file>