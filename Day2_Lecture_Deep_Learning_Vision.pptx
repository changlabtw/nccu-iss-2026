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1.xml" ContentType="application/vnd.openxmlformats-officedocument.drawingml.char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114"/>
    <p:restoredTop sz="94610"/>
  </p:normalViewPr>
  <p:slideViewPr>
    <p:cSldViewPr snapToGrid="0" snapToObjects="1">
      <p:cViewPr varScale="1">
        <p:scale>
          <a:sx n="89" d="100"/>
          <a:sy n="89" d="100"/>
        </p:scale>
        <p:origin x="69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1"/>
  <c:style val="2"/>
  <c:chart>
    <c:autoTitleDeleted val="1"/>
    <c:plotArea>
      <c:layout/>
      <c:lineChart>
        <c:grouping val="standard"/>
        <c:varyColors val="0"/>
        <c:ser>
          <c:idx val="0"/>
          <c:order val="0"/>
          <c:tx>
            <c:strRef>
              <c:f>Sheet1!$B$1</c:f>
              <c:strCache>
                <c:ptCount val="1"/>
                <c:pt idx="0">
                  <c:v>Training accuracy</c:v>
                </c:pt>
              </c:strCache>
            </c:strRef>
          </c:tx>
          <c:spPr>
            <a:ln w="38100" cap="flat">
              <a:solidFill>
                <a:srgbClr val="0B5CAD"/>
              </a:solidFill>
              <a:prstDash val="solid"/>
              <a:round/>
            </a:ln>
            <a:effectLst/>
          </c:spPr>
          <c:marker>
            <c:symbol val="circle"/>
            <c:size val="6"/>
            <c:spPr>
              <a:solidFill>
                <a:srgbClr val="0B5CAD"/>
              </a:solidFill>
              <a:ln w="9525" cap="flat">
                <a:solidFill>
                  <a:srgbClr val="0B5CAD"/>
                </a:solidFill>
                <a:prstDash val="solid"/>
                <a:round/>
              </a:ln>
              <a:effectLst/>
            </c:spPr>
          </c:marker>
          <c:cat>
            <c:strRef>
              <c:f>Sheet1!$A$2:$A$9</c:f>
              <c:strCache>
                <c:ptCount val="8"/>
                <c:pt idx="0">
                  <c:v>1</c:v>
                </c:pt>
                <c:pt idx="1">
                  <c:v>2</c:v>
                </c:pt>
                <c:pt idx="2">
                  <c:v>3</c:v>
                </c:pt>
                <c:pt idx="3">
                  <c:v>4</c:v>
                </c:pt>
                <c:pt idx="4">
                  <c:v>5</c:v>
                </c:pt>
                <c:pt idx="5">
                  <c:v>6</c:v>
                </c:pt>
                <c:pt idx="6">
                  <c:v>7</c:v>
                </c:pt>
                <c:pt idx="7">
                  <c:v>8</c:v>
                </c:pt>
              </c:strCache>
            </c:strRef>
          </c:cat>
          <c:val>
            <c:numRef>
              <c:f>Sheet1!$B$2:$B$9</c:f>
              <c:numCache>
                <c:formatCode>General</c:formatCode>
                <c:ptCount val="8"/>
                <c:pt idx="0">
                  <c:v>70</c:v>
                </c:pt>
                <c:pt idx="1">
                  <c:v>82</c:v>
                </c:pt>
                <c:pt idx="2">
                  <c:v>89</c:v>
                </c:pt>
                <c:pt idx="3">
                  <c:v>93</c:v>
                </c:pt>
                <c:pt idx="4">
                  <c:v>96</c:v>
                </c:pt>
                <c:pt idx="5">
                  <c:v>98</c:v>
                </c:pt>
                <c:pt idx="6">
                  <c:v>99</c:v>
                </c:pt>
                <c:pt idx="7">
                  <c:v>99.5</c:v>
                </c:pt>
              </c:numCache>
            </c:numRef>
          </c:val>
          <c:smooth val="0"/>
          <c:extLst>
            <c:ext xmlns:c16="http://schemas.microsoft.com/office/drawing/2014/chart" uri="{C3380CC4-5D6E-409C-BE32-E72D297353CC}">
              <c16:uniqueId val="{00000000-668B-E849-AC03-63F0DFE0B3DE}"/>
            </c:ext>
          </c:extLst>
        </c:ser>
        <c:ser>
          <c:idx val="1"/>
          <c:order val="1"/>
          <c:tx>
            <c:strRef>
              <c:f>Sheet1!$C$1</c:f>
              <c:strCache>
                <c:ptCount val="1"/>
                <c:pt idx="0">
                  <c:v>Validation accuracy</c:v>
                </c:pt>
              </c:strCache>
            </c:strRef>
          </c:tx>
          <c:spPr>
            <a:ln w="38100" cap="flat">
              <a:solidFill>
                <a:srgbClr val="E8A33D"/>
              </a:solidFill>
              <a:prstDash val="solid"/>
              <a:round/>
            </a:ln>
            <a:effectLst/>
          </c:spPr>
          <c:marker>
            <c:symbol val="circle"/>
            <c:size val="6"/>
            <c:spPr>
              <a:solidFill>
                <a:srgbClr val="E8A33D"/>
              </a:solidFill>
              <a:ln w="9525" cap="flat">
                <a:solidFill>
                  <a:srgbClr val="E8A33D"/>
                </a:solidFill>
                <a:prstDash val="solid"/>
                <a:round/>
              </a:ln>
              <a:effectLst/>
            </c:spPr>
          </c:marker>
          <c:cat>
            <c:strRef>
              <c:f>Sheet1!$A$2:$A$9</c:f>
              <c:strCache>
                <c:ptCount val="8"/>
                <c:pt idx="0">
                  <c:v>1</c:v>
                </c:pt>
                <c:pt idx="1">
                  <c:v>2</c:v>
                </c:pt>
                <c:pt idx="2">
                  <c:v>3</c:v>
                </c:pt>
                <c:pt idx="3">
                  <c:v>4</c:v>
                </c:pt>
                <c:pt idx="4">
                  <c:v>5</c:v>
                </c:pt>
                <c:pt idx="5">
                  <c:v>6</c:v>
                </c:pt>
                <c:pt idx="6">
                  <c:v>7</c:v>
                </c:pt>
                <c:pt idx="7">
                  <c:v>8</c:v>
                </c:pt>
              </c:strCache>
            </c:strRef>
          </c:cat>
          <c:val>
            <c:numRef>
              <c:f>Sheet1!$C$2:$C$9</c:f>
              <c:numCache>
                <c:formatCode>General</c:formatCode>
                <c:ptCount val="8"/>
                <c:pt idx="0">
                  <c:v>69</c:v>
                </c:pt>
                <c:pt idx="1">
                  <c:v>80</c:v>
                </c:pt>
                <c:pt idx="2">
                  <c:v>86</c:v>
                </c:pt>
                <c:pt idx="3">
                  <c:v>88</c:v>
                </c:pt>
                <c:pt idx="4">
                  <c:v>89</c:v>
                </c:pt>
                <c:pt idx="5">
                  <c:v>89</c:v>
                </c:pt>
                <c:pt idx="6">
                  <c:v>88</c:v>
                </c:pt>
                <c:pt idx="7">
                  <c:v>87</c:v>
                </c:pt>
              </c:numCache>
            </c:numRef>
          </c:val>
          <c:smooth val="0"/>
          <c:extLst>
            <c:ext xmlns:c16="http://schemas.microsoft.com/office/drawing/2014/chart" uri="{C3380CC4-5D6E-409C-BE32-E72D297353CC}">
              <c16:uniqueId val="{00000001-668B-E849-AC03-63F0DFE0B3DE}"/>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100" b="0" i="0" u="none" strike="noStrike">
                    <a:solidFill>
                      <a:srgbClr val="5B6470"/>
                    </a:solidFill>
                    <a:latin typeface="Arial"/>
                  </a:defRPr>
                </a:pPr>
                <a:r>
                  <a:rPr lang="en" sz="1100" b="0" i="0" u="none" strike="noStrike">
                    <a:solidFill>
                      <a:srgbClr val="5B6470"/>
                    </a:solidFill>
                    <a:latin typeface="Arial"/>
                  </a:rPr>
                  <a:t>training rounds (epochs)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470"/>
                </a:solidFill>
                <a:latin typeface="Calibri"/>
              </a:defRPr>
            </a:pPr>
            <a:endParaRPr lang="en-US"/>
          </a:p>
        </c:txPr>
        <c:crossAx val="2094734552"/>
        <c:crosses val="autoZero"/>
        <c:auto val="1"/>
        <c:lblAlgn val="ctr"/>
        <c:lblOffset val="100"/>
        <c:noMultiLvlLbl val="1"/>
      </c:catAx>
      <c:valAx>
        <c:axId val="2094734552"/>
        <c:scaling>
          <c:orientation val="minMax"/>
          <c:max val="100"/>
          <c:min val="60"/>
        </c:scaling>
        <c:delete val="0"/>
        <c:axPos val="l"/>
        <c:majorGridlines>
          <c:spPr>
            <a:ln w="9525" cap="flat">
              <a:solidFill>
                <a:srgbClr val="E5EA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3266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5.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3.png"/><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3F76"/>
        </a:solidFill>
        <a:effectLst/>
      </p:bgPr>
    </p:bg>
    <p:spTree>
      <p:nvGrpSpPr>
        <p:cNvPr id="1" name=""/>
        <p:cNvGrpSpPr/>
        <p:nvPr/>
      </p:nvGrpSpPr>
      <p:grpSpPr>
        <a:xfrm>
          <a:off x="0" y="0"/>
          <a:ext cx="0" cy="0"/>
          <a:chOff x="0" y="0"/>
          <a:chExt cx="0" cy="0"/>
        </a:xfrm>
      </p:grpSpPr>
      <p:sp>
        <p:nvSpPr>
          <p:cNvPr id="2" name="Shape 0"/>
          <p:cNvSpPr/>
          <p:nvPr/>
        </p:nvSpPr>
        <p:spPr>
          <a:xfrm>
            <a:off x="8869680" y="-2011680"/>
            <a:ext cx="5943600" cy="5943600"/>
          </a:xfrm>
          <a:prstGeom prst="ellipse">
            <a:avLst/>
          </a:prstGeom>
          <a:solidFill>
            <a:srgbClr val="0B5CAD">
              <a:alpha val="45000"/>
            </a:srgbClr>
          </a:solidFill>
          <a:ln/>
        </p:spPr>
      </p:sp>
      <p:pic>
        <p:nvPicPr>
          <p:cNvPr id="3" name="Image 0" descr="preencoded.png"/>
          <p:cNvPicPr>
            <a:picLocks noChangeAspect="1"/>
          </p:cNvPicPr>
          <p:nvPr/>
        </p:nvPicPr>
        <p:blipFill>
          <a:blip r:embed="rId3"/>
          <a:stretch>
            <a:fillRect/>
          </a:stretch>
        </p:blipFill>
        <p:spPr>
          <a:xfrm>
            <a:off x="777240" y="1051560"/>
            <a:ext cx="640080" cy="640080"/>
          </a:xfrm>
          <a:prstGeom prst="rect">
            <a:avLst/>
          </a:prstGeom>
        </p:spPr>
      </p:pic>
      <p:sp>
        <p:nvSpPr>
          <p:cNvPr id="4" name="Text 1"/>
          <p:cNvSpPr/>
          <p:nvPr/>
        </p:nvSpPr>
        <p:spPr>
          <a:xfrm>
            <a:off x="777240" y="1874520"/>
            <a:ext cx="10058400" cy="365760"/>
          </a:xfrm>
          <a:prstGeom prst="rect">
            <a:avLst/>
          </a:prstGeom>
          <a:noFill/>
          <a:ln/>
        </p:spPr>
        <p:txBody>
          <a:bodyPr wrap="square" lIns="0" tIns="0" rIns="0" bIns="0" rtlCol="0" anchor="ctr"/>
          <a:lstStyle/>
          <a:p>
            <a:pPr marL="0" indent="0">
              <a:buNone/>
            </a:pPr>
            <a:r>
              <a:rPr lang="en-US" sz="1600" dirty="0">
                <a:solidFill>
                  <a:srgbClr val="BBD4F0"/>
                </a:solidFill>
                <a:latin typeface="Calibri" pitchFamily="34" charset="0"/>
                <a:ea typeface="Calibri" pitchFamily="34" charset="-122"/>
                <a:cs typeface="Calibri" pitchFamily="34" charset="-120"/>
              </a:rPr>
              <a:t>NCCU International Summer School 2026 · Course S3</a:t>
            </a:r>
            <a:endParaRPr lang="en-US" sz="1600" dirty="0"/>
          </a:p>
        </p:txBody>
      </p:sp>
      <p:sp>
        <p:nvSpPr>
          <p:cNvPr id="5" name="Text 2"/>
          <p:cNvSpPr/>
          <p:nvPr/>
        </p:nvSpPr>
        <p:spPr>
          <a:xfrm>
            <a:off x="777240" y="2286000"/>
            <a:ext cx="10607040" cy="173736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Deep Learning in Action:</a:t>
            </a:r>
            <a:endParaRPr lang="en-US" sz="4200" dirty="0"/>
          </a:p>
          <a:p>
            <a:pPr marL="0" indent="0">
              <a:buNone/>
            </a:pPr>
            <a:r>
              <a:rPr lang="en-US" sz="4200" b="1" dirty="0">
                <a:solidFill>
                  <a:srgbClr val="FFFFFF"/>
                </a:solidFill>
                <a:latin typeface="Cambria" pitchFamily="34" charset="0"/>
                <a:ea typeface="Cambria" pitchFamily="34" charset="-122"/>
                <a:cs typeface="Cambria" pitchFamily="34" charset="-120"/>
              </a:rPr>
              <a:t>Training &amp; Computer Vision</a:t>
            </a:r>
            <a:endParaRPr lang="en-US" sz="4200" dirty="0"/>
          </a:p>
        </p:txBody>
      </p:sp>
      <p:sp>
        <p:nvSpPr>
          <p:cNvPr id="6" name="Text 3"/>
          <p:cNvSpPr/>
          <p:nvPr/>
        </p:nvSpPr>
        <p:spPr>
          <a:xfrm>
            <a:off x="777240" y="4160520"/>
            <a:ext cx="10058400" cy="457200"/>
          </a:xfrm>
          <a:prstGeom prst="rect">
            <a:avLst/>
          </a:prstGeom>
          <a:noFill/>
          <a:ln/>
        </p:spPr>
        <p:txBody>
          <a:bodyPr wrap="square" lIns="0" tIns="0" rIns="0" bIns="0" rtlCol="0" anchor="ctr"/>
          <a:lstStyle/>
          <a:p>
            <a:pPr marL="0" indent="0">
              <a:buNone/>
            </a:pPr>
            <a:r>
              <a:rPr lang="en-US" sz="2200" dirty="0">
                <a:solidFill>
                  <a:srgbClr val="F0C878"/>
                </a:solidFill>
                <a:latin typeface="Calibri" pitchFamily="34" charset="0"/>
                <a:ea typeface="Calibri" pitchFamily="34" charset="-122"/>
                <a:cs typeface="Calibri" pitchFamily="34" charset="-120"/>
              </a:rPr>
              <a:t>Day 2 · How machines learn to see</a:t>
            </a:r>
            <a:endParaRPr lang="en-US" sz="2200" dirty="0"/>
          </a:p>
        </p:txBody>
      </p:sp>
      <p:sp>
        <p:nvSpPr>
          <p:cNvPr id="7" name="Text 4"/>
          <p:cNvSpPr/>
          <p:nvPr/>
        </p:nvSpPr>
        <p:spPr>
          <a:xfrm>
            <a:off x="777240" y="4754880"/>
            <a:ext cx="10058400" cy="365760"/>
          </a:xfrm>
          <a:prstGeom prst="rect">
            <a:avLst/>
          </a:prstGeom>
          <a:noFill/>
          <a:ln/>
        </p:spPr>
        <p:txBody>
          <a:bodyPr wrap="square" lIns="0" tIns="0" rIns="0" bIns="0" rtlCol="0" anchor="ctr"/>
          <a:lstStyle/>
          <a:p>
            <a:pPr marL="0" indent="0">
              <a:buNone/>
            </a:pPr>
            <a:r>
              <a:rPr lang="en-US" sz="1500" dirty="0">
                <a:solidFill>
                  <a:srgbClr val="BBD4F0"/>
                </a:solidFill>
                <a:latin typeface="Calibri" pitchFamily="34" charset="0"/>
                <a:ea typeface="Calibri" pitchFamily="34" charset="-122"/>
                <a:cs typeface="Calibri" pitchFamily="34" charset="-120"/>
              </a:rPr>
              <a:t>July 21, 2026 · 09:10–12:00 · Jia-Ming Chang, Dept. of Computer Science, NCCU</a:t>
            </a:r>
            <a:endParaRPr lang="en-US" sz="1500" dirty="0"/>
          </a:p>
        </p:txBody>
      </p:sp>
      <p:sp>
        <p:nvSpPr>
          <p:cNvPr id="8" name="Text 5"/>
          <p:cNvSpPr/>
          <p:nvPr/>
        </p:nvSpPr>
        <p:spPr>
          <a:xfrm>
            <a:off x="777240" y="5852160"/>
            <a:ext cx="7315200" cy="365760"/>
          </a:xfrm>
          <a:prstGeom prst="rect">
            <a:avLst/>
          </a:prstGeom>
          <a:noFill/>
          <a:ln/>
        </p:spPr>
        <p:txBody>
          <a:bodyPr wrap="square" lIns="0" tIns="0" rIns="0" bIns="0" rtlCol="0" anchor="ctr"/>
          <a:lstStyle/>
          <a:p>
            <a:pPr marL="0" indent="0">
              <a:buNone/>
            </a:pPr>
            <a:r>
              <a:rPr lang="en-US" sz="1400" i="1" dirty="0">
                <a:solidFill>
                  <a:srgbClr val="FFFFFF"/>
                </a:solidFill>
                <a:latin typeface="Calibri" pitchFamily="34" charset="0"/>
                <a:ea typeface="Calibri" pitchFamily="34" charset="-122"/>
                <a:cs typeface="Calibri" pitchFamily="34" charset="-120"/>
              </a:rPr>
              <a:t>changlabtw.github.io/nccu-iss-2026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92608"/>
            <a:ext cx="11091672" cy="658368"/>
          </a:xfrm>
          <a:prstGeom prst="rect">
            <a:avLst/>
          </a:prstGeom>
          <a:noFill/>
          <a:ln/>
        </p:spPr>
        <p:txBody>
          <a:bodyPr wrap="square" lIns="0" tIns="0" rIns="0" bIns="0" rtlCol="0" anchor="ctr"/>
          <a:lstStyle/>
          <a:p>
            <a:pPr marL="0" indent="0">
              <a:buNone/>
            </a:pPr>
            <a:r>
              <a:rPr lang="en-US" sz="3100" b="1" dirty="0">
                <a:solidFill>
                  <a:srgbClr val="1A2733"/>
                </a:solidFill>
                <a:latin typeface="Cambria" pitchFamily="34" charset="0"/>
                <a:ea typeface="Cambria" pitchFamily="34" charset="-122"/>
                <a:cs typeface="Cambria" pitchFamily="34" charset="-120"/>
              </a:rPr>
              <a:t>Yesterday, and today</a:t>
            </a:r>
            <a:endParaRPr lang="en-US" sz="3100" dirty="0"/>
          </a:p>
        </p:txBody>
      </p:sp>
      <p:sp>
        <p:nvSpPr>
          <p:cNvPr id="3" name="Text 1"/>
          <p:cNvSpPr/>
          <p:nvPr/>
        </p:nvSpPr>
        <p:spPr>
          <a:xfrm>
            <a:off x="548640" y="896112"/>
            <a:ext cx="11091672" cy="365760"/>
          </a:xfrm>
          <a:prstGeom prst="rect">
            <a:avLst/>
          </a:prstGeom>
          <a:noFill/>
          <a:ln/>
        </p:spPr>
        <p:txBody>
          <a:bodyPr wrap="square" lIns="0" tIns="0" rIns="0" bIns="0" rtlCol="0" anchor="ctr"/>
          <a:lstStyle/>
          <a:p>
            <a:pPr marL="0" indent="0">
              <a:buNone/>
            </a:pPr>
            <a:r>
              <a:rPr lang="en-US" sz="1500" i="1" dirty="0">
                <a:solidFill>
                  <a:srgbClr val="5B6470"/>
                </a:solidFill>
                <a:latin typeface="Calibri" pitchFamily="34" charset="0"/>
                <a:ea typeface="Calibri" pitchFamily="34" charset="-122"/>
                <a:cs typeface="Calibri" pitchFamily="34" charset="-120"/>
              </a:rPr>
              <a:t>From sliders to a real image classifier</a:t>
            </a:r>
            <a:endParaRPr lang="en-US" sz="1500" dirty="0"/>
          </a:p>
        </p:txBody>
      </p:sp>
      <p:sp>
        <p:nvSpPr>
          <p:cNvPr id="4" name="Shape 2"/>
          <p:cNvSpPr/>
          <p:nvPr/>
        </p:nvSpPr>
        <p:spPr>
          <a:xfrm>
            <a:off x="548640" y="1463040"/>
            <a:ext cx="5440680" cy="4114800"/>
          </a:xfrm>
          <a:prstGeom prst="roundRect">
            <a:avLst>
              <a:gd name="adj" fmla="val 1778"/>
            </a:avLst>
          </a:prstGeom>
          <a:solidFill>
            <a:srgbClr val="EAF2FB"/>
          </a:solidFill>
          <a:ln/>
        </p:spPr>
      </p:sp>
      <p:sp>
        <p:nvSpPr>
          <p:cNvPr id="5" name="Text 3"/>
          <p:cNvSpPr/>
          <p:nvPr/>
        </p:nvSpPr>
        <p:spPr>
          <a:xfrm>
            <a:off x="822960" y="1645920"/>
            <a:ext cx="4937760" cy="365760"/>
          </a:xfrm>
          <a:prstGeom prst="rect">
            <a:avLst/>
          </a:prstGeom>
          <a:noFill/>
          <a:ln/>
        </p:spPr>
        <p:txBody>
          <a:bodyPr wrap="square" lIns="0" tIns="0" rIns="0" bIns="0" rtlCol="0" anchor="ctr"/>
          <a:lstStyle/>
          <a:p>
            <a:pPr marL="0" indent="0">
              <a:buNone/>
            </a:pPr>
            <a:r>
              <a:rPr lang="en-US" sz="1800" b="1" dirty="0">
                <a:solidFill>
                  <a:srgbClr val="0B5CAD"/>
                </a:solidFill>
                <a:latin typeface="Cambria" pitchFamily="34" charset="0"/>
                <a:ea typeface="Cambria" pitchFamily="34" charset="-122"/>
                <a:cs typeface="Cambria" pitchFamily="34" charset="-120"/>
              </a:rPr>
              <a:t>Yesterday you learned</a:t>
            </a:r>
            <a:endParaRPr lang="en-US" sz="1800" dirty="0"/>
          </a:p>
        </p:txBody>
      </p:sp>
      <p:sp>
        <p:nvSpPr>
          <p:cNvPr id="6" name="Text 4"/>
          <p:cNvSpPr/>
          <p:nvPr/>
        </p:nvSpPr>
        <p:spPr>
          <a:xfrm>
            <a:off x="822960" y="2103120"/>
            <a:ext cx="4937760" cy="594360"/>
          </a:xfrm>
          <a:prstGeom prst="rect">
            <a:avLst/>
          </a:prstGeom>
          <a:noFill/>
          <a:ln/>
        </p:spPr>
        <p:txBody>
          <a:bodyPr wrap="square" lIns="0" tIns="0" rIns="0" bIns="0" rtlCol="0" anchor="ctr"/>
          <a:lstStyle/>
          <a:p>
            <a:pPr marL="0" indent="0">
              <a:buNone/>
            </a:pPr>
            <a:r>
              <a:rPr lang="en-US" sz="1400" dirty="0">
                <a:solidFill>
                  <a:srgbClr val="1A2733"/>
                </a:solidFill>
                <a:latin typeface="Calibri" pitchFamily="34" charset="0"/>
                <a:ea typeface="Calibri" pitchFamily="34" charset="-122"/>
                <a:cs typeface="Calibri" pitchFamily="34" charset="-120"/>
              </a:rPr>
              <a:t>•  A neural network is neurons with weights.</a:t>
            </a:r>
            <a:endParaRPr lang="en-US" sz="1400" dirty="0"/>
          </a:p>
        </p:txBody>
      </p:sp>
      <p:sp>
        <p:nvSpPr>
          <p:cNvPr id="7" name="Text 5"/>
          <p:cNvSpPr/>
          <p:nvPr/>
        </p:nvSpPr>
        <p:spPr>
          <a:xfrm>
            <a:off x="822960" y="2761488"/>
            <a:ext cx="4937760" cy="594360"/>
          </a:xfrm>
          <a:prstGeom prst="rect">
            <a:avLst/>
          </a:prstGeom>
          <a:noFill/>
          <a:ln/>
        </p:spPr>
        <p:txBody>
          <a:bodyPr wrap="square" lIns="0" tIns="0" rIns="0" bIns="0" rtlCol="0" anchor="ctr"/>
          <a:lstStyle/>
          <a:p>
            <a:pPr marL="0" indent="0">
              <a:buNone/>
            </a:pPr>
            <a:r>
              <a:rPr lang="en-US" sz="1400" dirty="0">
                <a:solidFill>
                  <a:srgbClr val="1A2733"/>
                </a:solidFill>
                <a:latin typeface="Calibri" pitchFamily="34" charset="0"/>
                <a:ea typeface="Calibri" pitchFamily="34" charset="-122"/>
                <a:cs typeface="Calibri" pitchFamily="34" charset="-120"/>
              </a:rPr>
              <a:t>•  Learning = adjusting the weights.</a:t>
            </a:r>
            <a:endParaRPr lang="en-US" sz="1400" dirty="0"/>
          </a:p>
        </p:txBody>
      </p:sp>
      <p:sp>
        <p:nvSpPr>
          <p:cNvPr id="8" name="Text 6"/>
          <p:cNvSpPr/>
          <p:nvPr/>
        </p:nvSpPr>
        <p:spPr>
          <a:xfrm>
            <a:off x="822960" y="3419856"/>
            <a:ext cx="4937760" cy="594360"/>
          </a:xfrm>
          <a:prstGeom prst="rect">
            <a:avLst/>
          </a:prstGeom>
          <a:noFill/>
          <a:ln/>
        </p:spPr>
        <p:txBody>
          <a:bodyPr wrap="square" lIns="0" tIns="0" rIns="0" bIns="0" rtlCol="0" anchor="ctr"/>
          <a:lstStyle/>
          <a:p>
            <a:pPr marL="0" indent="0">
              <a:buNone/>
            </a:pPr>
            <a:r>
              <a:rPr lang="en-US" sz="1400" dirty="0">
                <a:solidFill>
                  <a:srgbClr val="1A2733"/>
                </a:solidFill>
                <a:latin typeface="Calibri" pitchFamily="34" charset="0"/>
                <a:ea typeface="Calibri" pitchFamily="34" charset="-122"/>
                <a:cs typeface="Calibri" pitchFamily="34" charset="-120"/>
              </a:rPr>
              <a:t>•  You trained one by hand in Playground.</a:t>
            </a:r>
            <a:endParaRPr lang="en-US" sz="1400" dirty="0"/>
          </a:p>
        </p:txBody>
      </p:sp>
      <p:sp>
        <p:nvSpPr>
          <p:cNvPr id="9" name="Text 7"/>
          <p:cNvSpPr/>
          <p:nvPr/>
        </p:nvSpPr>
        <p:spPr>
          <a:xfrm>
            <a:off x="822960" y="4078224"/>
            <a:ext cx="4937760" cy="594360"/>
          </a:xfrm>
          <a:prstGeom prst="rect">
            <a:avLst/>
          </a:prstGeom>
          <a:noFill/>
          <a:ln/>
        </p:spPr>
        <p:txBody>
          <a:bodyPr wrap="square" lIns="0" tIns="0" rIns="0" bIns="0" rtlCol="0" anchor="ctr"/>
          <a:lstStyle/>
          <a:p>
            <a:pPr marL="0" indent="0">
              <a:buNone/>
            </a:pPr>
            <a:r>
              <a:rPr lang="en-US" sz="1400" dirty="0">
                <a:solidFill>
                  <a:srgbClr val="1A2733"/>
                </a:solidFill>
                <a:latin typeface="Calibri" pitchFamily="34" charset="0"/>
                <a:ea typeface="Calibri" pitchFamily="34" charset="-122"/>
                <a:cs typeface="Calibri" pitchFamily="34" charset="-120"/>
              </a:rPr>
              <a:t>•  You saw overfitting: great on training data, worse on new data.</a:t>
            </a:r>
            <a:endParaRPr lang="en-US" sz="1400" dirty="0"/>
          </a:p>
        </p:txBody>
      </p:sp>
      <p:sp>
        <p:nvSpPr>
          <p:cNvPr id="10" name="Shape 8"/>
          <p:cNvSpPr/>
          <p:nvPr/>
        </p:nvSpPr>
        <p:spPr>
          <a:xfrm>
            <a:off x="6172200" y="1463040"/>
            <a:ext cx="5468112" cy="4114800"/>
          </a:xfrm>
          <a:prstGeom prst="roundRect">
            <a:avLst>
              <a:gd name="adj" fmla="val 1778"/>
            </a:avLst>
          </a:prstGeom>
          <a:solidFill>
            <a:srgbClr val="093F76"/>
          </a:solidFill>
          <a:ln/>
        </p:spPr>
      </p:sp>
      <p:sp>
        <p:nvSpPr>
          <p:cNvPr id="11" name="Text 9"/>
          <p:cNvSpPr/>
          <p:nvPr/>
        </p:nvSpPr>
        <p:spPr>
          <a:xfrm>
            <a:off x="6446520" y="1645920"/>
            <a:ext cx="4937760" cy="365760"/>
          </a:xfrm>
          <a:prstGeom prst="rect">
            <a:avLst/>
          </a:prstGeom>
          <a:noFill/>
          <a:ln/>
        </p:spPr>
        <p:txBody>
          <a:bodyPr wrap="square" lIns="0" tIns="0" rIns="0" bIns="0" rtlCol="0" anchor="ctr"/>
          <a:lstStyle/>
          <a:p>
            <a:pPr marL="0" indent="0">
              <a:buNone/>
            </a:pPr>
            <a:r>
              <a:rPr lang="en-US" sz="1800" b="1" dirty="0">
                <a:solidFill>
                  <a:srgbClr val="F0C878"/>
                </a:solidFill>
                <a:latin typeface="Cambria" pitchFamily="34" charset="0"/>
                <a:ea typeface="Cambria" pitchFamily="34" charset="-122"/>
                <a:cs typeface="Cambria" pitchFamily="34" charset="-120"/>
              </a:rPr>
              <a:t>Today</a:t>
            </a:r>
            <a:endParaRPr lang="en-US" sz="1800" dirty="0"/>
          </a:p>
        </p:txBody>
      </p:sp>
      <p:sp>
        <p:nvSpPr>
          <p:cNvPr id="12" name="Text 10"/>
          <p:cNvSpPr/>
          <p:nvPr/>
        </p:nvSpPr>
        <p:spPr>
          <a:xfrm>
            <a:off x="6446520" y="2103120"/>
            <a:ext cx="4983480" cy="65836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How a network actually learns  </a:t>
            </a:r>
            <a:r>
              <a:rPr lang="en-US" sz="1250" dirty="0">
                <a:solidFill>
                  <a:srgbClr val="BBD4F0"/>
                </a:solidFill>
                <a:latin typeface="Calibri" pitchFamily="34" charset="0"/>
                <a:ea typeface="Calibri" pitchFamily="34" charset="-122"/>
                <a:cs typeface="Calibri" pitchFamily="34" charset="-120"/>
              </a:rPr>
              <a:t>— loss and gradient descent, no math required</a:t>
            </a:r>
            <a:endParaRPr lang="en-US" sz="1400" dirty="0"/>
          </a:p>
        </p:txBody>
      </p:sp>
      <p:sp>
        <p:nvSpPr>
          <p:cNvPr id="13" name="Text 11"/>
          <p:cNvSpPr/>
          <p:nvPr/>
        </p:nvSpPr>
        <p:spPr>
          <a:xfrm>
            <a:off x="6446520" y="2816352"/>
            <a:ext cx="4983480" cy="65836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How computers “see”  </a:t>
            </a:r>
            <a:r>
              <a:rPr lang="en-US" sz="1250" dirty="0">
                <a:solidFill>
                  <a:srgbClr val="BBD4F0"/>
                </a:solidFill>
                <a:latin typeface="Calibri" pitchFamily="34" charset="0"/>
                <a:ea typeface="Calibri" pitchFamily="34" charset="-122"/>
                <a:cs typeface="Calibri" pitchFamily="34" charset="-120"/>
              </a:rPr>
              <a:t>— convolutional neural networks (CNNs)</a:t>
            </a:r>
            <a:endParaRPr lang="en-US" sz="1400" dirty="0"/>
          </a:p>
        </p:txBody>
      </p:sp>
      <p:sp>
        <p:nvSpPr>
          <p:cNvPr id="14" name="Text 12"/>
          <p:cNvSpPr/>
          <p:nvPr/>
        </p:nvSpPr>
        <p:spPr>
          <a:xfrm>
            <a:off x="6446520" y="3529584"/>
            <a:ext cx="4983480" cy="65836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Making models generalize  </a:t>
            </a:r>
            <a:r>
              <a:rPr lang="en-US" sz="1250" dirty="0">
                <a:solidFill>
                  <a:srgbClr val="BBD4F0"/>
                </a:solidFill>
                <a:latin typeface="Calibri" pitchFamily="34" charset="0"/>
                <a:ea typeface="Calibri" pitchFamily="34" charset="-122"/>
                <a:cs typeface="Calibri" pitchFamily="34" charset="-120"/>
              </a:rPr>
              <a:t>— overfitting, data augmentation, transfer learning</a:t>
            </a:r>
            <a:endParaRPr lang="en-US" sz="1400" dirty="0"/>
          </a:p>
        </p:txBody>
      </p:sp>
      <p:sp>
        <p:nvSpPr>
          <p:cNvPr id="15" name="Text 13"/>
          <p:cNvSpPr/>
          <p:nvPr/>
        </p:nvSpPr>
        <p:spPr>
          <a:xfrm>
            <a:off x="6446520" y="4242816"/>
            <a:ext cx="4983480" cy="65836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Lab  </a:t>
            </a:r>
            <a:r>
              <a:rPr lang="en-US" sz="1250" dirty="0">
                <a:solidFill>
                  <a:srgbClr val="BBD4F0"/>
                </a:solidFill>
                <a:latin typeface="Calibri" pitchFamily="34" charset="0"/>
                <a:ea typeface="Calibri" pitchFamily="34" charset="-122"/>
                <a:cs typeface="Calibri" pitchFamily="34" charset="-120"/>
              </a:rPr>
              <a:t>— train a real clothing classifier in the browser — no setup</a:t>
            </a:r>
            <a:endParaRPr lang="en-US" sz="1400" dirty="0"/>
          </a:p>
        </p:txBody>
      </p:sp>
      <p:sp>
        <p:nvSpPr>
          <p:cNvPr id="16" name="Text 14"/>
          <p:cNvSpPr/>
          <p:nvPr/>
        </p:nvSpPr>
        <p:spPr>
          <a:xfrm>
            <a:off x="548640" y="6473952"/>
            <a:ext cx="11091672" cy="274320"/>
          </a:xfrm>
          <a:prstGeom prst="rect">
            <a:avLst/>
          </a:prstGeom>
          <a:noFill/>
          <a:ln/>
        </p:spPr>
        <p:txBody>
          <a:bodyPr wrap="square" lIns="0" tIns="0" rIns="0" bIns="0" rtlCol="0" anchor="ctr"/>
          <a:lstStyle/>
          <a:p>
            <a:pPr marL="0" indent="0">
              <a:buNone/>
            </a:pPr>
            <a:r>
              <a:rPr lang="en-US" sz="900" dirty="0">
                <a:solidFill>
                  <a:srgbClr val="5B6470"/>
                </a:solidFill>
                <a:latin typeface="Calibri" pitchFamily="34" charset="0"/>
                <a:ea typeface="Calibri" pitchFamily="34" charset="-122"/>
                <a:cs typeface="Calibri" pitchFamily="34" charset="-120"/>
              </a:rPr>
              <a:t>Digital Communication &amp; Emerging Technologies · NCCU ISS 2026 · Day 2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292608"/>
            <a:ext cx="11091672" cy="658368"/>
          </a:xfrm>
          <a:prstGeom prst="rect">
            <a:avLst/>
          </a:prstGeom>
          <a:noFill/>
          <a:ln/>
        </p:spPr>
        <p:txBody>
          <a:bodyPr wrap="square" lIns="0" tIns="0" rIns="0" bIns="0" rtlCol="0" anchor="ctr"/>
          <a:lstStyle/>
          <a:p>
            <a:pPr marL="0" indent="0">
              <a:buNone/>
            </a:pPr>
            <a:r>
              <a:rPr lang="en-US" sz="3100" b="1" dirty="0">
                <a:solidFill>
                  <a:srgbClr val="1A2733"/>
                </a:solidFill>
                <a:latin typeface="Cambria" pitchFamily="34" charset="0"/>
                <a:ea typeface="Cambria" pitchFamily="34" charset="-122"/>
                <a:cs typeface="Cambria" pitchFamily="34" charset="-120"/>
              </a:rPr>
              <a:t>Warm-up: which is hardest for a computer?</a:t>
            </a:r>
            <a:endParaRPr lang="en-US" sz="3100" dirty="0"/>
          </a:p>
        </p:txBody>
      </p:sp>
      <p:sp>
        <p:nvSpPr>
          <p:cNvPr id="3" name="Text 1"/>
          <p:cNvSpPr/>
          <p:nvPr/>
        </p:nvSpPr>
        <p:spPr>
          <a:xfrm>
            <a:off x="548640" y="896112"/>
            <a:ext cx="11091672" cy="365760"/>
          </a:xfrm>
          <a:prstGeom prst="rect">
            <a:avLst/>
          </a:prstGeom>
          <a:noFill/>
          <a:ln/>
        </p:spPr>
        <p:txBody>
          <a:bodyPr wrap="square" lIns="0" tIns="0" rIns="0" bIns="0" rtlCol="0" anchor="ctr"/>
          <a:lstStyle/>
          <a:p>
            <a:pPr marL="0" indent="0">
              <a:buNone/>
            </a:pPr>
            <a:r>
              <a:rPr lang="en-US" sz="1500" i="1" dirty="0">
                <a:solidFill>
                  <a:srgbClr val="5B6470"/>
                </a:solidFill>
                <a:latin typeface="Calibri" pitchFamily="34" charset="0"/>
                <a:ea typeface="Calibri" pitchFamily="34" charset="-122"/>
                <a:cs typeface="Calibri" pitchFamily="34" charset="-120"/>
              </a:rPr>
              <a:t>Vote on Zuvio — trust your instinct</a:t>
            </a:r>
            <a:endParaRPr lang="en-US" sz="1500" dirty="0"/>
          </a:p>
        </p:txBody>
      </p:sp>
      <p:sp>
        <p:nvSpPr>
          <p:cNvPr id="4" name="Shape 2"/>
          <p:cNvSpPr/>
          <p:nvPr/>
        </p:nvSpPr>
        <p:spPr>
          <a:xfrm>
            <a:off x="10058400" y="457200"/>
            <a:ext cx="1554480" cy="310896"/>
          </a:xfrm>
          <a:prstGeom prst="roundRect">
            <a:avLst>
              <a:gd name="adj" fmla="val 50000"/>
            </a:avLst>
          </a:prstGeom>
          <a:solidFill>
            <a:srgbClr val="3FB984"/>
          </a:solidFill>
          <a:ln/>
        </p:spPr>
      </p:sp>
      <p:sp>
        <p:nvSpPr>
          <p:cNvPr id="5" name="Text 3"/>
          <p:cNvSpPr/>
          <p:nvPr/>
        </p:nvSpPr>
        <p:spPr>
          <a:xfrm>
            <a:off x="10058400" y="457200"/>
            <a:ext cx="155448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Zuvio poll</a:t>
            </a:r>
            <a:endParaRPr lang="en-US" sz="1100" dirty="0"/>
          </a:p>
        </p:txBody>
      </p:sp>
      <p:sp>
        <p:nvSpPr>
          <p:cNvPr id="6" name="Shape 4"/>
          <p:cNvSpPr/>
          <p:nvPr/>
        </p:nvSpPr>
        <p:spPr>
          <a:xfrm>
            <a:off x="1463040" y="1783080"/>
            <a:ext cx="9235440" cy="868680"/>
          </a:xfrm>
          <a:prstGeom prst="roundRect">
            <a:avLst>
              <a:gd name="adj" fmla="val 8421"/>
            </a:avLst>
          </a:prstGeom>
          <a:solidFill>
            <a:srgbClr val="F5F8FB"/>
          </a:solidFill>
          <a:ln w="12700">
            <a:solidFill>
              <a:srgbClr val="DDE5EC"/>
            </a:solidFill>
            <a:prstDash val="solid"/>
          </a:ln>
        </p:spPr>
      </p:sp>
      <p:sp>
        <p:nvSpPr>
          <p:cNvPr id="7" name="Shape 5"/>
          <p:cNvSpPr/>
          <p:nvPr/>
        </p:nvSpPr>
        <p:spPr>
          <a:xfrm>
            <a:off x="1691640" y="1984248"/>
            <a:ext cx="457200" cy="457200"/>
          </a:xfrm>
          <a:prstGeom prst="ellipse">
            <a:avLst/>
          </a:prstGeom>
          <a:solidFill>
            <a:srgbClr val="0B5CAD"/>
          </a:solidFill>
          <a:ln/>
        </p:spPr>
      </p:sp>
      <p:sp>
        <p:nvSpPr>
          <p:cNvPr id="8" name="Text 6"/>
          <p:cNvSpPr/>
          <p:nvPr/>
        </p:nvSpPr>
        <p:spPr>
          <a:xfrm>
            <a:off x="1691640" y="198424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9" name="Text 7"/>
          <p:cNvSpPr/>
          <p:nvPr/>
        </p:nvSpPr>
        <p:spPr>
          <a:xfrm>
            <a:off x="2377440" y="1783080"/>
            <a:ext cx="8138160" cy="868680"/>
          </a:xfrm>
          <a:prstGeom prst="rect">
            <a:avLst/>
          </a:prstGeom>
          <a:noFill/>
          <a:ln/>
        </p:spPr>
        <p:txBody>
          <a:bodyPr wrap="square" lIns="0" tIns="0" rIns="0" bIns="0" rtlCol="0" anchor="ctr"/>
          <a:lstStyle/>
          <a:p>
            <a:pPr marL="0" indent="0">
              <a:buNone/>
            </a:pPr>
            <a:r>
              <a:rPr lang="en-US" sz="1600" dirty="0">
                <a:solidFill>
                  <a:srgbClr val="1A2733"/>
                </a:solidFill>
                <a:latin typeface="Calibri" pitchFamily="34" charset="0"/>
                <a:ea typeface="Calibri" pitchFamily="34" charset="-122"/>
                <a:cs typeface="Calibri" pitchFamily="34" charset="-120"/>
              </a:rPr>
              <a:t>Multiply two 10-digit numbers</a:t>
            </a:r>
            <a:endParaRPr lang="en-US" sz="1600" dirty="0"/>
          </a:p>
        </p:txBody>
      </p:sp>
      <p:sp>
        <p:nvSpPr>
          <p:cNvPr id="10" name="Shape 8"/>
          <p:cNvSpPr/>
          <p:nvPr/>
        </p:nvSpPr>
        <p:spPr>
          <a:xfrm>
            <a:off x="1463040" y="2770632"/>
            <a:ext cx="9235440" cy="868680"/>
          </a:xfrm>
          <a:prstGeom prst="roundRect">
            <a:avLst>
              <a:gd name="adj" fmla="val 8421"/>
            </a:avLst>
          </a:prstGeom>
          <a:solidFill>
            <a:srgbClr val="F5F8FB"/>
          </a:solidFill>
          <a:ln w="12700">
            <a:solidFill>
              <a:srgbClr val="DDE5EC"/>
            </a:solidFill>
            <a:prstDash val="solid"/>
          </a:ln>
        </p:spPr>
      </p:sp>
      <p:sp>
        <p:nvSpPr>
          <p:cNvPr id="11" name="Shape 9"/>
          <p:cNvSpPr/>
          <p:nvPr/>
        </p:nvSpPr>
        <p:spPr>
          <a:xfrm>
            <a:off x="1691640" y="2971800"/>
            <a:ext cx="457200" cy="457200"/>
          </a:xfrm>
          <a:prstGeom prst="ellipse">
            <a:avLst/>
          </a:prstGeom>
          <a:solidFill>
            <a:srgbClr val="0B5CAD"/>
          </a:solidFill>
          <a:ln/>
        </p:spPr>
      </p:sp>
      <p:sp>
        <p:nvSpPr>
          <p:cNvPr id="12" name="Text 10"/>
          <p:cNvSpPr/>
          <p:nvPr/>
        </p:nvSpPr>
        <p:spPr>
          <a:xfrm>
            <a:off x="1691640" y="297180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3" name="Text 11"/>
          <p:cNvSpPr/>
          <p:nvPr/>
        </p:nvSpPr>
        <p:spPr>
          <a:xfrm>
            <a:off x="2377440" y="2770632"/>
            <a:ext cx="8138160" cy="868680"/>
          </a:xfrm>
          <a:prstGeom prst="rect">
            <a:avLst/>
          </a:prstGeom>
          <a:noFill/>
          <a:ln/>
        </p:spPr>
        <p:txBody>
          <a:bodyPr wrap="square" lIns="0" tIns="0" rIns="0" bIns="0" rtlCol="0" anchor="ctr"/>
          <a:lstStyle/>
          <a:p>
            <a:pPr marL="0" indent="0">
              <a:buNone/>
            </a:pPr>
            <a:r>
              <a:rPr lang="en-US" sz="1600" dirty="0">
                <a:solidFill>
                  <a:srgbClr val="1A2733"/>
                </a:solidFill>
                <a:latin typeface="Calibri" pitchFamily="34" charset="0"/>
                <a:ea typeface="Calibri" pitchFamily="34" charset="-122"/>
                <a:cs typeface="Calibri" pitchFamily="34" charset="-120"/>
              </a:rPr>
              <a:t>Play chess at grandmaster level</a:t>
            </a:r>
            <a:endParaRPr lang="en-US" sz="1600" dirty="0"/>
          </a:p>
        </p:txBody>
      </p:sp>
      <p:sp>
        <p:nvSpPr>
          <p:cNvPr id="14" name="Shape 12"/>
          <p:cNvSpPr/>
          <p:nvPr/>
        </p:nvSpPr>
        <p:spPr>
          <a:xfrm>
            <a:off x="1463040" y="3758184"/>
            <a:ext cx="9235440" cy="868680"/>
          </a:xfrm>
          <a:prstGeom prst="roundRect">
            <a:avLst>
              <a:gd name="adj" fmla="val 8421"/>
            </a:avLst>
          </a:prstGeom>
          <a:solidFill>
            <a:srgbClr val="F5F8FB"/>
          </a:solidFill>
          <a:ln w="12700">
            <a:solidFill>
              <a:srgbClr val="DDE5EC"/>
            </a:solidFill>
            <a:prstDash val="solid"/>
          </a:ln>
        </p:spPr>
      </p:sp>
      <p:sp>
        <p:nvSpPr>
          <p:cNvPr id="15" name="Shape 13"/>
          <p:cNvSpPr/>
          <p:nvPr/>
        </p:nvSpPr>
        <p:spPr>
          <a:xfrm>
            <a:off x="1691640" y="3959352"/>
            <a:ext cx="457200" cy="457200"/>
          </a:xfrm>
          <a:prstGeom prst="ellipse">
            <a:avLst/>
          </a:prstGeom>
          <a:solidFill>
            <a:srgbClr val="0B5CAD"/>
          </a:solidFill>
          <a:ln/>
        </p:spPr>
      </p:sp>
      <p:sp>
        <p:nvSpPr>
          <p:cNvPr id="16" name="Text 14"/>
          <p:cNvSpPr/>
          <p:nvPr/>
        </p:nvSpPr>
        <p:spPr>
          <a:xfrm>
            <a:off x="1691640" y="395935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7" name="Text 15"/>
          <p:cNvSpPr/>
          <p:nvPr/>
        </p:nvSpPr>
        <p:spPr>
          <a:xfrm>
            <a:off x="2377440" y="3758184"/>
            <a:ext cx="8138160" cy="868680"/>
          </a:xfrm>
          <a:prstGeom prst="rect">
            <a:avLst/>
          </a:prstGeom>
          <a:noFill/>
          <a:ln/>
        </p:spPr>
        <p:txBody>
          <a:bodyPr wrap="square" lIns="0" tIns="0" rIns="0" bIns="0" rtlCol="0" anchor="ctr"/>
          <a:lstStyle/>
          <a:p>
            <a:pPr marL="0" indent="0">
              <a:buNone/>
            </a:pPr>
            <a:r>
              <a:rPr lang="en-US" sz="1600" dirty="0">
                <a:solidFill>
                  <a:srgbClr val="1A2733"/>
                </a:solidFill>
                <a:latin typeface="Calibri" pitchFamily="34" charset="0"/>
                <a:ea typeface="Calibri" pitchFamily="34" charset="-122"/>
                <a:cs typeface="Calibri" pitchFamily="34" charset="-120"/>
              </a:rPr>
              <a:t>Tell a cat from a dog in a photo</a:t>
            </a:r>
            <a:endParaRPr lang="en-US" sz="1600" dirty="0"/>
          </a:p>
        </p:txBody>
      </p:sp>
      <p:sp>
        <p:nvSpPr>
          <p:cNvPr id="18" name="Shape 16"/>
          <p:cNvSpPr/>
          <p:nvPr/>
        </p:nvSpPr>
        <p:spPr>
          <a:xfrm>
            <a:off x="1463040" y="4745736"/>
            <a:ext cx="9235440" cy="868680"/>
          </a:xfrm>
          <a:prstGeom prst="roundRect">
            <a:avLst>
              <a:gd name="adj" fmla="val 8421"/>
            </a:avLst>
          </a:prstGeom>
          <a:solidFill>
            <a:srgbClr val="F5F8FB"/>
          </a:solidFill>
          <a:ln w="12700">
            <a:solidFill>
              <a:srgbClr val="DDE5EC"/>
            </a:solidFill>
            <a:prstDash val="solid"/>
          </a:ln>
        </p:spPr>
      </p:sp>
      <p:sp>
        <p:nvSpPr>
          <p:cNvPr id="19" name="Shape 17"/>
          <p:cNvSpPr/>
          <p:nvPr/>
        </p:nvSpPr>
        <p:spPr>
          <a:xfrm>
            <a:off x="1691640" y="4946904"/>
            <a:ext cx="457200" cy="457200"/>
          </a:xfrm>
          <a:prstGeom prst="ellipse">
            <a:avLst/>
          </a:prstGeom>
          <a:solidFill>
            <a:srgbClr val="0B5CAD"/>
          </a:solidFill>
          <a:ln/>
        </p:spPr>
      </p:sp>
      <p:sp>
        <p:nvSpPr>
          <p:cNvPr id="20" name="Text 18"/>
          <p:cNvSpPr/>
          <p:nvPr/>
        </p:nvSpPr>
        <p:spPr>
          <a:xfrm>
            <a:off x="1691640" y="494690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21" name="Text 19"/>
          <p:cNvSpPr/>
          <p:nvPr/>
        </p:nvSpPr>
        <p:spPr>
          <a:xfrm>
            <a:off x="2377440" y="4745736"/>
            <a:ext cx="8138160" cy="868680"/>
          </a:xfrm>
          <a:prstGeom prst="rect">
            <a:avLst/>
          </a:prstGeom>
          <a:noFill/>
          <a:ln/>
        </p:spPr>
        <p:txBody>
          <a:bodyPr wrap="square" lIns="0" tIns="0" rIns="0" bIns="0" rtlCol="0" anchor="ctr"/>
          <a:lstStyle/>
          <a:p>
            <a:pPr marL="0" indent="0">
              <a:buNone/>
            </a:pPr>
            <a:r>
              <a:rPr lang="en-US" sz="1600" dirty="0">
                <a:solidFill>
                  <a:srgbClr val="1A2733"/>
                </a:solidFill>
                <a:latin typeface="Calibri" pitchFamily="34" charset="0"/>
                <a:ea typeface="Calibri" pitchFamily="34" charset="-122"/>
                <a:cs typeface="Calibri" pitchFamily="34" charset="-120"/>
              </a:rPr>
              <a:t>Store a million book pages</a:t>
            </a:r>
            <a:endParaRPr lang="en-US" sz="1600" dirty="0"/>
          </a:p>
        </p:txBody>
      </p:sp>
      <p:sp>
        <p:nvSpPr>
          <p:cNvPr id="22" name="Text 20"/>
          <p:cNvSpPr/>
          <p:nvPr/>
        </p:nvSpPr>
        <p:spPr>
          <a:xfrm>
            <a:off x="548640" y="6473952"/>
            <a:ext cx="11091672" cy="274320"/>
          </a:xfrm>
          <a:prstGeom prst="rect">
            <a:avLst/>
          </a:prstGeom>
          <a:noFill/>
          <a:ln/>
        </p:spPr>
        <p:txBody>
          <a:bodyPr wrap="square" lIns="0" tIns="0" rIns="0" bIns="0" rtlCol="0" anchor="ctr"/>
          <a:lstStyle/>
          <a:p>
            <a:pPr marL="0" indent="0">
              <a:buNone/>
            </a:pPr>
            <a:r>
              <a:rPr lang="en-US" sz="900" dirty="0">
                <a:solidFill>
                  <a:srgbClr val="5B6470"/>
                </a:solidFill>
                <a:latin typeface="Calibri" pitchFamily="34" charset="0"/>
                <a:ea typeface="Calibri" pitchFamily="34" charset="-122"/>
                <a:cs typeface="Calibri" pitchFamily="34" charset="-120"/>
              </a:rPr>
              <a:t>Digital Communication &amp; Emerging Technologies · NCCU ISS 2026 · Day 2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92608"/>
            <a:ext cx="11091672" cy="658368"/>
          </a:xfrm>
          <a:prstGeom prst="rect">
            <a:avLst/>
          </a:prstGeom>
          <a:noFill/>
          <a:ln/>
        </p:spPr>
        <p:txBody>
          <a:bodyPr wrap="square" lIns="0" tIns="0" rIns="0" bIns="0" rtlCol="0" anchor="ctr"/>
          <a:lstStyle/>
          <a:p>
            <a:pPr marL="0" indent="0">
              <a:buNone/>
            </a:pPr>
            <a:r>
              <a:rPr lang="en-US" sz="3100" b="1" dirty="0">
                <a:solidFill>
                  <a:srgbClr val="1A2733"/>
                </a:solidFill>
                <a:latin typeface="Cambria" pitchFamily="34" charset="0"/>
                <a:ea typeface="Cambria" pitchFamily="34" charset="-122"/>
                <a:cs typeface="Cambria" pitchFamily="34" charset="-120"/>
              </a:rPr>
              <a:t>… the surprising answer: C</a:t>
            </a:r>
            <a:endParaRPr lang="en-US" sz="3100" dirty="0"/>
          </a:p>
        </p:txBody>
      </p:sp>
      <p:sp>
        <p:nvSpPr>
          <p:cNvPr id="3" name="Text 1"/>
          <p:cNvSpPr/>
          <p:nvPr/>
        </p:nvSpPr>
        <p:spPr>
          <a:xfrm>
            <a:off x="548640" y="896112"/>
            <a:ext cx="11091672" cy="365760"/>
          </a:xfrm>
          <a:prstGeom prst="rect">
            <a:avLst/>
          </a:prstGeom>
          <a:noFill/>
          <a:ln/>
        </p:spPr>
        <p:txBody>
          <a:bodyPr wrap="square" lIns="0" tIns="0" rIns="0" bIns="0" rtlCol="0" anchor="ctr"/>
          <a:lstStyle/>
          <a:p>
            <a:pPr marL="0" indent="0">
              <a:buNone/>
            </a:pPr>
            <a:r>
              <a:rPr lang="en-US" sz="1500" i="1" dirty="0">
                <a:solidFill>
                  <a:srgbClr val="5B6470"/>
                </a:solidFill>
                <a:latin typeface="Calibri" pitchFamily="34" charset="0"/>
                <a:ea typeface="Calibri" pitchFamily="34" charset="-122"/>
                <a:cs typeface="Calibri" pitchFamily="34" charset="-120"/>
              </a:rPr>
              <a:t>Recognizing a cat was AI's hard problem for 50 years</a:t>
            </a:r>
            <a:endParaRPr lang="en-US" sz="1500" dirty="0"/>
          </a:p>
        </p:txBody>
      </p:sp>
      <p:sp>
        <p:nvSpPr>
          <p:cNvPr id="4" name="Shape 2"/>
          <p:cNvSpPr/>
          <p:nvPr/>
        </p:nvSpPr>
        <p:spPr>
          <a:xfrm>
            <a:off x="548640" y="1600200"/>
            <a:ext cx="11091672" cy="1463040"/>
          </a:xfrm>
          <a:prstGeom prst="roundRect">
            <a:avLst>
              <a:gd name="adj" fmla="val 5000"/>
            </a:avLst>
          </a:prstGeom>
          <a:solidFill>
            <a:srgbClr val="EAF2FB"/>
          </a:solidFill>
          <a:ln/>
        </p:spPr>
      </p:sp>
      <p:sp>
        <p:nvSpPr>
          <p:cNvPr id="5" name="Text 3"/>
          <p:cNvSpPr/>
          <p:nvPr/>
        </p:nvSpPr>
        <p:spPr>
          <a:xfrm>
            <a:off x="868680" y="1783080"/>
            <a:ext cx="10424160" cy="1143000"/>
          </a:xfrm>
          <a:prstGeom prst="rect">
            <a:avLst/>
          </a:prstGeom>
          <a:noFill/>
          <a:ln/>
        </p:spPr>
        <p:txBody>
          <a:bodyPr wrap="square" lIns="0" tIns="0" rIns="0" bIns="0" rtlCol="0" anchor="ctr"/>
          <a:lstStyle/>
          <a:p>
            <a:pPr marL="0" indent="0">
              <a:buNone/>
            </a:pPr>
            <a:r>
              <a:rPr lang="en-US" sz="1550" dirty="0">
                <a:solidFill>
                  <a:srgbClr val="1A2733"/>
                </a:solidFill>
                <a:latin typeface="Calibri" pitchFamily="34" charset="0"/>
                <a:ea typeface="Calibri" pitchFamily="34" charset="-122"/>
                <a:cs typeface="Calibri" pitchFamily="34" charset="-120"/>
              </a:rPr>
              <a:t>Computers crushed arithmetic, chess, and storage decades ago. </a:t>
            </a:r>
            <a:r>
              <a:rPr lang="en-US" sz="1550" b="1" dirty="0">
                <a:solidFill>
                  <a:srgbClr val="0B5CAD"/>
                </a:solidFill>
                <a:latin typeface="Calibri" pitchFamily="34" charset="0"/>
                <a:ea typeface="Calibri" pitchFamily="34" charset="-122"/>
                <a:cs typeface="Calibri" pitchFamily="34" charset="-120"/>
              </a:rPr>
              <a:t>But “is this a cat?” — trivial for a toddler — defeated programmers until deep learning. </a:t>
            </a:r>
            <a:r>
              <a:rPr lang="en-US" sz="1550" dirty="0">
                <a:solidFill>
                  <a:srgbClr val="5B6470"/>
                </a:solidFill>
                <a:latin typeface="Calibri" pitchFamily="34" charset="0"/>
                <a:ea typeface="Calibri" pitchFamily="34" charset="-122"/>
                <a:cs typeface="Calibri" pitchFamily="34" charset="-120"/>
              </a:rPr>
              <a:t>This is Moravec's paradox: what feels easy for humans (seeing, walking) is hard for machines, and what feels hard (big calculations) is easy.</a:t>
            </a:r>
            <a:endParaRPr lang="en-US" sz="1550" dirty="0"/>
          </a:p>
        </p:txBody>
      </p:sp>
      <p:sp>
        <p:nvSpPr>
          <p:cNvPr id="6" name="Text 4"/>
          <p:cNvSpPr/>
          <p:nvPr/>
        </p:nvSpPr>
        <p:spPr>
          <a:xfrm>
            <a:off x="548640" y="3337560"/>
            <a:ext cx="11091672" cy="822960"/>
          </a:xfrm>
          <a:prstGeom prst="rect">
            <a:avLst/>
          </a:prstGeom>
          <a:noFill/>
          <a:ln/>
        </p:spPr>
        <p:txBody>
          <a:bodyPr wrap="square" lIns="0" tIns="0" rIns="0" bIns="0" rtlCol="0" anchor="ctr"/>
          <a:lstStyle/>
          <a:p>
            <a:pPr marL="0" indent="0">
              <a:buNone/>
            </a:pPr>
            <a:r>
              <a:rPr lang="en-US" sz="1500" dirty="0">
                <a:solidFill>
                  <a:srgbClr val="1A2733"/>
                </a:solidFill>
                <a:latin typeface="Calibri" pitchFamily="34" charset="0"/>
                <a:ea typeface="Calibri" pitchFamily="34" charset="-122"/>
                <a:cs typeface="Calibri" pitchFamily="34" charset="-120"/>
              </a:rPr>
              <a:t>Why so hard? A cat can be any color, pose, angle, or lighting. There is no simple rule. Today you'll see how deep learning finally cracked it — by learning from examples instead of rules.</a:t>
            </a:r>
            <a:endParaRPr lang="en-US" sz="1500" dirty="0"/>
          </a:p>
        </p:txBody>
      </p:sp>
      <p:sp>
        <p:nvSpPr>
          <p:cNvPr id="7" name="Shape 5"/>
          <p:cNvSpPr/>
          <p:nvPr/>
        </p:nvSpPr>
        <p:spPr>
          <a:xfrm>
            <a:off x="548640" y="4343400"/>
            <a:ext cx="11091672" cy="1051560"/>
          </a:xfrm>
          <a:prstGeom prst="roundRect">
            <a:avLst>
              <a:gd name="adj" fmla="val 6957"/>
            </a:avLst>
          </a:prstGeom>
          <a:solidFill>
            <a:srgbClr val="093F76"/>
          </a:solidFill>
          <a:ln/>
        </p:spPr>
      </p:sp>
      <p:sp>
        <p:nvSpPr>
          <p:cNvPr id="8" name="Text 6"/>
          <p:cNvSpPr/>
          <p:nvPr/>
        </p:nvSpPr>
        <p:spPr>
          <a:xfrm>
            <a:off x="868680" y="4498848"/>
            <a:ext cx="10424160" cy="777240"/>
          </a:xfrm>
          <a:prstGeom prst="rect">
            <a:avLst/>
          </a:prstGeom>
          <a:noFill/>
          <a:ln/>
        </p:spPr>
        <p:txBody>
          <a:bodyPr wrap="square" lIns="0" tIns="0" rIns="0" bIns="0" rtlCol="0" anchor="ctr"/>
          <a:lstStyle/>
          <a:p>
            <a:pPr marL="0" indent="0">
              <a:buNone/>
            </a:pPr>
            <a:r>
              <a:rPr lang="en-US" sz="1500" b="1" dirty="0">
                <a:solidFill>
                  <a:srgbClr val="F0C878"/>
                </a:solidFill>
                <a:latin typeface="Calibri" pitchFamily="34" charset="0"/>
                <a:ea typeface="Calibri" pitchFamily="34" charset="-122"/>
                <a:cs typeface="Calibri" pitchFamily="34" charset="-120"/>
              </a:rPr>
              <a:t>Keep this in mind all day: </a:t>
            </a:r>
            <a:r>
              <a:rPr lang="en-US" sz="1500" dirty="0">
                <a:solidFill>
                  <a:srgbClr val="EAF2FB"/>
                </a:solidFill>
                <a:latin typeface="Calibri" pitchFamily="34" charset="0"/>
                <a:ea typeface="Calibri" pitchFamily="34" charset="-122"/>
                <a:cs typeface="Calibri" pitchFamily="34" charset="-120"/>
              </a:rPr>
              <a:t>the whole trick of deep learning is turning “seeing” from a rule-writing problem into a learning-from-examples problem.</a:t>
            </a:r>
            <a:endParaRPr lang="en-US" sz="1500" dirty="0"/>
          </a:p>
        </p:txBody>
      </p:sp>
      <p:sp>
        <p:nvSpPr>
          <p:cNvPr id="9" name="Text 7"/>
          <p:cNvSpPr/>
          <p:nvPr/>
        </p:nvSpPr>
        <p:spPr>
          <a:xfrm>
            <a:off x="548640" y="6473952"/>
            <a:ext cx="11091672" cy="274320"/>
          </a:xfrm>
          <a:prstGeom prst="rect">
            <a:avLst/>
          </a:prstGeom>
          <a:noFill/>
          <a:ln/>
        </p:spPr>
        <p:txBody>
          <a:bodyPr wrap="square" lIns="0" tIns="0" rIns="0" bIns="0" rtlCol="0" anchor="ctr"/>
          <a:lstStyle/>
          <a:p>
            <a:pPr marL="0" indent="0">
              <a:buNone/>
            </a:pPr>
            <a:r>
              <a:rPr lang="en-US" sz="900" dirty="0">
                <a:solidFill>
                  <a:srgbClr val="5B6470"/>
                </a:solidFill>
                <a:latin typeface="Calibri" pitchFamily="34" charset="0"/>
                <a:ea typeface="Calibri" pitchFamily="34" charset="-122"/>
                <a:cs typeface="Calibri" pitchFamily="34" charset="-120"/>
              </a:rPr>
              <a:t>Digital Communication &amp; Emerging Technologies · NCCU ISS 2026 · Day 2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292608"/>
            <a:ext cx="11091672" cy="658368"/>
          </a:xfrm>
          <a:prstGeom prst="rect">
            <a:avLst/>
          </a:prstGeom>
          <a:noFill/>
          <a:ln/>
        </p:spPr>
        <p:txBody>
          <a:bodyPr wrap="square" lIns="0" tIns="0" rIns="0" bIns="0" rtlCol="0" anchor="ctr"/>
          <a:lstStyle/>
          <a:p>
            <a:pPr marL="0" indent="0">
              <a:buNone/>
            </a:pPr>
            <a:r>
              <a:rPr lang="en-US" sz="3100" b="1" dirty="0">
                <a:solidFill>
                  <a:srgbClr val="1A2733"/>
                </a:solidFill>
                <a:latin typeface="Cambria" pitchFamily="34" charset="0"/>
                <a:ea typeface="Cambria" pitchFamily="34" charset="-122"/>
                <a:cs typeface="Cambria" pitchFamily="34" charset="-120"/>
              </a:rPr>
              <a:t>The shift: from writing rules to showing examples</a:t>
            </a:r>
            <a:endParaRPr lang="en-US" sz="3100" dirty="0"/>
          </a:p>
        </p:txBody>
      </p:sp>
      <p:sp>
        <p:nvSpPr>
          <p:cNvPr id="3" name="Text 1"/>
          <p:cNvSpPr/>
          <p:nvPr/>
        </p:nvSpPr>
        <p:spPr>
          <a:xfrm>
            <a:off x="548640" y="896112"/>
            <a:ext cx="11091672" cy="365760"/>
          </a:xfrm>
          <a:prstGeom prst="rect">
            <a:avLst/>
          </a:prstGeom>
          <a:noFill/>
          <a:ln/>
        </p:spPr>
        <p:txBody>
          <a:bodyPr wrap="square" lIns="0" tIns="0" rIns="0" bIns="0" rtlCol="0" anchor="ctr"/>
          <a:lstStyle/>
          <a:p>
            <a:pPr marL="0" indent="0">
              <a:buNone/>
            </a:pPr>
            <a:r>
              <a:rPr lang="en-US" sz="1500" i="1" dirty="0">
                <a:solidFill>
                  <a:srgbClr val="5B6470"/>
                </a:solidFill>
                <a:latin typeface="Calibri" pitchFamily="34" charset="0"/>
                <a:ea typeface="Calibri" pitchFamily="34" charset="-122"/>
                <a:cs typeface="Calibri" pitchFamily="34" charset="-120"/>
              </a:rPr>
              <a:t>Why deep learning took over computer vision</a:t>
            </a:r>
            <a:endParaRPr lang="en-US" sz="1500" dirty="0"/>
          </a:p>
        </p:txBody>
      </p:sp>
      <p:sp>
        <p:nvSpPr>
          <p:cNvPr id="4" name="Shape 2"/>
          <p:cNvSpPr/>
          <p:nvPr/>
        </p:nvSpPr>
        <p:spPr>
          <a:xfrm>
            <a:off x="548640" y="1554480"/>
            <a:ext cx="5394960" cy="3931920"/>
          </a:xfrm>
          <a:prstGeom prst="roundRect">
            <a:avLst>
              <a:gd name="adj" fmla="val 1860"/>
            </a:avLst>
          </a:prstGeom>
          <a:solidFill>
            <a:srgbClr val="F5F8FB"/>
          </a:solidFill>
          <a:ln w="12700">
            <a:solidFill>
              <a:srgbClr val="DDE5EC"/>
            </a:solidFill>
            <a:prstDash val="solid"/>
          </a:ln>
        </p:spPr>
      </p:sp>
      <p:sp>
        <p:nvSpPr>
          <p:cNvPr id="5" name="Text 3"/>
          <p:cNvSpPr/>
          <p:nvPr/>
        </p:nvSpPr>
        <p:spPr>
          <a:xfrm>
            <a:off x="822960" y="1737360"/>
            <a:ext cx="4846320" cy="365760"/>
          </a:xfrm>
          <a:prstGeom prst="rect">
            <a:avLst/>
          </a:prstGeom>
          <a:noFill/>
          <a:ln/>
        </p:spPr>
        <p:txBody>
          <a:bodyPr wrap="square" lIns="0" tIns="0" rIns="0" bIns="0" rtlCol="0" anchor="ctr"/>
          <a:lstStyle/>
          <a:p>
            <a:pPr marL="0" indent="0">
              <a:buNone/>
            </a:pPr>
            <a:r>
              <a:rPr lang="en-US" sz="1600" b="1" dirty="0">
                <a:solidFill>
                  <a:srgbClr val="1A2733"/>
                </a:solidFill>
                <a:latin typeface="Cambria" pitchFamily="34" charset="0"/>
                <a:ea typeface="Cambria" pitchFamily="34" charset="-122"/>
                <a:cs typeface="Cambria" pitchFamily="34" charset="-120"/>
              </a:rPr>
              <a:t>The old way: hand-written rules</a:t>
            </a:r>
            <a:endParaRPr lang="en-US" sz="1600" dirty="0"/>
          </a:p>
        </p:txBody>
      </p:sp>
      <p:sp>
        <p:nvSpPr>
          <p:cNvPr id="6" name="Text 4"/>
          <p:cNvSpPr/>
          <p:nvPr/>
        </p:nvSpPr>
        <p:spPr>
          <a:xfrm>
            <a:off x="822960" y="2240280"/>
            <a:ext cx="4846320" cy="1463040"/>
          </a:xfrm>
          <a:prstGeom prst="rect">
            <a:avLst/>
          </a:prstGeom>
          <a:noFill/>
          <a:ln/>
        </p:spPr>
        <p:txBody>
          <a:bodyPr wrap="square" lIns="0" tIns="0" rIns="0" bIns="0" rtlCol="0" anchor="ctr"/>
          <a:lstStyle/>
          <a:p>
            <a:pPr marL="0" indent="0">
              <a:buNone/>
            </a:pPr>
            <a:r>
              <a:rPr lang="en-US" sz="1400" dirty="0">
                <a:solidFill>
                  <a:srgbClr val="5B6470"/>
                </a:solidFill>
                <a:latin typeface="Calibri" pitchFamily="34" charset="0"/>
                <a:ea typeface="Calibri" pitchFamily="34" charset="-122"/>
                <a:cs typeface="Calibri" pitchFamily="34" charset="-120"/>
              </a:rPr>
              <a:t>A programmer tries to describe a cat in code: two ears, whiskers, fur texture… It breaks the moment the cat turns around, sits in shadow, or curls up. Millions of rules, still brittle.</a:t>
            </a:r>
            <a:endParaRPr lang="en-US" sz="1400" dirty="0"/>
          </a:p>
        </p:txBody>
      </p:sp>
      <p:sp>
        <p:nvSpPr>
          <p:cNvPr id="7" name="Text 5"/>
          <p:cNvSpPr/>
          <p:nvPr/>
        </p:nvSpPr>
        <p:spPr>
          <a:xfrm>
            <a:off x="822960" y="4892040"/>
            <a:ext cx="4846320" cy="457200"/>
          </a:xfrm>
          <a:prstGeom prst="rect">
            <a:avLst/>
          </a:prstGeom>
          <a:noFill/>
          <a:ln/>
        </p:spPr>
        <p:txBody>
          <a:bodyPr wrap="square" lIns="0" tIns="0" rIns="0" bIns="0" rtlCol="0" anchor="ctr"/>
          <a:lstStyle/>
          <a:p>
            <a:pPr marL="0" indent="0">
              <a:buNone/>
            </a:pPr>
            <a:r>
              <a:rPr lang="en-US" sz="1250" i="1" dirty="0">
                <a:solidFill>
                  <a:srgbClr val="5B6470"/>
                </a:solidFill>
                <a:latin typeface="Calibri" pitchFamily="34" charset="0"/>
                <a:ea typeface="Calibri" pitchFamily="34" charset="-122"/>
                <a:cs typeface="Calibri" pitchFamily="34" charset="-120"/>
              </a:rPr>
              <a:t>You write the rules → the computer follows them</a:t>
            </a:r>
            <a:endParaRPr lang="en-US" sz="1250" dirty="0"/>
          </a:p>
        </p:txBody>
      </p:sp>
      <p:sp>
        <p:nvSpPr>
          <p:cNvPr id="8" name="Shape 6"/>
          <p:cNvSpPr/>
          <p:nvPr/>
        </p:nvSpPr>
        <p:spPr>
          <a:xfrm>
            <a:off x="6172200" y="1554480"/>
            <a:ext cx="5468112" cy="3931920"/>
          </a:xfrm>
          <a:prstGeom prst="roundRect">
            <a:avLst>
              <a:gd name="adj" fmla="val 1860"/>
            </a:avLst>
          </a:prstGeom>
          <a:solidFill>
            <a:srgbClr val="EAF2FB"/>
          </a:solidFill>
          <a:ln/>
        </p:spPr>
      </p:sp>
      <p:sp>
        <p:nvSpPr>
          <p:cNvPr id="9" name="Text 7"/>
          <p:cNvSpPr/>
          <p:nvPr/>
        </p:nvSpPr>
        <p:spPr>
          <a:xfrm>
            <a:off x="6446520" y="1737360"/>
            <a:ext cx="4937760" cy="365760"/>
          </a:xfrm>
          <a:prstGeom prst="rect">
            <a:avLst/>
          </a:prstGeom>
          <a:noFill/>
          <a:ln/>
        </p:spPr>
        <p:txBody>
          <a:bodyPr wrap="square" lIns="0" tIns="0" rIns="0" bIns="0" rtlCol="0" anchor="ctr"/>
          <a:lstStyle/>
          <a:p>
            <a:pPr marL="0" indent="0">
              <a:buNone/>
            </a:pPr>
            <a:r>
              <a:rPr lang="en-US" sz="1600" b="1" dirty="0">
                <a:solidFill>
                  <a:srgbClr val="0B5CAD"/>
                </a:solidFill>
                <a:latin typeface="Cambria" pitchFamily="34" charset="0"/>
                <a:ea typeface="Cambria" pitchFamily="34" charset="-122"/>
                <a:cs typeface="Cambria" pitchFamily="34" charset="-120"/>
              </a:rPr>
              <a:t>The deep-learning way: show examples</a:t>
            </a:r>
            <a:endParaRPr lang="en-US" sz="1600" dirty="0"/>
          </a:p>
        </p:txBody>
      </p:sp>
      <p:sp>
        <p:nvSpPr>
          <p:cNvPr id="10" name="Text 8"/>
          <p:cNvSpPr/>
          <p:nvPr/>
        </p:nvSpPr>
        <p:spPr>
          <a:xfrm>
            <a:off x="6446520" y="2240280"/>
            <a:ext cx="4937760" cy="1463040"/>
          </a:xfrm>
          <a:prstGeom prst="rect">
            <a:avLst/>
          </a:prstGeom>
          <a:noFill/>
          <a:ln/>
        </p:spPr>
        <p:txBody>
          <a:bodyPr wrap="square" lIns="0" tIns="0" rIns="0" bIns="0" rtlCol="0" anchor="ctr"/>
          <a:lstStyle/>
          <a:p>
            <a:pPr marL="0" indent="0">
              <a:buNone/>
            </a:pPr>
            <a:r>
              <a:rPr lang="en-US" sz="1400" dirty="0">
                <a:solidFill>
                  <a:srgbClr val="1A2733"/>
                </a:solidFill>
                <a:latin typeface="Calibri" pitchFamily="34" charset="0"/>
                <a:ea typeface="Calibri" pitchFamily="34" charset="-122"/>
                <a:cs typeface="Calibri" pitchFamily="34" charset="-120"/>
              </a:rPr>
              <a:t>Show the network thousands of labeled cat and dog photos and let it discover the patterns itself. Nobody writes “whiskers.” The network learns what matters from the data.</a:t>
            </a:r>
            <a:endParaRPr lang="en-US" sz="1400" dirty="0"/>
          </a:p>
        </p:txBody>
      </p:sp>
      <p:sp>
        <p:nvSpPr>
          <p:cNvPr id="11" name="Text 9"/>
          <p:cNvSpPr/>
          <p:nvPr/>
        </p:nvSpPr>
        <p:spPr>
          <a:xfrm>
            <a:off x="6446520" y="4846320"/>
            <a:ext cx="4937760" cy="548640"/>
          </a:xfrm>
          <a:prstGeom prst="rect">
            <a:avLst/>
          </a:prstGeom>
          <a:noFill/>
          <a:ln/>
        </p:spPr>
        <p:txBody>
          <a:bodyPr wrap="square" lIns="0" tIns="0" rIns="0" bIns="0" rtlCol="0" anchor="ctr"/>
          <a:lstStyle/>
          <a:p>
            <a:pPr marL="0" indent="0">
              <a:buNone/>
            </a:pPr>
            <a:r>
              <a:rPr lang="en-US" sz="1250" b="1" i="1" dirty="0">
                <a:solidFill>
                  <a:srgbClr val="0B5CAD"/>
                </a:solidFill>
                <a:latin typeface="Calibri" pitchFamily="34" charset="0"/>
                <a:ea typeface="Calibri" pitchFamily="34" charset="-122"/>
                <a:cs typeface="Calibri" pitchFamily="34" charset="-120"/>
              </a:rPr>
              <a:t>You provide examples + answers → the computer writes its own rules</a:t>
            </a:r>
            <a:endParaRPr lang="en-US" sz="1250" dirty="0"/>
          </a:p>
        </p:txBody>
      </p:sp>
      <p:sp>
        <p:nvSpPr>
          <p:cNvPr id="12" name="Text 10"/>
          <p:cNvSpPr/>
          <p:nvPr/>
        </p:nvSpPr>
        <p:spPr>
          <a:xfrm>
            <a:off x="548640" y="6473952"/>
            <a:ext cx="11091672" cy="274320"/>
          </a:xfrm>
          <a:prstGeom prst="rect">
            <a:avLst/>
          </a:prstGeom>
          <a:noFill/>
          <a:ln/>
        </p:spPr>
        <p:txBody>
          <a:bodyPr wrap="square" lIns="0" tIns="0" rIns="0" bIns="0" rtlCol="0" anchor="ctr"/>
          <a:lstStyle/>
          <a:p>
            <a:pPr marL="0" indent="0">
              <a:buNone/>
            </a:pPr>
            <a:r>
              <a:rPr lang="en-US" sz="900" dirty="0">
                <a:solidFill>
                  <a:srgbClr val="5B6470"/>
                </a:solidFill>
                <a:latin typeface="Calibri" pitchFamily="34" charset="0"/>
                <a:ea typeface="Calibri" pitchFamily="34" charset="-122"/>
                <a:cs typeface="Calibri" pitchFamily="34" charset="-120"/>
              </a:rPr>
              <a:t>Digital Communication &amp; Emerging Technologies · NCCU ISS 2026 · Day 2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292608"/>
            <a:ext cx="11091672" cy="658368"/>
          </a:xfrm>
          <a:prstGeom prst="rect">
            <a:avLst/>
          </a:prstGeom>
          <a:noFill/>
          <a:ln/>
        </p:spPr>
        <p:txBody>
          <a:bodyPr wrap="square" lIns="0" tIns="0" rIns="0" bIns="0" rtlCol="0" anchor="ctr"/>
          <a:lstStyle/>
          <a:p>
            <a:pPr marL="0" indent="0">
              <a:buNone/>
            </a:pPr>
            <a:r>
              <a:rPr lang="en-US" sz="3100" b="1" dirty="0">
                <a:solidFill>
                  <a:srgbClr val="1A2733"/>
                </a:solidFill>
                <a:latin typeface="Cambria" pitchFamily="34" charset="0"/>
                <a:ea typeface="Cambria" pitchFamily="34" charset="-122"/>
                <a:cs typeface="Cambria" pitchFamily="34" charset="-120"/>
              </a:rPr>
              <a:t>To a computer, an image is just numbers</a:t>
            </a:r>
            <a:endParaRPr lang="en-US" sz="3100" dirty="0"/>
          </a:p>
        </p:txBody>
      </p:sp>
      <p:sp>
        <p:nvSpPr>
          <p:cNvPr id="3" name="Text 1"/>
          <p:cNvSpPr/>
          <p:nvPr/>
        </p:nvSpPr>
        <p:spPr>
          <a:xfrm>
            <a:off x="548640" y="896112"/>
            <a:ext cx="11091672" cy="365760"/>
          </a:xfrm>
          <a:prstGeom prst="rect">
            <a:avLst/>
          </a:prstGeom>
          <a:noFill/>
          <a:ln/>
        </p:spPr>
        <p:txBody>
          <a:bodyPr wrap="square" lIns="0" tIns="0" rIns="0" bIns="0" rtlCol="0" anchor="ctr"/>
          <a:lstStyle/>
          <a:p>
            <a:pPr marL="0" indent="0">
              <a:buNone/>
            </a:pPr>
            <a:r>
              <a:rPr lang="en-US" sz="1500" i="1" dirty="0">
                <a:solidFill>
                  <a:srgbClr val="5B6470"/>
                </a:solidFill>
                <a:latin typeface="Calibri" pitchFamily="34" charset="0"/>
                <a:ea typeface="Calibri" pitchFamily="34" charset="-122"/>
                <a:cs typeface="Calibri" pitchFamily="34" charset="-120"/>
              </a:rPr>
              <a:t>A 28×28 grayscale image = 784 brightness values (0–255)</a:t>
            </a:r>
            <a:endParaRPr lang="en-US" sz="1500" dirty="0"/>
          </a:p>
        </p:txBody>
      </p:sp>
      <p:sp>
        <p:nvSpPr>
          <p:cNvPr id="4" name="Shape 2"/>
          <p:cNvSpPr/>
          <p:nvPr/>
        </p:nvSpPr>
        <p:spPr>
          <a:xfrm>
            <a:off x="822960" y="1737360"/>
            <a:ext cx="384048" cy="384048"/>
          </a:xfrm>
          <a:prstGeom prst="rect">
            <a:avLst/>
          </a:prstGeom>
          <a:solidFill>
            <a:srgbClr val="0F0F0F"/>
          </a:solidFill>
          <a:ln w="6350">
            <a:solidFill>
              <a:srgbClr val="CCCCCC"/>
            </a:solidFill>
            <a:prstDash val="solid"/>
          </a:ln>
        </p:spPr>
      </p:sp>
      <p:sp>
        <p:nvSpPr>
          <p:cNvPr id="5" name="Text 3"/>
          <p:cNvSpPr/>
          <p:nvPr/>
        </p:nvSpPr>
        <p:spPr>
          <a:xfrm>
            <a:off x="822960" y="1737360"/>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15</a:t>
            </a:r>
            <a:endParaRPr lang="en-US" sz="700" dirty="0"/>
          </a:p>
        </p:txBody>
      </p:sp>
      <p:sp>
        <p:nvSpPr>
          <p:cNvPr id="6" name="Shape 4"/>
          <p:cNvSpPr/>
          <p:nvPr/>
        </p:nvSpPr>
        <p:spPr>
          <a:xfrm>
            <a:off x="1207008" y="1737360"/>
            <a:ext cx="384048" cy="384048"/>
          </a:xfrm>
          <a:prstGeom prst="rect">
            <a:avLst/>
          </a:prstGeom>
          <a:solidFill>
            <a:srgbClr val="1E1E1E"/>
          </a:solidFill>
          <a:ln w="6350">
            <a:solidFill>
              <a:srgbClr val="CCCCCC"/>
            </a:solidFill>
            <a:prstDash val="solid"/>
          </a:ln>
        </p:spPr>
      </p:sp>
      <p:sp>
        <p:nvSpPr>
          <p:cNvPr id="7" name="Text 5"/>
          <p:cNvSpPr/>
          <p:nvPr/>
        </p:nvSpPr>
        <p:spPr>
          <a:xfrm>
            <a:off x="1207008" y="1737360"/>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30</a:t>
            </a:r>
            <a:endParaRPr lang="en-US" sz="700" dirty="0"/>
          </a:p>
        </p:txBody>
      </p:sp>
      <p:sp>
        <p:nvSpPr>
          <p:cNvPr id="8" name="Shape 6"/>
          <p:cNvSpPr/>
          <p:nvPr/>
        </p:nvSpPr>
        <p:spPr>
          <a:xfrm>
            <a:off x="1591056" y="1737360"/>
            <a:ext cx="384048" cy="384048"/>
          </a:xfrm>
          <a:prstGeom prst="rect">
            <a:avLst/>
          </a:prstGeom>
          <a:solidFill>
            <a:srgbClr val="3C3C3C"/>
          </a:solidFill>
          <a:ln w="6350">
            <a:solidFill>
              <a:srgbClr val="CCCCCC"/>
            </a:solidFill>
            <a:prstDash val="solid"/>
          </a:ln>
        </p:spPr>
      </p:sp>
      <p:sp>
        <p:nvSpPr>
          <p:cNvPr id="9" name="Text 7"/>
          <p:cNvSpPr/>
          <p:nvPr/>
        </p:nvSpPr>
        <p:spPr>
          <a:xfrm>
            <a:off x="1591056" y="1737360"/>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60</a:t>
            </a:r>
            <a:endParaRPr lang="en-US" sz="700" dirty="0"/>
          </a:p>
        </p:txBody>
      </p:sp>
      <p:sp>
        <p:nvSpPr>
          <p:cNvPr id="10" name="Shape 8"/>
          <p:cNvSpPr/>
          <p:nvPr/>
        </p:nvSpPr>
        <p:spPr>
          <a:xfrm>
            <a:off x="1975104" y="1737360"/>
            <a:ext cx="384048" cy="384048"/>
          </a:xfrm>
          <a:prstGeom prst="rect">
            <a:avLst/>
          </a:prstGeom>
          <a:solidFill>
            <a:srgbClr val="5A5A5A"/>
          </a:solidFill>
          <a:ln w="6350">
            <a:solidFill>
              <a:srgbClr val="CCCCCC"/>
            </a:solidFill>
            <a:prstDash val="solid"/>
          </a:ln>
        </p:spPr>
      </p:sp>
      <p:sp>
        <p:nvSpPr>
          <p:cNvPr id="11" name="Text 9"/>
          <p:cNvSpPr/>
          <p:nvPr/>
        </p:nvSpPr>
        <p:spPr>
          <a:xfrm>
            <a:off x="1975104" y="1737360"/>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90</a:t>
            </a:r>
            <a:endParaRPr lang="en-US" sz="700" dirty="0"/>
          </a:p>
        </p:txBody>
      </p:sp>
      <p:sp>
        <p:nvSpPr>
          <p:cNvPr id="12" name="Shape 10"/>
          <p:cNvSpPr/>
          <p:nvPr/>
        </p:nvSpPr>
        <p:spPr>
          <a:xfrm>
            <a:off x="2359152" y="1737360"/>
            <a:ext cx="384048" cy="384048"/>
          </a:xfrm>
          <a:prstGeom prst="rect">
            <a:avLst/>
          </a:prstGeom>
          <a:solidFill>
            <a:srgbClr val="3C3C3C"/>
          </a:solidFill>
          <a:ln w="6350">
            <a:solidFill>
              <a:srgbClr val="CCCCCC"/>
            </a:solidFill>
            <a:prstDash val="solid"/>
          </a:ln>
        </p:spPr>
      </p:sp>
      <p:sp>
        <p:nvSpPr>
          <p:cNvPr id="13" name="Text 11"/>
          <p:cNvSpPr/>
          <p:nvPr/>
        </p:nvSpPr>
        <p:spPr>
          <a:xfrm>
            <a:off x="2359152" y="1737360"/>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60</a:t>
            </a:r>
            <a:endParaRPr lang="en-US" sz="700" dirty="0"/>
          </a:p>
        </p:txBody>
      </p:sp>
      <p:sp>
        <p:nvSpPr>
          <p:cNvPr id="14" name="Shape 12"/>
          <p:cNvSpPr/>
          <p:nvPr/>
        </p:nvSpPr>
        <p:spPr>
          <a:xfrm>
            <a:off x="2743200" y="1737360"/>
            <a:ext cx="384048" cy="384048"/>
          </a:xfrm>
          <a:prstGeom prst="rect">
            <a:avLst/>
          </a:prstGeom>
          <a:solidFill>
            <a:srgbClr val="1E1E1E"/>
          </a:solidFill>
          <a:ln w="6350">
            <a:solidFill>
              <a:srgbClr val="CCCCCC"/>
            </a:solidFill>
            <a:prstDash val="solid"/>
          </a:ln>
        </p:spPr>
      </p:sp>
      <p:sp>
        <p:nvSpPr>
          <p:cNvPr id="15" name="Text 13"/>
          <p:cNvSpPr/>
          <p:nvPr/>
        </p:nvSpPr>
        <p:spPr>
          <a:xfrm>
            <a:off x="2743200" y="1737360"/>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30</a:t>
            </a:r>
            <a:endParaRPr lang="en-US" sz="700" dirty="0"/>
          </a:p>
        </p:txBody>
      </p:sp>
      <p:sp>
        <p:nvSpPr>
          <p:cNvPr id="16" name="Shape 14"/>
          <p:cNvSpPr/>
          <p:nvPr/>
        </p:nvSpPr>
        <p:spPr>
          <a:xfrm>
            <a:off x="3127248" y="1737360"/>
            <a:ext cx="384048" cy="384048"/>
          </a:xfrm>
          <a:prstGeom prst="rect">
            <a:avLst/>
          </a:prstGeom>
          <a:solidFill>
            <a:srgbClr val="0A0A0A"/>
          </a:solidFill>
          <a:ln w="6350">
            <a:solidFill>
              <a:srgbClr val="CCCCCC"/>
            </a:solidFill>
            <a:prstDash val="solid"/>
          </a:ln>
        </p:spPr>
      </p:sp>
      <p:sp>
        <p:nvSpPr>
          <p:cNvPr id="17" name="Text 15"/>
          <p:cNvSpPr/>
          <p:nvPr/>
        </p:nvSpPr>
        <p:spPr>
          <a:xfrm>
            <a:off x="3127248" y="1737360"/>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10</a:t>
            </a:r>
            <a:endParaRPr lang="en-US" sz="700" dirty="0"/>
          </a:p>
        </p:txBody>
      </p:sp>
      <p:sp>
        <p:nvSpPr>
          <p:cNvPr id="18" name="Shape 16"/>
          <p:cNvSpPr/>
          <p:nvPr/>
        </p:nvSpPr>
        <p:spPr>
          <a:xfrm>
            <a:off x="822960" y="2121408"/>
            <a:ext cx="384048" cy="384048"/>
          </a:xfrm>
          <a:prstGeom prst="rect">
            <a:avLst/>
          </a:prstGeom>
          <a:solidFill>
            <a:srgbClr val="141414"/>
          </a:solidFill>
          <a:ln w="6350">
            <a:solidFill>
              <a:srgbClr val="CCCCCC"/>
            </a:solidFill>
            <a:prstDash val="solid"/>
          </a:ln>
        </p:spPr>
      </p:sp>
      <p:sp>
        <p:nvSpPr>
          <p:cNvPr id="19" name="Text 17"/>
          <p:cNvSpPr/>
          <p:nvPr/>
        </p:nvSpPr>
        <p:spPr>
          <a:xfrm>
            <a:off x="822960" y="2121408"/>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20</a:t>
            </a:r>
            <a:endParaRPr lang="en-US" sz="700" dirty="0"/>
          </a:p>
        </p:txBody>
      </p:sp>
      <p:sp>
        <p:nvSpPr>
          <p:cNvPr id="20" name="Shape 18"/>
          <p:cNvSpPr/>
          <p:nvPr/>
        </p:nvSpPr>
        <p:spPr>
          <a:xfrm>
            <a:off x="1207008" y="2121408"/>
            <a:ext cx="384048" cy="384048"/>
          </a:xfrm>
          <a:prstGeom prst="rect">
            <a:avLst/>
          </a:prstGeom>
          <a:solidFill>
            <a:srgbClr val="505050"/>
          </a:solidFill>
          <a:ln w="6350">
            <a:solidFill>
              <a:srgbClr val="CCCCCC"/>
            </a:solidFill>
            <a:prstDash val="solid"/>
          </a:ln>
        </p:spPr>
      </p:sp>
      <p:sp>
        <p:nvSpPr>
          <p:cNvPr id="21" name="Text 19"/>
          <p:cNvSpPr/>
          <p:nvPr/>
        </p:nvSpPr>
        <p:spPr>
          <a:xfrm>
            <a:off x="1207008" y="2121408"/>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80</a:t>
            </a:r>
            <a:endParaRPr lang="en-US" sz="700" dirty="0"/>
          </a:p>
        </p:txBody>
      </p:sp>
      <p:sp>
        <p:nvSpPr>
          <p:cNvPr id="22" name="Shape 20"/>
          <p:cNvSpPr/>
          <p:nvPr/>
        </p:nvSpPr>
        <p:spPr>
          <a:xfrm>
            <a:off x="1591056" y="2121408"/>
            <a:ext cx="384048" cy="384048"/>
          </a:xfrm>
          <a:prstGeom prst="rect">
            <a:avLst/>
          </a:prstGeom>
          <a:solidFill>
            <a:srgbClr val="A0A0A0"/>
          </a:solidFill>
          <a:ln w="6350">
            <a:solidFill>
              <a:srgbClr val="CCCCCC"/>
            </a:solidFill>
            <a:prstDash val="solid"/>
          </a:ln>
        </p:spPr>
      </p:sp>
      <p:sp>
        <p:nvSpPr>
          <p:cNvPr id="23" name="Text 21"/>
          <p:cNvSpPr/>
          <p:nvPr/>
        </p:nvSpPr>
        <p:spPr>
          <a:xfrm>
            <a:off x="1591056" y="2121408"/>
            <a:ext cx="384048" cy="384048"/>
          </a:xfrm>
          <a:prstGeom prst="rect">
            <a:avLst/>
          </a:prstGeom>
          <a:noFill/>
          <a:ln/>
        </p:spPr>
        <p:txBody>
          <a:bodyPr wrap="square" lIns="0" tIns="0" rIns="0" bIns="0" rtlCol="0" anchor="ctr"/>
          <a:lstStyle/>
          <a:p>
            <a:pPr marL="0" indent="0" algn="ctr">
              <a:buNone/>
            </a:pPr>
            <a:r>
              <a:rPr lang="en-US" sz="700" dirty="0">
                <a:solidFill>
                  <a:srgbClr val="000000"/>
                </a:solidFill>
                <a:latin typeface="Calibri" pitchFamily="34" charset="0"/>
                <a:ea typeface="Calibri" pitchFamily="34" charset="-122"/>
                <a:cs typeface="Calibri" pitchFamily="34" charset="-120"/>
              </a:rPr>
              <a:t>160</a:t>
            </a:r>
            <a:endParaRPr lang="en-US" sz="700" dirty="0"/>
          </a:p>
        </p:txBody>
      </p:sp>
      <p:sp>
        <p:nvSpPr>
          <p:cNvPr id="24" name="Shape 22"/>
          <p:cNvSpPr/>
          <p:nvPr/>
        </p:nvSpPr>
        <p:spPr>
          <a:xfrm>
            <a:off x="1975104" y="2121408"/>
            <a:ext cx="384048" cy="384048"/>
          </a:xfrm>
          <a:prstGeom prst="rect">
            <a:avLst/>
          </a:prstGeom>
          <a:solidFill>
            <a:srgbClr val="C8C8C8"/>
          </a:solidFill>
          <a:ln w="6350">
            <a:solidFill>
              <a:srgbClr val="CCCCCC"/>
            </a:solidFill>
            <a:prstDash val="solid"/>
          </a:ln>
        </p:spPr>
      </p:sp>
      <p:sp>
        <p:nvSpPr>
          <p:cNvPr id="25" name="Text 23"/>
          <p:cNvSpPr/>
          <p:nvPr/>
        </p:nvSpPr>
        <p:spPr>
          <a:xfrm>
            <a:off x="1975104" y="2121408"/>
            <a:ext cx="384048" cy="384048"/>
          </a:xfrm>
          <a:prstGeom prst="rect">
            <a:avLst/>
          </a:prstGeom>
          <a:noFill/>
          <a:ln/>
        </p:spPr>
        <p:txBody>
          <a:bodyPr wrap="square" lIns="0" tIns="0" rIns="0" bIns="0" rtlCol="0" anchor="ctr"/>
          <a:lstStyle/>
          <a:p>
            <a:pPr marL="0" indent="0" algn="ctr">
              <a:buNone/>
            </a:pPr>
            <a:r>
              <a:rPr lang="en-US" sz="700" dirty="0">
                <a:solidFill>
                  <a:srgbClr val="000000"/>
                </a:solidFill>
                <a:latin typeface="Calibri" pitchFamily="34" charset="0"/>
                <a:ea typeface="Calibri" pitchFamily="34" charset="-122"/>
                <a:cs typeface="Calibri" pitchFamily="34" charset="-120"/>
              </a:rPr>
              <a:t>200</a:t>
            </a:r>
            <a:endParaRPr lang="en-US" sz="700" dirty="0"/>
          </a:p>
        </p:txBody>
      </p:sp>
      <p:sp>
        <p:nvSpPr>
          <p:cNvPr id="26" name="Shape 24"/>
          <p:cNvSpPr/>
          <p:nvPr/>
        </p:nvSpPr>
        <p:spPr>
          <a:xfrm>
            <a:off x="2359152" y="2121408"/>
            <a:ext cx="384048" cy="384048"/>
          </a:xfrm>
          <a:prstGeom prst="rect">
            <a:avLst/>
          </a:prstGeom>
          <a:solidFill>
            <a:srgbClr val="AAAAAA"/>
          </a:solidFill>
          <a:ln w="6350">
            <a:solidFill>
              <a:srgbClr val="CCCCCC"/>
            </a:solidFill>
            <a:prstDash val="solid"/>
          </a:ln>
        </p:spPr>
      </p:sp>
      <p:sp>
        <p:nvSpPr>
          <p:cNvPr id="27" name="Text 25"/>
          <p:cNvSpPr/>
          <p:nvPr/>
        </p:nvSpPr>
        <p:spPr>
          <a:xfrm>
            <a:off x="2359152" y="2121408"/>
            <a:ext cx="384048" cy="384048"/>
          </a:xfrm>
          <a:prstGeom prst="rect">
            <a:avLst/>
          </a:prstGeom>
          <a:noFill/>
          <a:ln/>
        </p:spPr>
        <p:txBody>
          <a:bodyPr wrap="square" lIns="0" tIns="0" rIns="0" bIns="0" rtlCol="0" anchor="ctr"/>
          <a:lstStyle/>
          <a:p>
            <a:pPr marL="0" indent="0" algn="ctr">
              <a:buNone/>
            </a:pPr>
            <a:r>
              <a:rPr lang="en-US" sz="700" dirty="0">
                <a:solidFill>
                  <a:srgbClr val="000000"/>
                </a:solidFill>
                <a:latin typeface="Calibri" pitchFamily="34" charset="0"/>
                <a:ea typeface="Calibri" pitchFamily="34" charset="-122"/>
                <a:cs typeface="Calibri" pitchFamily="34" charset="-120"/>
              </a:rPr>
              <a:t>170</a:t>
            </a:r>
            <a:endParaRPr lang="en-US" sz="700" dirty="0"/>
          </a:p>
        </p:txBody>
      </p:sp>
      <p:sp>
        <p:nvSpPr>
          <p:cNvPr id="28" name="Shape 26"/>
          <p:cNvSpPr/>
          <p:nvPr/>
        </p:nvSpPr>
        <p:spPr>
          <a:xfrm>
            <a:off x="2743200" y="2121408"/>
            <a:ext cx="384048" cy="384048"/>
          </a:xfrm>
          <a:prstGeom prst="rect">
            <a:avLst/>
          </a:prstGeom>
          <a:solidFill>
            <a:srgbClr val="5A5A5A"/>
          </a:solidFill>
          <a:ln w="6350">
            <a:solidFill>
              <a:srgbClr val="CCCCCC"/>
            </a:solidFill>
            <a:prstDash val="solid"/>
          </a:ln>
        </p:spPr>
      </p:sp>
      <p:sp>
        <p:nvSpPr>
          <p:cNvPr id="29" name="Text 27"/>
          <p:cNvSpPr/>
          <p:nvPr/>
        </p:nvSpPr>
        <p:spPr>
          <a:xfrm>
            <a:off x="2743200" y="2121408"/>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90</a:t>
            </a:r>
            <a:endParaRPr lang="en-US" sz="700" dirty="0"/>
          </a:p>
        </p:txBody>
      </p:sp>
      <p:sp>
        <p:nvSpPr>
          <p:cNvPr id="30" name="Shape 28"/>
          <p:cNvSpPr/>
          <p:nvPr/>
        </p:nvSpPr>
        <p:spPr>
          <a:xfrm>
            <a:off x="3127248" y="2121408"/>
            <a:ext cx="384048" cy="384048"/>
          </a:xfrm>
          <a:prstGeom prst="rect">
            <a:avLst/>
          </a:prstGeom>
          <a:solidFill>
            <a:srgbClr val="191919"/>
          </a:solidFill>
          <a:ln w="6350">
            <a:solidFill>
              <a:srgbClr val="CCCCCC"/>
            </a:solidFill>
            <a:prstDash val="solid"/>
          </a:ln>
        </p:spPr>
      </p:sp>
      <p:sp>
        <p:nvSpPr>
          <p:cNvPr id="31" name="Text 29"/>
          <p:cNvSpPr/>
          <p:nvPr/>
        </p:nvSpPr>
        <p:spPr>
          <a:xfrm>
            <a:off x="3127248" y="2121408"/>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25</a:t>
            </a:r>
            <a:endParaRPr lang="en-US" sz="700" dirty="0"/>
          </a:p>
        </p:txBody>
      </p:sp>
      <p:sp>
        <p:nvSpPr>
          <p:cNvPr id="32" name="Shape 30"/>
          <p:cNvSpPr/>
          <p:nvPr/>
        </p:nvSpPr>
        <p:spPr>
          <a:xfrm>
            <a:off x="822960" y="2505456"/>
            <a:ext cx="384048" cy="384048"/>
          </a:xfrm>
          <a:prstGeom prst="rect">
            <a:avLst/>
          </a:prstGeom>
          <a:solidFill>
            <a:srgbClr val="282828"/>
          </a:solidFill>
          <a:ln w="6350">
            <a:solidFill>
              <a:srgbClr val="CCCCCC"/>
            </a:solidFill>
            <a:prstDash val="solid"/>
          </a:ln>
        </p:spPr>
      </p:sp>
      <p:sp>
        <p:nvSpPr>
          <p:cNvPr id="33" name="Text 31"/>
          <p:cNvSpPr/>
          <p:nvPr/>
        </p:nvSpPr>
        <p:spPr>
          <a:xfrm>
            <a:off x="822960" y="2505456"/>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40</a:t>
            </a:r>
            <a:endParaRPr lang="en-US" sz="700" dirty="0"/>
          </a:p>
        </p:txBody>
      </p:sp>
      <p:sp>
        <p:nvSpPr>
          <p:cNvPr id="34" name="Shape 32"/>
          <p:cNvSpPr/>
          <p:nvPr/>
        </p:nvSpPr>
        <p:spPr>
          <a:xfrm>
            <a:off x="1207008" y="2505456"/>
            <a:ext cx="384048" cy="384048"/>
          </a:xfrm>
          <a:prstGeom prst="rect">
            <a:avLst/>
          </a:prstGeom>
          <a:solidFill>
            <a:srgbClr val="969696"/>
          </a:solidFill>
          <a:ln w="6350">
            <a:solidFill>
              <a:srgbClr val="CCCCCC"/>
            </a:solidFill>
            <a:prstDash val="solid"/>
          </a:ln>
        </p:spPr>
      </p:sp>
      <p:sp>
        <p:nvSpPr>
          <p:cNvPr id="35" name="Text 33"/>
          <p:cNvSpPr/>
          <p:nvPr/>
        </p:nvSpPr>
        <p:spPr>
          <a:xfrm>
            <a:off x="1207008" y="2505456"/>
            <a:ext cx="384048" cy="384048"/>
          </a:xfrm>
          <a:prstGeom prst="rect">
            <a:avLst/>
          </a:prstGeom>
          <a:noFill/>
          <a:ln/>
        </p:spPr>
        <p:txBody>
          <a:bodyPr wrap="square" lIns="0" tIns="0" rIns="0" bIns="0" rtlCol="0" anchor="ctr"/>
          <a:lstStyle/>
          <a:p>
            <a:pPr marL="0" indent="0" algn="ctr">
              <a:buNone/>
            </a:pPr>
            <a:r>
              <a:rPr lang="en-US" sz="700" dirty="0">
                <a:solidFill>
                  <a:srgbClr val="000000"/>
                </a:solidFill>
                <a:latin typeface="Calibri" pitchFamily="34" charset="0"/>
                <a:ea typeface="Calibri" pitchFamily="34" charset="-122"/>
                <a:cs typeface="Calibri" pitchFamily="34" charset="-120"/>
              </a:rPr>
              <a:t>150</a:t>
            </a:r>
            <a:endParaRPr lang="en-US" sz="700" dirty="0"/>
          </a:p>
        </p:txBody>
      </p:sp>
      <p:sp>
        <p:nvSpPr>
          <p:cNvPr id="36" name="Shape 34"/>
          <p:cNvSpPr/>
          <p:nvPr/>
        </p:nvSpPr>
        <p:spPr>
          <a:xfrm>
            <a:off x="1591056" y="2505456"/>
            <a:ext cx="384048" cy="384048"/>
          </a:xfrm>
          <a:prstGeom prst="rect">
            <a:avLst/>
          </a:prstGeom>
          <a:solidFill>
            <a:srgbClr val="F0F0F0"/>
          </a:solidFill>
          <a:ln w="6350">
            <a:solidFill>
              <a:srgbClr val="CCCCCC"/>
            </a:solidFill>
            <a:prstDash val="solid"/>
          </a:ln>
        </p:spPr>
      </p:sp>
      <p:sp>
        <p:nvSpPr>
          <p:cNvPr id="37" name="Text 35"/>
          <p:cNvSpPr/>
          <p:nvPr/>
        </p:nvSpPr>
        <p:spPr>
          <a:xfrm>
            <a:off x="1591056" y="2505456"/>
            <a:ext cx="384048" cy="384048"/>
          </a:xfrm>
          <a:prstGeom prst="rect">
            <a:avLst/>
          </a:prstGeom>
          <a:noFill/>
          <a:ln/>
        </p:spPr>
        <p:txBody>
          <a:bodyPr wrap="square" lIns="0" tIns="0" rIns="0" bIns="0" rtlCol="0" anchor="ctr"/>
          <a:lstStyle/>
          <a:p>
            <a:pPr marL="0" indent="0" algn="ctr">
              <a:buNone/>
            </a:pPr>
            <a:r>
              <a:rPr lang="en-US" sz="700" dirty="0">
                <a:solidFill>
                  <a:srgbClr val="000000"/>
                </a:solidFill>
                <a:latin typeface="Calibri" pitchFamily="34" charset="0"/>
                <a:ea typeface="Calibri" pitchFamily="34" charset="-122"/>
                <a:cs typeface="Calibri" pitchFamily="34" charset="-120"/>
              </a:rPr>
              <a:t>240</a:t>
            </a:r>
            <a:endParaRPr lang="en-US" sz="700" dirty="0"/>
          </a:p>
        </p:txBody>
      </p:sp>
      <p:sp>
        <p:nvSpPr>
          <p:cNvPr id="38" name="Shape 36"/>
          <p:cNvSpPr/>
          <p:nvPr/>
        </p:nvSpPr>
        <p:spPr>
          <a:xfrm>
            <a:off x="1975104" y="2505456"/>
            <a:ext cx="384048" cy="384048"/>
          </a:xfrm>
          <a:prstGeom prst="rect">
            <a:avLst/>
          </a:prstGeom>
          <a:solidFill>
            <a:srgbClr val="FFFFFF"/>
          </a:solidFill>
          <a:ln w="6350">
            <a:solidFill>
              <a:srgbClr val="CCCCCC"/>
            </a:solidFill>
            <a:prstDash val="solid"/>
          </a:ln>
        </p:spPr>
      </p:sp>
      <p:sp>
        <p:nvSpPr>
          <p:cNvPr id="39" name="Text 37"/>
          <p:cNvSpPr/>
          <p:nvPr/>
        </p:nvSpPr>
        <p:spPr>
          <a:xfrm>
            <a:off x="1975104" y="2505456"/>
            <a:ext cx="384048" cy="384048"/>
          </a:xfrm>
          <a:prstGeom prst="rect">
            <a:avLst/>
          </a:prstGeom>
          <a:noFill/>
          <a:ln/>
        </p:spPr>
        <p:txBody>
          <a:bodyPr wrap="square" lIns="0" tIns="0" rIns="0" bIns="0" rtlCol="0" anchor="ctr"/>
          <a:lstStyle/>
          <a:p>
            <a:pPr marL="0" indent="0" algn="ctr">
              <a:buNone/>
            </a:pPr>
            <a:r>
              <a:rPr lang="en-US" sz="700" dirty="0">
                <a:solidFill>
                  <a:srgbClr val="000000"/>
                </a:solidFill>
                <a:latin typeface="Calibri" pitchFamily="34" charset="0"/>
                <a:ea typeface="Calibri" pitchFamily="34" charset="-122"/>
                <a:cs typeface="Calibri" pitchFamily="34" charset="-120"/>
              </a:rPr>
              <a:t>255</a:t>
            </a:r>
            <a:endParaRPr lang="en-US" sz="700" dirty="0"/>
          </a:p>
        </p:txBody>
      </p:sp>
      <p:sp>
        <p:nvSpPr>
          <p:cNvPr id="40" name="Shape 38"/>
          <p:cNvSpPr/>
          <p:nvPr/>
        </p:nvSpPr>
        <p:spPr>
          <a:xfrm>
            <a:off x="2359152" y="2505456"/>
            <a:ext cx="384048" cy="384048"/>
          </a:xfrm>
          <a:prstGeom prst="rect">
            <a:avLst/>
          </a:prstGeom>
          <a:solidFill>
            <a:srgbClr val="F0F0F0"/>
          </a:solidFill>
          <a:ln w="6350">
            <a:solidFill>
              <a:srgbClr val="CCCCCC"/>
            </a:solidFill>
            <a:prstDash val="solid"/>
          </a:ln>
        </p:spPr>
      </p:sp>
      <p:sp>
        <p:nvSpPr>
          <p:cNvPr id="41" name="Text 39"/>
          <p:cNvSpPr/>
          <p:nvPr/>
        </p:nvSpPr>
        <p:spPr>
          <a:xfrm>
            <a:off x="2359152" y="2505456"/>
            <a:ext cx="384048" cy="384048"/>
          </a:xfrm>
          <a:prstGeom prst="rect">
            <a:avLst/>
          </a:prstGeom>
          <a:noFill/>
          <a:ln/>
        </p:spPr>
        <p:txBody>
          <a:bodyPr wrap="square" lIns="0" tIns="0" rIns="0" bIns="0" rtlCol="0" anchor="ctr"/>
          <a:lstStyle/>
          <a:p>
            <a:pPr marL="0" indent="0" algn="ctr">
              <a:buNone/>
            </a:pPr>
            <a:r>
              <a:rPr lang="en-US" sz="700" dirty="0">
                <a:solidFill>
                  <a:srgbClr val="000000"/>
                </a:solidFill>
                <a:latin typeface="Calibri" pitchFamily="34" charset="0"/>
                <a:ea typeface="Calibri" pitchFamily="34" charset="-122"/>
                <a:cs typeface="Calibri" pitchFamily="34" charset="-120"/>
              </a:rPr>
              <a:t>240</a:t>
            </a:r>
            <a:endParaRPr lang="en-US" sz="700" dirty="0"/>
          </a:p>
        </p:txBody>
      </p:sp>
      <p:sp>
        <p:nvSpPr>
          <p:cNvPr id="42" name="Shape 40"/>
          <p:cNvSpPr/>
          <p:nvPr/>
        </p:nvSpPr>
        <p:spPr>
          <a:xfrm>
            <a:off x="2743200" y="2505456"/>
            <a:ext cx="384048" cy="384048"/>
          </a:xfrm>
          <a:prstGeom prst="rect">
            <a:avLst/>
          </a:prstGeom>
          <a:solidFill>
            <a:srgbClr val="969696"/>
          </a:solidFill>
          <a:ln w="6350">
            <a:solidFill>
              <a:srgbClr val="CCCCCC"/>
            </a:solidFill>
            <a:prstDash val="solid"/>
          </a:ln>
        </p:spPr>
      </p:sp>
      <p:sp>
        <p:nvSpPr>
          <p:cNvPr id="43" name="Text 41"/>
          <p:cNvSpPr/>
          <p:nvPr/>
        </p:nvSpPr>
        <p:spPr>
          <a:xfrm>
            <a:off x="2743200" y="2505456"/>
            <a:ext cx="384048" cy="384048"/>
          </a:xfrm>
          <a:prstGeom prst="rect">
            <a:avLst/>
          </a:prstGeom>
          <a:noFill/>
          <a:ln/>
        </p:spPr>
        <p:txBody>
          <a:bodyPr wrap="square" lIns="0" tIns="0" rIns="0" bIns="0" rtlCol="0" anchor="ctr"/>
          <a:lstStyle/>
          <a:p>
            <a:pPr marL="0" indent="0" algn="ctr">
              <a:buNone/>
            </a:pPr>
            <a:r>
              <a:rPr lang="en-US" sz="700" dirty="0">
                <a:solidFill>
                  <a:srgbClr val="000000"/>
                </a:solidFill>
                <a:latin typeface="Calibri" pitchFamily="34" charset="0"/>
                <a:ea typeface="Calibri" pitchFamily="34" charset="-122"/>
                <a:cs typeface="Calibri" pitchFamily="34" charset="-120"/>
              </a:rPr>
              <a:t>150</a:t>
            </a:r>
            <a:endParaRPr lang="en-US" sz="700" dirty="0"/>
          </a:p>
        </p:txBody>
      </p:sp>
      <p:sp>
        <p:nvSpPr>
          <p:cNvPr id="44" name="Shape 42"/>
          <p:cNvSpPr/>
          <p:nvPr/>
        </p:nvSpPr>
        <p:spPr>
          <a:xfrm>
            <a:off x="3127248" y="2505456"/>
            <a:ext cx="384048" cy="384048"/>
          </a:xfrm>
          <a:prstGeom prst="rect">
            <a:avLst/>
          </a:prstGeom>
          <a:solidFill>
            <a:srgbClr val="2D2D2D"/>
          </a:solidFill>
          <a:ln w="6350">
            <a:solidFill>
              <a:srgbClr val="CCCCCC"/>
            </a:solidFill>
            <a:prstDash val="solid"/>
          </a:ln>
        </p:spPr>
      </p:sp>
      <p:sp>
        <p:nvSpPr>
          <p:cNvPr id="45" name="Text 43"/>
          <p:cNvSpPr/>
          <p:nvPr/>
        </p:nvSpPr>
        <p:spPr>
          <a:xfrm>
            <a:off x="3127248" y="2505456"/>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45</a:t>
            </a:r>
            <a:endParaRPr lang="en-US" sz="700" dirty="0"/>
          </a:p>
        </p:txBody>
      </p:sp>
      <p:sp>
        <p:nvSpPr>
          <p:cNvPr id="46" name="Shape 44"/>
          <p:cNvSpPr/>
          <p:nvPr/>
        </p:nvSpPr>
        <p:spPr>
          <a:xfrm>
            <a:off x="822960" y="2889504"/>
            <a:ext cx="384048" cy="384048"/>
          </a:xfrm>
          <a:prstGeom prst="rect">
            <a:avLst/>
          </a:prstGeom>
          <a:solidFill>
            <a:srgbClr val="1E1E1E"/>
          </a:solidFill>
          <a:ln w="6350">
            <a:solidFill>
              <a:srgbClr val="CCCCCC"/>
            </a:solidFill>
            <a:prstDash val="solid"/>
          </a:ln>
        </p:spPr>
      </p:sp>
      <p:sp>
        <p:nvSpPr>
          <p:cNvPr id="47" name="Text 45"/>
          <p:cNvSpPr/>
          <p:nvPr/>
        </p:nvSpPr>
        <p:spPr>
          <a:xfrm>
            <a:off x="822960" y="2889504"/>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30</a:t>
            </a:r>
            <a:endParaRPr lang="en-US" sz="700" dirty="0"/>
          </a:p>
        </p:txBody>
      </p:sp>
      <p:sp>
        <p:nvSpPr>
          <p:cNvPr id="48" name="Shape 46"/>
          <p:cNvSpPr/>
          <p:nvPr/>
        </p:nvSpPr>
        <p:spPr>
          <a:xfrm>
            <a:off x="1207008" y="2889504"/>
            <a:ext cx="384048" cy="384048"/>
          </a:xfrm>
          <a:prstGeom prst="rect">
            <a:avLst/>
          </a:prstGeom>
          <a:solidFill>
            <a:srgbClr val="787878"/>
          </a:solidFill>
          <a:ln w="6350">
            <a:solidFill>
              <a:srgbClr val="CCCCCC"/>
            </a:solidFill>
            <a:prstDash val="solid"/>
          </a:ln>
        </p:spPr>
      </p:sp>
      <p:sp>
        <p:nvSpPr>
          <p:cNvPr id="49" name="Text 47"/>
          <p:cNvSpPr/>
          <p:nvPr/>
        </p:nvSpPr>
        <p:spPr>
          <a:xfrm>
            <a:off x="1207008" y="2889504"/>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120</a:t>
            </a:r>
            <a:endParaRPr lang="en-US" sz="700" dirty="0"/>
          </a:p>
        </p:txBody>
      </p:sp>
      <p:sp>
        <p:nvSpPr>
          <p:cNvPr id="50" name="Shape 48"/>
          <p:cNvSpPr/>
          <p:nvPr/>
        </p:nvSpPr>
        <p:spPr>
          <a:xfrm>
            <a:off x="1591056" y="2889504"/>
            <a:ext cx="384048" cy="384048"/>
          </a:xfrm>
          <a:prstGeom prst="rect">
            <a:avLst/>
          </a:prstGeom>
          <a:solidFill>
            <a:srgbClr val="DCDCDC"/>
          </a:solidFill>
          <a:ln w="6350">
            <a:solidFill>
              <a:srgbClr val="CCCCCC"/>
            </a:solidFill>
            <a:prstDash val="solid"/>
          </a:ln>
        </p:spPr>
      </p:sp>
      <p:sp>
        <p:nvSpPr>
          <p:cNvPr id="51" name="Text 49"/>
          <p:cNvSpPr/>
          <p:nvPr/>
        </p:nvSpPr>
        <p:spPr>
          <a:xfrm>
            <a:off x="1591056" y="2889504"/>
            <a:ext cx="384048" cy="384048"/>
          </a:xfrm>
          <a:prstGeom prst="rect">
            <a:avLst/>
          </a:prstGeom>
          <a:noFill/>
          <a:ln/>
        </p:spPr>
        <p:txBody>
          <a:bodyPr wrap="square" lIns="0" tIns="0" rIns="0" bIns="0" rtlCol="0" anchor="ctr"/>
          <a:lstStyle/>
          <a:p>
            <a:pPr marL="0" indent="0" algn="ctr">
              <a:buNone/>
            </a:pPr>
            <a:r>
              <a:rPr lang="en-US" sz="700" dirty="0">
                <a:solidFill>
                  <a:srgbClr val="000000"/>
                </a:solidFill>
                <a:latin typeface="Calibri" pitchFamily="34" charset="0"/>
                <a:ea typeface="Calibri" pitchFamily="34" charset="-122"/>
                <a:cs typeface="Calibri" pitchFamily="34" charset="-120"/>
              </a:rPr>
              <a:t>220</a:t>
            </a:r>
            <a:endParaRPr lang="en-US" sz="700" dirty="0"/>
          </a:p>
        </p:txBody>
      </p:sp>
      <p:sp>
        <p:nvSpPr>
          <p:cNvPr id="52" name="Shape 50"/>
          <p:cNvSpPr/>
          <p:nvPr/>
        </p:nvSpPr>
        <p:spPr>
          <a:xfrm>
            <a:off x="1975104" y="2889504"/>
            <a:ext cx="384048" cy="384048"/>
          </a:xfrm>
          <a:prstGeom prst="rect">
            <a:avLst/>
          </a:prstGeom>
          <a:solidFill>
            <a:srgbClr val="FAFAFA"/>
          </a:solidFill>
          <a:ln w="6350">
            <a:solidFill>
              <a:srgbClr val="CCCCCC"/>
            </a:solidFill>
            <a:prstDash val="solid"/>
          </a:ln>
        </p:spPr>
      </p:sp>
      <p:sp>
        <p:nvSpPr>
          <p:cNvPr id="53" name="Text 51"/>
          <p:cNvSpPr/>
          <p:nvPr/>
        </p:nvSpPr>
        <p:spPr>
          <a:xfrm>
            <a:off x="1975104" y="2889504"/>
            <a:ext cx="384048" cy="384048"/>
          </a:xfrm>
          <a:prstGeom prst="rect">
            <a:avLst/>
          </a:prstGeom>
          <a:noFill/>
          <a:ln/>
        </p:spPr>
        <p:txBody>
          <a:bodyPr wrap="square" lIns="0" tIns="0" rIns="0" bIns="0" rtlCol="0" anchor="ctr"/>
          <a:lstStyle/>
          <a:p>
            <a:pPr marL="0" indent="0" algn="ctr">
              <a:buNone/>
            </a:pPr>
            <a:r>
              <a:rPr lang="en-US" sz="700" dirty="0">
                <a:solidFill>
                  <a:srgbClr val="000000"/>
                </a:solidFill>
                <a:latin typeface="Calibri" pitchFamily="34" charset="0"/>
                <a:ea typeface="Calibri" pitchFamily="34" charset="-122"/>
                <a:cs typeface="Calibri" pitchFamily="34" charset="-120"/>
              </a:rPr>
              <a:t>250</a:t>
            </a:r>
            <a:endParaRPr lang="en-US" sz="700" dirty="0"/>
          </a:p>
        </p:txBody>
      </p:sp>
      <p:sp>
        <p:nvSpPr>
          <p:cNvPr id="54" name="Shape 52"/>
          <p:cNvSpPr/>
          <p:nvPr/>
        </p:nvSpPr>
        <p:spPr>
          <a:xfrm>
            <a:off x="2359152" y="2889504"/>
            <a:ext cx="384048" cy="384048"/>
          </a:xfrm>
          <a:prstGeom prst="rect">
            <a:avLst/>
          </a:prstGeom>
          <a:solidFill>
            <a:srgbClr val="DCDCDC"/>
          </a:solidFill>
          <a:ln w="6350">
            <a:solidFill>
              <a:srgbClr val="CCCCCC"/>
            </a:solidFill>
            <a:prstDash val="solid"/>
          </a:ln>
        </p:spPr>
      </p:sp>
      <p:sp>
        <p:nvSpPr>
          <p:cNvPr id="55" name="Text 53"/>
          <p:cNvSpPr/>
          <p:nvPr/>
        </p:nvSpPr>
        <p:spPr>
          <a:xfrm>
            <a:off x="2359152" y="2889504"/>
            <a:ext cx="384048" cy="384048"/>
          </a:xfrm>
          <a:prstGeom prst="rect">
            <a:avLst/>
          </a:prstGeom>
          <a:noFill/>
          <a:ln/>
        </p:spPr>
        <p:txBody>
          <a:bodyPr wrap="square" lIns="0" tIns="0" rIns="0" bIns="0" rtlCol="0" anchor="ctr"/>
          <a:lstStyle/>
          <a:p>
            <a:pPr marL="0" indent="0" algn="ctr">
              <a:buNone/>
            </a:pPr>
            <a:r>
              <a:rPr lang="en-US" sz="700" dirty="0">
                <a:solidFill>
                  <a:srgbClr val="000000"/>
                </a:solidFill>
                <a:latin typeface="Calibri" pitchFamily="34" charset="0"/>
                <a:ea typeface="Calibri" pitchFamily="34" charset="-122"/>
                <a:cs typeface="Calibri" pitchFamily="34" charset="-120"/>
              </a:rPr>
              <a:t>220</a:t>
            </a:r>
            <a:endParaRPr lang="en-US" sz="700" dirty="0"/>
          </a:p>
        </p:txBody>
      </p:sp>
      <p:sp>
        <p:nvSpPr>
          <p:cNvPr id="56" name="Shape 54"/>
          <p:cNvSpPr/>
          <p:nvPr/>
        </p:nvSpPr>
        <p:spPr>
          <a:xfrm>
            <a:off x="2743200" y="2889504"/>
            <a:ext cx="384048" cy="384048"/>
          </a:xfrm>
          <a:prstGeom prst="rect">
            <a:avLst/>
          </a:prstGeom>
          <a:solidFill>
            <a:srgbClr val="787878"/>
          </a:solidFill>
          <a:ln w="6350">
            <a:solidFill>
              <a:srgbClr val="CCCCCC"/>
            </a:solidFill>
            <a:prstDash val="solid"/>
          </a:ln>
        </p:spPr>
      </p:sp>
      <p:sp>
        <p:nvSpPr>
          <p:cNvPr id="57" name="Text 55"/>
          <p:cNvSpPr/>
          <p:nvPr/>
        </p:nvSpPr>
        <p:spPr>
          <a:xfrm>
            <a:off x="2743200" y="2889504"/>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120</a:t>
            </a:r>
            <a:endParaRPr lang="en-US" sz="700" dirty="0"/>
          </a:p>
        </p:txBody>
      </p:sp>
      <p:sp>
        <p:nvSpPr>
          <p:cNvPr id="58" name="Shape 56"/>
          <p:cNvSpPr/>
          <p:nvPr/>
        </p:nvSpPr>
        <p:spPr>
          <a:xfrm>
            <a:off x="3127248" y="2889504"/>
            <a:ext cx="384048" cy="384048"/>
          </a:xfrm>
          <a:prstGeom prst="rect">
            <a:avLst/>
          </a:prstGeom>
          <a:solidFill>
            <a:srgbClr val="232323"/>
          </a:solidFill>
          <a:ln w="6350">
            <a:solidFill>
              <a:srgbClr val="CCCCCC"/>
            </a:solidFill>
            <a:prstDash val="solid"/>
          </a:ln>
        </p:spPr>
      </p:sp>
      <p:sp>
        <p:nvSpPr>
          <p:cNvPr id="59" name="Text 57"/>
          <p:cNvSpPr/>
          <p:nvPr/>
        </p:nvSpPr>
        <p:spPr>
          <a:xfrm>
            <a:off x="3127248" y="2889504"/>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35</a:t>
            </a:r>
            <a:endParaRPr lang="en-US" sz="700" dirty="0"/>
          </a:p>
        </p:txBody>
      </p:sp>
      <p:sp>
        <p:nvSpPr>
          <p:cNvPr id="60" name="Shape 58"/>
          <p:cNvSpPr/>
          <p:nvPr/>
        </p:nvSpPr>
        <p:spPr>
          <a:xfrm>
            <a:off x="822960" y="3273552"/>
            <a:ext cx="384048" cy="384048"/>
          </a:xfrm>
          <a:prstGeom prst="rect">
            <a:avLst/>
          </a:prstGeom>
          <a:solidFill>
            <a:srgbClr val="141414"/>
          </a:solidFill>
          <a:ln w="6350">
            <a:solidFill>
              <a:srgbClr val="CCCCCC"/>
            </a:solidFill>
            <a:prstDash val="solid"/>
          </a:ln>
        </p:spPr>
      </p:sp>
      <p:sp>
        <p:nvSpPr>
          <p:cNvPr id="61" name="Text 59"/>
          <p:cNvSpPr/>
          <p:nvPr/>
        </p:nvSpPr>
        <p:spPr>
          <a:xfrm>
            <a:off x="822960" y="3273552"/>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20</a:t>
            </a:r>
            <a:endParaRPr lang="en-US" sz="700" dirty="0"/>
          </a:p>
        </p:txBody>
      </p:sp>
      <p:sp>
        <p:nvSpPr>
          <p:cNvPr id="62" name="Shape 60"/>
          <p:cNvSpPr/>
          <p:nvPr/>
        </p:nvSpPr>
        <p:spPr>
          <a:xfrm>
            <a:off x="1207008" y="3273552"/>
            <a:ext cx="384048" cy="384048"/>
          </a:xfrm>
          <a:prstGeom prst="rect">
            <a:avLst/>
          </a:prstGeom>
          <a:solidFill>
            <a:srgbClr val="464646"/>
          </a:solidFill>
          <a:ln w="6350">
            <a:solidFill>
              <a:srgbClr val="CCCCCC"/>
            </a:solidFill>
            <a:prstDash val="solid"/>
          </a:ln>
        </p:spPr>
      </p:sp>
      <p:sp>
        <p:nvSpPr>
          <p:cNvPr id="63" name="Text 61"/>
          <p:cNvSpPr/>
          <p:nvPr/>
        </p:nvSpPr>
        <p:spPr>
          <a:xfrm>
            <a:off x="1207008" y="3273552"/>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70</a:t>
            </a:r>
            <a:endParaRPr lang="en-US" sz="700" dirty="0"/>
          </a:p>
        </p:txBody>
      </p:sp>
      <p:sp>
        <p:nvSpPr>
          <p:cNvPr id="64" name="Shape 62"/>
          <p:cNvSpPr/>
          <p:nvPr/>
        </p:nvSpPr>
        <p:spPr>
          <a:xfrm>
            <a:off x="1591056" y="3273552"/>
            <a:ext cx="384048" cy="384048"/>
          </a:xfrm>
          <a:prstGeom prst="rect">
            <a:avLst/>
          </a:prstGeom>
          <a:solidFill>
            <a:srgbClr val="969696"/>
          </a:solidFill>
          <a:ln w="6350">
            <a:solidFill>
              <a:srgbClr val="CCCCCC"/>
            </a:solidFill>
            <a:prstDash val="solid"/>
          </a:ln>
        </p:spPr>
      </p:sp>
      <p:sp>
        <p:nvSpPr>
          <p:cNvPr id="65" name="Text 63"/>
          <p:cNvSpPr/>
          <p:nvPr/>
        </p:nvSpPr>
        <p:spPr>
          <a:xfrm>
            <a:off x="1591056" y="3273552"/>
            <a:ext cx="384048" cy="384048"/>
          </a:xfrm>
          <a:prstGeom prst="rect">
            <a:avLst/>
          </a:prstGeom>
          <a:noFill/>
          <a:ln/>
        </p:spPr>
        <p:txBody>
          <a:bodyPr wrap="square" lIns="0" tIns="0" rIns="0" bIns="0" rtlCol="0" anchor="ctr"/>
          <a:lstStyle/>
          <a:p>
            <a:pPr marL="0" indent="0" algn="ctr">
              <a:buNone/>
            </a:pPr>
            <a:r>
              <a:rPr lang="en-US" sz="700" dirty="0">
                <a:solidFill>
                  <a:srgbClr val="000000"/>
                </a:solidFill>
                <a:latin typeface="Calibri" pitchFamily="34" charset="0"/>
                <a:ea typeface="Calibri" pitchFamily="34" charset="-122"/>
                <a:cs typeface="Calibri" pitchFamily="34" charset="-120"/>
              </a:rPr>
              <a:t>150</a:t>
            </a:r>
            <a:endParaRPr lang="en-US" sz="700" dirty="0"/>
          </a:p>
        </p:txBody>
      </p:sp>
      <p:sp>
        <p:nvSpPr>
          <p:cNvPr id="66" name="Shape 64"/>
          <p:cNvSpPr/>
          <p:nvPr/>
        </p:nvSpPr>
        <p:spPr>
          <a:xfrm>
            <a:off x="1975104" y="3273552"/>
            <a:ext cx="384048" cy="384048"/>
          </a:xfrm>
          <a:prstGeom prst="rect">
            <a:avLst/>
          </a:prstGeom>
          <a:solidFill>
            <a:srgbClr val="BEBEBE"/>
          </a:solidFill>
          <a:ln w="6350">
            <a:solidFill>
              <a:srgbClr val="CCCCCC"/>
            </a:solidFill>
            <a:prstDash val="solid"/>
          </a:ln>
        </p:spPr>
      </p:sp>
      <p:sp>
        <p:nvSpPr>
          <p:cNvPr id="67" name="Text 65"/>
          <p:cNvSpPr/>
          <p:nvPr/>
        </p:nvSpPr>
        <p:spPr>
          <a:xfrm>
            <a:off x="1975104" y="3273552"/>
            <a:ext cx="384048" cy="384048"/>
          </a:xfrm>
          <a:prstGeom prst="rect">
            <a:avLst/>
          </a:prstGeom>
          <a:noFill/>
          <a:ln/>
        </p:spPr>
        <p:txBody>
          <a:bodyPr wrap="square" lIns="0" tIns="0" rIns="0" bIns="0" rtlCol="0" anchor="ctr"/>
          <a:lstStyle/>
          <a:p>
            <a:pPr marL="0" indent="0" algn="ctr">
              <a:buNone/>
            </a:pPr>
            <a:r>
              <a:rPr lang="en-US" sz="700" dirty="0">
                <a:solidFill>
                  <a:srgbClr val="000000"/>
                </a:solidFill>
                <a:latin typeface="Calibri" pitchFamily="34" charset="0"/>
                <a:ea typeface="Calibri" pitchFamily="34" charset="-122"/>
                <a:cs typeface="Calibri" pitchFamily="34" charset="-120"/>
              </a:rPr>
              <a:t>190</a:t>
            </a:r>
            <a:endParaRPr lang="en-US" sz="700" dirty="0"/>
          </a:p>
        </p:txBody>
      </p:sp>
      <p:sp>
        <p:nvSpPr>
          <p:cNvPr id="68" name="Shape 66"/>
          <p:cNvSpPr/>
          <p:nvPr/>
        </p:nvSpPr>
        <p:spPr>
          <a:xfrm>
            <a:off x="2359152" y="3273552"/>
            <a:ext cx="384048" cy="384048"/>
          </a:xfrm>
          <a:prstGeom prst="rect">
            <a:avLst/>
          </a:prstGeom>
          <a:solidFill>
            <a:srgbClr val="969696"/>
          </a:solidFill>
          <a:ln w="6350">
            <a:solidFill>
              <a:srgbClr val="CCCCCC"/>
            </a:solidFill>
            <a:prstDash val="solid"/>
          </a:ln>
        </p:spPr>
      </p:sp>
      <p:sp>
        <p:nvSpPr>
          <p:cNvPr id="69" name="Text 67"/>
          <p:cNvSpPr/>
          <p:nvPr/>
        </p:nvSpPr>
        <p:spPr>
          <a:xfrm>
            <a:off x="2359152" y="3273552"/>
            <a:ext cx="384048" cy="384048"/>
          </a:xfrm>
          <a:prstGeom prst="rect">
            <a:avLst/>
          </a:prstGeom>
          <a:noFill/>
          <a:ln/>
        </p:spPr>
        <p:txBody>
          <a:bodyPr wrap="square" lIns="0" tIns="0" rIns="0" bIns="0" rtlCol="0" anchor="ctr"/>
          <a:lstStyle/>
          <a:p>
            <a:pPr marL="0" indent="0" algn="ctr">
              <a:buNone/>
            </a:pPr>
            <a:r>
              <a:rPr lang="en-US" sz="700" dirty="0">
                <a:solidFill>
                  <a:srgbClr val="000000"/>
                </a:solidFill>
                <a:latin typeface="Calibri" pitchFamily="34" charset="0"/>
                <a:ea typeface="Calibri" pitchFamily="34" charset="-122"/>
                <a:cs typeface="Calibri" pitchFamily="34" charset="-120"/>
              </a:rPr>
              <a:t>150</a:t>
            </a:r>
            <a:endParaRPr lang="en-US" sz="700" dirty="0"/>
          </a:p>
        </p:txBody>
      </p:sp>
      <p:sp>
        <p:nvSpPr>
          <p:cNvPr id="70" name="Shape 68"/>
          <p:cNvSpPr/>
          <p:nvPr/>
        </p:nvSpPr>
        <p:spPr>
          <a:xfrm>
            <a:off x="2743200" y="3273552"/>
            <a:ext cx="384048" cy="384048"/>
          </a:xfrm>
          <a:prstGeom prst="rect">
            <a:avLst/>
          </a:prstGeom>
          <a:solidFill>
            <a:srgbClr val="464646"/>
          </a:solidFill>
          <a:ln w="6350">
            <a:solidFill>
              <a:srgbClr val="CCCCCC"/>
            </a:solidFill>
            <a:prstDash val="solid"/>
          </a:ln>
        </p:spPr>
      </p:sp>
      <p:sp>
        <p:nvSpPr>
          <p:cNvPr id="71" name="Text 69"/>
          <p:cNvSpPr/>
          <p:nvPr/>
        </p:nvSpPr>
        <p:spPr>
          <a:xfrm>
            <a:off x="2743200" y="3273552"/>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70</a:t>
            </a:r>
            <a:endParaRPr lang="en-US" sz="700" dirty="0"/>
          </a:p>
        </p:txBody>
      </p:sp>
      <p:sp>
        <p:nvSpPr>
          <p:cNvPr id="72" name="Shape 70"/>
          <p:cNvSpPr/>
          <p:nvPr/>
        </p:nvSpPr>
        <p:spPr>
          <a:xfrm>
            <a:off x="3127248" y="3273552"/>
            <a:ext cx="384048" cy="384048"/>
          </a:xfrm>
          <a:prstGeom prst="rect">
            <a:avLst/>
          </a:prstGeom>
          <a:solidFill>
            <a:srgbClr val="141414"/>
          </a:solidFill>
          <a:ln w="6350">
            <a:solidFill>
              <a:srgbClr val="CCCCCC"/>
            </a:solidFill>
            <a:prstDash val="solid"/>
          </a:ln>
        </p:spPr>
      </p:sp>
      <p:sp>
        <p:nvSpPr>
          <p:cNvPr id="73" name="Text 71"/>
          <p:cNvSpPr/>
          <p:nvPr/>
        </p:nvSpPr>
        <p:spPr>
          <a:xfrm>
            <a:off x="3127248" y="3273552"/>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20</a:t>
            </a:r>
            <a:endParaRPr lang="en-US" sz="700" dirty="0"/>
          </a:p>
        </p:txBody>
      </p:sp>
      <p:sp>
        <p:nvSpPr>
          <p:cNvPr id="74" name="Shape 72"/>
          <p:cNvSpPr/>
          <p:nvPr/>
        </p:nvSpPr>
        <p:spPr>
          <a:xfrm>
            <a:off x="822960" y="3657600"/>
            <a:ext cx="384048" cy="384048"/>
          </a:xfrm>
          <a:prstGeom prst="rect">
            <a:avLst/>
          </a:prstGeom>
          <a:solidFill>
            <a:srgbClr val="0A0A0A"/>
          </a:solidFill>
          <a:ln w="6350">
            <a:solidFill>
              <a:srgbClr val="CCCCCC"/>
            </a:solidFill>
            <a:prstDash val="solid"/>
          </a:ln>
        </p:spPr>
      </p:sp>
      <p:sp>
        <p:nvSpPr>
          <p:cNvPr id="75" name="Text 73"/>
          <p:cNvSpPr/>
          <p:nvPr/>
        </p:nvSpPr>
        <p:spPr>
          <a:xfrm>
            <a:off x="822960" y="3657600"/>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10</a:t>
            </a:r>
            <a:endParaRPr lang="en-US" sz="700" dirty="0"/>
          </a:p>
        </p:txBody>
      </p:sp>
      <p:sp>
        <p:nvSpPr>
          <p:cNvPr id="76" name="Shape 74"/>
          <p:cNvSpPr/>
          <p:nvPr/>
        </p:nvSpPr>
        <p:spPr>
          <a:xfrm>
            <a:off x="1207008" y="3657600"/>
            <a:ext cx="384048" cy="384048"/>
          </a:xfrm>
          <a:prstGeom prst="rect">
            <a:avLst/>
          </a:prstGeom>
          <a:solidFill>
            <a:srgbClr val="1E1E1E"/>
          </a:solidFill>
          <a:ln w="6350">
            <a:solidFill>
              <a:srgbClr val="CCCCCC"/>
            </a:solidFill>
            <a:prstDash val="solid"/>
          </a:ln>
        </p:spPr>
      </p:sp>
      <p:sp>
        <p:nvSpPr>
          <p:cNvPr id="77" name="Text 75"/>
          <p:cNvSpPr/>
          <p:nvPr/>
        </p:nvSpPr>
        <p:spPr>
          <a:xfrm>
            <a:off x="1207008" y="3657600"/>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30</a:t>
            </a:r>
            <a:endParaRPr lang="en-US" sz="700" dirty="0"/>
          </a:p>
        </p:txBody>
      </p:sp>
      <p:sp>
        <p:nvSpPr>
          <p:cNvPr id="78" name="Shape 76"/>
          <p:cNvSpPr/>
          <p:nvPr/>
        </p:nvSpPr>
        <p:spPr>
          <a:xfrm>
            <a:off x="1591056" y="3657600"/>
            <a:ext cx="384048" cy="384048"/>
          </a:xfrm>
          <a:prstGeom prst="rect">
            <a:avLst/>
          </a:prstGeom>
          <a:solidFill>
            <a:srgbClr val="464646"/>
          </a:solidFill>
          <a:ln w="6350">
            <a:solidFill>
              <a:srgbClr val="CCCCCC"/>
            </a:solidFill>
            <a:prstDash val="solid"/>
          </a:ln>
        </p:spPr>
      </p:sp>
      <p:sp>
        <p:nvSpPr>
          <p:cNvPr id="79" name="Text 77"/>
          <p:cNvSpPr/>
          <p:nvPr/>
        </p:nvSpPr>
        <p:spPr>
          <a:xfrm>
            <a:off x="1591056" y="3657600"/>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70</a:t>
            </a:r>
            <a:endParaRPr lang="en-US" sz="700" dirty="0"/>
          </a:p>
        </p:txBody>
      </p:sp>
      <p:sp>
        <p:nvSpPr>
          <p:cNvPr id="80" name="Shape 78"/>
          <p:cNvSpPr/>
          <p:nvPr/>
        </p:nvSpPr>
        <p:spPr>
          <a:xfrm>
            <a:off x="1975104" y="3657600"/>
            <a:ext cx="384048" cy="384048"/>
          </a:xfrm>
          <a:prstGeom prst="rect">
            <a:avLst/>
          </a:prstGeom>
          <a:solidFill>
            <a:srgbClr val="646464"/>
          </a:solidFill>
          <a:ln w="6350">
            <a:solidFill>
              <a:srgbClr val="CCCCCC"/>
            </a:solidFill>
            <a:prstDash val="solid"/>
          </a:ln>
        </p:spPr>
      </p:sp>
      <p:sp>
        <p:nvSpPr>
          <p:cNvPr id="81" name="Text 79"/>
          <p:cNvSpPr/>
          <p:nvPr/>
        </p:nvSpPr>
        <p:spPr>
          <a:xfrm>
            <a:off x="1975104" y="3657600"/>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100</a:t>
            </a:r>
            <a:endParaRPr lang="en-US" sz="700" dirty="0"/>
          </a:p>
        </p:txBody>
      </p:sp>
      <p:sp>
        <p:nvSpPr>
          <p:cNvPr id="82" name="Shape 80"/>
          <p:cNvSpPr/>
          <p:nvPr/>
        </p:nvSpPr>
        <p:spPr>
          <a:xfrm>
            <a:off x="2359152" y="3657600"/>
            <a:ext cx="384048" cy="384048"/>
          </a:xfrm>
          <a:prstGeom prst="rect">
            <a:avLst/>
          </a:prstGeom>
          <a:solidFill>
            <a:srgbClr val="464646"/>
          </a:solidFill>
          <a:ln w="6350">
            <a:solidFill>
              <a:srgbClr val="CCCCCC"/>
            </a:solidFill>
            <a:prstDash val="solid"/>
          </a:ln>
        </p:spPr>
      </p:sp>
      <p:sp>
        <p:nvSpPr>
          <p:cNvPr id="83" name="Text 81"/>
          <p:cNvSpPr/>
          <p:nvPr/>
        </p:nvSpPr>
        <p:spPr>
          <a:xfrm>
            <a:off x="2359152" y="3657600"/>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70</a:t>
            </a:r>
            <a:endParaRPr lang="en-US" sz="700" dirty="0"/>
          </a:p>
        </p:txBody>
      </p:sp>
      <p:sp>
        <p:nvSpPr>
          <p:cNvPr id="84" name="Shape 82"/>
          <p:cNvSpPr/>
          <p:nvPr/>
        </p:nvSpPr>
        <p:spPr>
          <a:xfrm>
            <a:off x="2743200" y="3657600"/>
            <a:ext cx="384048" cy="384048"/>
          </a:xfrm>
          <a:prstGeom prst="rect">
            <a:avLst/>
          </a:prstGeom>
          <a:solidFill>
            <a:srgbClr val="1E1E1E"/>
          </a:solidFill>
          <a:ln w="6350">
            <a:solidFill>
              <a:srgbClr val="CCCCCC"/>
            </a:solidFill>
            <a:prstDash val="solid"/>
          </a:ln>
        </p:spPr>
      </p:sp>
      <p:sp>
        <p:nvSpPr>
          <p:cNvPr id="85" name="Text 83"/>
          <p:cNvSpPr/>
          <p:nvPr/>
        </p:nvSpPr>
        <p:spPr>
          <a:xfrm>
            <a:off x="2743200" y="3657600"/>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30</a:t>
            </a:r>
            <a:endParaRPr lang="en-US" sz="700" dirty="0"/>
          </a:p>
        </p:txBody>
      </p:sp>
      <p:sp>
        <p:nvSpPr>
          <p:cNvPr id="86" name="Shape 84"/>
          <p:cNvSpPr/>
          <p:nvPr/>
        </p:nvSpPr>
        <p:spPr>
          <a:xfrm>
            <a:off x="3127248" y="3657600"/>
            <a:ext cx="384048" cy="384048"/>
          </a:xfrm>
          <a:prstGeom prst="rect">
            <a:avLst/>
          </a:prstGeom>
          <a:solidFill>
            <a:srgbClr val="0A0A0A"/>
          </a:solidFill>
          <a:ln w="6350">
            <a:solidFill>
              <a:srgbClr val="CCCCCC"/>
            </a:solidFill>
            <a:prstDash val="solid"/>
          </a:ln>
        </p:spPr>
      </p:sp>
      <p:sp>
        <p:nvSpPr>
          <p:cNvPr id="87" name="Text 85"/>
          <p:cNvSpPr/>
          <p:nvPr/>
        </p:nvSpPr>
        <p:spPr>
          <a:xfrm>
            <a:off x="3127248" y="3657600"/>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10</a:t>
            </a:r>
            <a:endParaRPr lang="en-US" sz="700" dirty="0"/>
          </a:p>
        </p:txBody>
      </p:sp>
      <p:sp>
        <p:nvSpPr>
          <p:cNvPr id="88" name="Shape 86"/>
          <p:cNvSpPr/>
          <p:nvPr/>
        </p:nvSpPr>
        <p:spPr>
          <a:xfrm>
            <a:off x="822960" y="4041648"/>
            <a:ext cx="384048" cy="384048"/>
          </a:xfrm>
          <a:prstGeom prst="rect">
            <a:avLst/>
          </a:prstGeom>
          <a:solidFill>
            <a:srgbClr val="050505"/>
          </a:solidFill>
          <a:ln w="6350">
            <a:solidFill>
              <a:srgbClr val="CCCCCC"/>
            </a:solidFill>
            <a:prstDash val="solid"/>
          </a:ln>
        </p:spPr>
      </p:sp>
      <p:sp>
        <p:nvSpPr>
          <p:cNvPr id="89" name="Text 87"/>
          <p:cNvSpPr/>
          <p:nvPr/>
        </p:nvSpPr>
        <p:spPr>
          <a:xfrm>
            <a:off x="822960" y="4041648"/>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5</a:t>
            </a:r>
            <a:endParaRPr lang="en-US" sz="700" dirty="0"/>
          </a:p>
        </p:txBody>
      </p:sp>
      <p:sp>
        <p:nvSpPr>
          <p:cNvPr id="90" name="Shape 88"/>
          <p:cNvSpPr/>
          <p:nvPr/>
        </p:nvSpPr>
        <p:spPr>
          <a:xfrm>
            <a:off x="1207008" y="4041648"/>
            <a:ext cx="384048" cy="384048"/>
          </a:xfrm>
          <a:prstGeom prst="rect">
            <a:avLst/>
          </a:prstGeom>
          <a:solidFill>
            <a:srgbClr val="0C0C0C"/>
          </a:solidFill>
          <a:ln w="6350">
            <a:solidFill>
              <a:srgbClr val="CCCCCC"/>
            </a:solidFill>
            <a:prstDash val="solid"/>
          </a:ln>
        </p:spPr>
      </p:sp>
      <p:sp>
        <p:nvSpPr>
          <p:cNvPr id="91" name="Text 89"/>
          <p:cNvSpPr/>
          <p:nvPr/>
        </p:nvSpPr>
        <p:spPr>
          <a:xfrm>
            <a:off x="1207008" y="4041648"/>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12</a:t>
            </a:r>
            <a:endParaRPr lang="en-US" sz="700" dirty="0"/>
          </a:p>
        </p:txBody>
      </p:sp>
      <p:sp>
        <p:nvSpPr>
          <p:cNvPr id="92" name="Shape 90"/>
          <p:cNvSpPr/>
          <p:nvPr/>
        </p:nvSpPr>
        <p:spPr>
          <a:xfrm>
            <a:off x="1591056" y="4041648"/>
            <a:ext cx="384048" cy="384048"/>
          </a:xfrm>
          <a:prstGeom prst="rect">
            <a:avLst/>
          </a:prstGeom>
          <a:solidFill>
            <a:srgbClr val="191919"/>
          </a:solidFill>
          <a:ln w="6350">
            <a:solidFill>
              <a:srgbClr val="CCCCCC"/>
            </a:solidFill>
            <a:prstDash val="solid"/>
          </a:ln>
        </p:spPr>
      </p:sp>
      <p:sp>
        <p:nvSpPr>
          <p:cNvPr id="93" name="Text 91"/>
          <p:cNvSpPr/>
          <p:nvPr/>
        </p:nvSpPr>
        <p:spPr>
          <a:xfrm>
            <a:off x="1591056" y="4041648"/>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25</a:t>
            </a:r>
            <a:endParaRPr lang="en-US" sz="700" dirty="0"/>
          </a:p>
        </p:txBody>
      </p:sp>
      <p:sp>
        <p:nvSpPr>
          <p:cNvPr id="94" name="Shape 92"/>
          <p:cNvSpPr/>
          <p:nvPr/>
        </p:nvSpPr>
        <p:spPr>
          <a:xfrm>
            <a:off x="1975104" y="4041648"/>
            <a:ext cx="384048" cy="384048"/>
          </a:xfrm>
          <a:prstGeom prst="rect">
            <a:avLst/>
          </a:prstGeom>
          <a:solidFill>
            <a:srgbClr val="282828"/>
          </a:solidFill>
          <a:ln w="6350">
            <a:solidFill>
              <a:srgbClr val="CCCCCC"/>
            </a:solidFill>
            <a:prstDash val="solid"/>
          </a:ln>
        </p:spPr>
      </p:sp>
      <p:sp>
        <p:nvSpPr>
          <p:cNvPr id="95" name="Text 93"/>
          <p:cNvSpPr/>
          <p:nvPr/>
        </p:nvSpPr>
        <p:spPr>
          <a:xfrm>
            <a:off x="1975104" y="4041648"/>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40</a:t>
            </a:r>
            <a:endParaRPr lang="en-US" sz="700" dirty="0"/>
          </a:p>
        </p:txBody>
      </p:sp>
      <p:sp>
        <p:nvSpPr>
          <p:cNvPr id="96" name="Shape 94"/>
          <p:cNvSpPr/>
          <p:nvPr/>
        </p:nvSpPr>
        <p:spPr>
          <a:xfrm>
            <a:off x="2359152" y="4041648"/>
            <a:ext cx="384048" cy="384048"/>
          </a:xfrm>
          <a:prstGeom prst="rect">
            <a:avLst/>
          </a:prstGeom>
          <a:solidFill>
            <a:srgbClr val="191919"/>
          </a:solidFill>
          <a:ln w="6350">
            <a:solidFill>
              <a:srgbClr val="CCCCCC"/>
            </a:solidFill>
            <a:prstDash val="solid"/>
          </a:ln>
        </p:spPr>
      </p:sp>
      <p:sp>
        <p:nvSpPr>
          <p:cNvPr id="97" name="Text 95"/>
          <p:cNvSpPr/>
          <p:nvPr/>
        </p:nvSpPr>
        <p:spPr>
          <a:xfrm>
            <a:off x="2359152" y="4041648"/>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25</a:t>
            </a:r>
            <a:endParaRPr lang="en-US" sz="700" dirty="0"/>
          </a:p>
        </p:txBody>
      </p:sp>
      <p:sp>
        <p:nvSpPr>
          <p:cNvPr id="98" name="Shape 96"/>
          <p:cNvSpPr/>
          <p:nvPr/>
        </p:nvSpPr>
        <p:spPr>
          <a:xfrm>
            <a:off x="2743200" y="4041648"/>
            <a:ext cx="384048" cy="384048"/>
          </a:xfrm>
          <a:prstGeom prst="rect">
            <a:avLst/>
          </a:prstGeom>
          <a:solidFill>
            <a:srgbClr val="0C0C0C"/>
          </a:solidFill>
          <a:ln w="6350">
            <a:solidFill>
              <a:srgbClr val="CCCCCC"/>
            </a:solidFill>
            <a:prstDash val="solid"/>
          </a:ln>
        </p:spPr>
      </p:sp>
      <p:sp>
        <p:nvSpPr>
          <p:cNvPr id="99" name="Text 97"/>
          <p:cNvSpPr/>
          <p:nvPr/>
        </p:nvSpPr>
        <p:spPr>
          <a:xfrm>
            <a:off x="2743200" y="4041648"/>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12</a:t>
            </a:r>
            <a:endParaRPr lang="en-US" sz="700" dirty="0"/>
          </a:p>
        </p:txBody>
      </p:sp>
      <p:sp>
        <p:nvSpPr>
          <p:cNvPr id="100" name="Shape 98"/>
          <p:cNvSpPr/>
          <p:nvPr/>
        </p:nvSpPr>
        <p:spPr>
          <a:xfrm>
            <a:off x="3127248" y="4041648"/>
            <a:ext cx="384048" cy="384048"/>
          </a:xfrm>
          <a:prstGeom prst="rect">
            <a:avLst/>
          </a:prstGeom>
          <a:solidFill>
            <a:srgbClr val="050505"/>
          </a:solidFill>
          <a:ln w="6350">
            <a:solidFill>
              <a:srgbClr val="CCCCCC"/>
            </a:solidFill>
            <a:prstDash val="solid"/>
          </a:ln>
        </p:spPr>
      </p:sp>
      <p:sp>
        <p:nvSpPr>
          <p:cNvPr id="101" name="Text 99"/>
          <p:cNvSpPr/>
          <p:nvPr/>
        </p:nvSpPr>
        <p:spPr>
          <a:xfrm>
            <a:off x="3127248" y="4041648"/>
            <a:ext cx="384048" cy="384048"/>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5</a:t>
            </a:r>
            <a:endParaRPr lang="en-US" sz="700" dirty="0"/>
          </a:p>
        </p:txBody>
      </p:sp>
      <p:sp>
        <p:nvSpPr>
          <p:cNvPr id="102" name="Text 100"/>
          <p:cNvSpPr/>
          <p:nvPr/>
        </p:nvSpPr>
        <p:spPr>
          <a:xfrm>
            <a:off x="822960" y="4517136"/>
            <a:ext cx="3840480" cy="548640"/>
          </a:xfrm>
          <a:prstGeom prst="rect">
            <a:avLst/>
          </a:prstGeom>
          <a:noFill/>
          <a:ln/>
        </p:spPr>
        <p:txBody>
          <a:bodyPr wrap="square" lIns="0" tIns="0" rIns="0" bIns="0" rtlCol="0" anchor="ctr"/>
          <a:lstStyle/>
          <a:p>
            <a:pPr marL="0" indent="0">
              <a:buNone/>
            </a:pPr>
            <a:r>
              <a:rPr lang="en-US" sz="1150" i="1" dirty="0">
                <a:solidFill>
                  <a:srgbClr val="5B6470"/>
                </a:solidFill>
                <a:latin typeface="Calibri" pitchFamily="34" charset="0"/>
                <a:ea typeface="Calibri" pitchFamily="34" charset="-122"/>
                <a:cs typeface="Calibri" pitchFamily="34" charset="-120"/>
              </a:rPr>
              <a:t>Each cell = one pixel's brightness. Dark = low number, bright = high.</a:t>
            </a:r>
            <a:endParaRPr lang="en-US" sz="1150" dirty="0"/>
          </a:p>
        </p:txBody>
      </p:sp>
      <p:sp>
        <p:nvSpPr>
          <p:cNvPr id="103" name="Shape 101"/>
          <p:cNvSpPr/>
          <p:nvPr/>
        </p:nvSpPr>
        <p:spPr>
          <a:xfrm>
            <a:off x="5120640" y="1737360"/>
            <a:ext cx="6519672" cy="3200400"/>
          </a:xfrm>
          <a:prstGeom prst="roundRect">
            <a:avLst>
              <a:gd name="adj" fmla="val 2286"/>
            </a:avLst>
          </a:prstGeom>
          <a:solidFill>
            <a:srgbClr val="EAF2FB"/>
          </a:solidFill>
          <a:ln/>
        </p:spPr>
      </p:sp>
      <p:sp>
        <p:nvSpPr>
          <p:cNvPr id="104" name="Text 102"/>
          <p:cNvSpPr/>
          <p:nvPr/>
        </p:nvSpPr>
        <p:spPr>
          <a:xfrm>
            <a:off x="5440680" y="1965960"/>
            <a:ext cx="5852160" cy="2743200"/>
          </a:xfrm>
          <a:prstGeom prst="rect">
            <a:avLst/>
          </a:prstGeom>
          <a:noFill/>
          <a:ln/>
        </p:spPr>
        <p:txBody>
          <a:bodyPr wrap="square" lIns="0" tIns="0" rIns="0" bIns="0" rtlCol="0" anchor="t"/>
          <a:lstStyle/>
          <a:p>
            <a:pPr marL="0" indent="0">
              <a:buNone/>
            </a:pPr>
            <a:r>
              <a:rPr lang="en-US" sz="1600" b="1" dirty="0">
                <a:solidFill>
                  <a:srgbClr val="0B5CAD"/>
                </a:solidFill>
                <a:latin typeface="Calibri" pitchFamily="34" charset="0"/>
                <a:ea typeface="Calibri" pitchFamily="34" charset="-122"/>
                <a:cs typeface="Calibri" pitchFamily="34" charset="-120"/>
              </a:rPr>
              <a:t>The network never sees a “shirt.” It sees 784 numbers.
</a:t>
            </a:r>
            <a:r>
              <a:rPr lang="en-US" sz="1450" dirty="0">
                <a:solidFill>
                  <a:srgbClr val="1A2733"/>
                </a:solidFill>
                <a:latin typeface="Calibri" pitchFamily="34" charset="0"/>
                <a:ea typeface="Calibri" pitchFamily="34" charset="-122"/>
                <a:cs typeface="Calibri" pitchFamily="34" charset="-120"/>
              </a:rPr>
              <a:t>Its whole job: find patterns in those numbers that separate a shirt from a shoe from a bag. </a:t>
            </a:r>
            <a:r>
              <a:rPr lang="en-US" sz="1450" dirty="0">
                <a:solidFill>
                  <a:srgbClr val="5B6470"/>
                </a:solidFill>
                <a:latin typeface="Calibri" pitchFamily="34" charset="0"/>
                <a:ea typeface="Calibri" pitchFamily="34" charset="-122"/>
                <a:cs typeface="Calibri" pitchFamily="34" charset="-120"/>
              </a:rPr>
              <a:t>Color images add three numbers per pixel (red, green, blue) — the idea is the same, just more numbers.</a:t>
            </a:r>
            <a:endParaRPr lang="en-US" sz="1600" dirty="0"/>
          </a:p>
        </p:txBody>
      </p:sp>
      <p:sp>
        <p:nvSpPr>
          <p:cNvPr id="105" name="Text 103"/>
          <p:cNvSpPr/>
          <p:nvPr/>
        </p:nvSpPr>
        <p:spPr>
          <a:xfrm>
            <a:off x="5120640" y="5120640"/>
            <a:ext cx="6519672" cy="457200"/>
          </a:xfrm>
          <a:prstGeom prst="rect">
            <a:avLst/>
          </a:prstGeom>
          <a:noFill/>
          <a:ln/>
        </p:spPr>
        <p:txBody>
          <a:bodyPr wrap="square" lIns="0" tIns="0" rIns="0" bIns="0" rtlCol="0" anchor="ctr"/>
          <a:lstStyle/>
          <a:p>
            <a:pPr marL="0" indent="0">
              <a:buNone/>
            </a:pPr>
            <a:r>
              <a:rPr lang="en-US" sz="1300" i="1" dirty="0">
                <a:solidFill>
                  <a:srgbClr val="0B5CAD"/>
                </a:solidFill>
                <a:latin typeface="Calibri" pitchFamily="34" charset="0"/>
                <a:ea typeface="Calibri" pitchFamily="34" charset="-122"/>
                <a:cs typeface="Calibri" pitchFamily="34" charset="-120"/>
              </a:rPr>
              <a:t>This is why yesterday's inputs were just X₁, X₂ — today it's 784 inputs, same principle.</a:t>
            </a:r>
            <a:endParaRPr lang="en-US" sz="1300" dirty="0"/>
          </a:p>
        </p:txBody>
      </p:sp>
      <p:sp>
        <p:nvSpPr>
          <p:cNvPr id="106" name="Text 104"/>
          <p:cNvSpPr/>
          <p:nvPr/>
        </p:nvSpPr>
        <p:spPr>
          <a:xfrm>
            <a:off x="548640" y="6473952"/>
            <a:ext cx="11091672" cy="274320"/>
          </a:xfrm>
          <a:prstGeom prst="rect">
            <a:avLst/>
          </a:prstGeom>
          <a:noFill/>
          <a:ln/>
        </p:spPr>
        <p:txBody>
          <a:bodyPr wrap="square" lIns="0" tIns="0" rIns="0" bIns="0" rtlCol="0" anchor="ctr"/>
          <a:lstStyle/>
          <a:p>
            <a:pPr marL="0" indent="0">
              <a:buNone/>
            </a:pPr>
            <a:r>
              <a:rPr lang="en-US" sz="900" dirty="0">
                <a:solidFill>
                  <a:srgbClr val="5B6470"/>
                </a:solidFill>
                <a:latin typeface="Calibri" pitchFamily="34" charset="0"/>
                <a:ea typeface="Calibri" pitchFamily="34" charset="-122"/>
                <a:cs typeface="Calibri" pitchFamily="34" charset="-120"/>
              </a:rPr>
              <a:t>Digital Communication &amp; Emerging Technologies · NCCU ISS 2026 · Day 2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292608"/>
            <a:ext cx="11091672" cy="658368"/>
          </a:xfrm>
          <a:prstGeom prst="rect">
            <a:avLst/>
          </a:prstGeom>
          <a:noFill/>
          <a:ln/>
        </p:spPr>
        <p:txBody>
          <a:bodyPr wrap="square" lIns="0" tIns="0" rIns="0" bIns="0" rtlCol="0" anchor="ctr"/>
          <a:lstStyle/>
          <a:p>
            <a:pPr marL="0" indent="0">
              <a:buNone/>
            </a:pPr>
            <a:r>
              <a:rPr lang="en-US" sz="3100" b="1" dirty="0">
                <a:solidFill>
                  <a:srgbClr val="1A2733"/>
                </a:solidFill>
                <a:latin typeface="Cambria" pitchFamily="34" charset="0"/>
                <a:ea typeface="Cambria" pitchFamily="34" charset="-122"/>
                <a:cs typeface="Cambria" pitchFamily="34" charset="-120"/>
              </a:rPr>
              <a:t>Grayscale, color, and why size matters</a:t>
            </a:r>
            <a:endParaRPr lang="en-US" sz="3100" dirty="0"/>
          </a:p>
        </p:txBody>
      </p:sp>
      <p:sp>
        <p:nvSpPr>
          <p:cNvPr id="3" name="Text 1"/>
          <p:cNvSpPr/>
          <p:nvPr/>
        </p:nvSpPr>
        <p:spPr>
          <a:xfrm>
            <a:off x="548640" y="896112"/>
            <a:ext cx="11091672" cy="365760"/>
          </a:xfrm>
          <a:prstGeom prst="rect">
            <a:avLst/>
          </a:prstGeom>
          <a:noFill/>
          <a:ln/>
        </p:spPr>
        <p:txBody>
          <a:bodyPr wrap="square" lIns="0" tIns="0" rIns="0" bIns="0" rtlCol="0" anchor="ctr"/>
          <a:lstStyle/>
          <a:p>
            <a:pPr marL="0" indent="0">
              <a:buNone/>
            </a:pPr>
            <a:r>
              <a:rPr lang="en-US" sz="1500" i="1" dirty="0">
                <a:solidFill>
                  <a:srgbClr val="5B6470"/>
                </a:solidFill>
                <a:latin typeface="Calibri" pitchFamily="34" charset="0"/>
                <a:ea typeface="Calibri" pitchFamily="34" charset="-122"/>
                <a:cs typeface="Calibri" pitchFamily="34" charset="-120"/>
              </a:rPr>
              <a:t>More pixels and colors means more numbers to learn from</a:t>
            </a:r>
            <a:endParaRPr lang="en-US" sz="1500" dirty="0"/>
          </a:p>
        </p:txBody>
      </p:sp>
      <p:sp>
        <p:nvSpPr>
          <p:cNvPr id="4" name="Shape 2"/>
          <p:cNvSpPr/>
          <p:nvPr/>
        </p:nvSpPr>
        <p:spPr>
          <a:xfrm>
            <a:off x="548640" y="1737360"/>
            <a:ext cx="3575304" cy="2926080"/>
          </a:xfrm>
          <a:prstGeom prst="roundRect">
            <a:avLst>
              <a:gd name="adj" fmla="val 2500"/>
            </a:avLst>
          </a:prstGeom>
          <a:solidFill>
            <a:srgbClr val="EAF2FB"/>
          </a:solidFill>
          <a:ln/>
        </p:spPr>
      </p:sp>
      <p:sp>
        <p:nvSpPr>
          <p:cNvPr id="5" name="Text 3"/>
          <p:cNvSpPr/>
          <p:nvPr/>
        </p:nvSpPr>
        <p:spPr>
          <a:xfrm>
            <a:off x="822960" y="1965960"/>
            <a:ext cx="3017520" cy="457200"/>
          </a:xfrm>
          <a:prstGeom prst="rect">
            <a:avLst/>
          </a:prstGeom>
          <a:noFill/>
          <a:ln/>
        </p:spPr>
        <p:txBody>
          <a:bodyPr wrap="square" lIns="0" tIns="0" rIns="0" bIns="0" rtlCol="0" anchor="ctr"/>
          <a:lstStyle/>
          <a:p>
            <a:pPr marL="0" indent="0">
              <a:buNone/>
            </a:pPr>
            <a:r>
              <a:rPr lang="en-US" sz="1700" b="1" dirty="0">
                <a:solidFill>
                  <a:srgbClr val="0B5CAD"/>
                </a:solidFill>
                <a:latin typeface="Cambria" pitchFamily="34" charset="0"/>
                <a:ea typeface="Cambria" pitchFamily="34" charset="-122"/>
                <a:cs typeface="Cambria" pitchFamily="34" charset="-120"/>
              </a:rPr>
              <a:t>Grayscale</a:t>
            </a:r>
            <a:endParaRPr lang="en-US" sz="1700" dirty="0"/>
          </a:p>
        </p:txBody>
      </p:sp>
      <p:sp>
        <p:nvSpPr>
          <p:cNvPr id="6" name="Text 4"/>
          <p:cNvSpPr/>
          <p:nvPr/>
        </p:nvSpPr>
        <p:spPr>
          <a:xfrm>
            <a:off x="822960" y="2450592"/>
            <a:ext cx="3017520" cy="548640"/>
          </a:xfrm>
          <a:prstGeom prst="rect">
            <a:avLst/>
          </a:prstGeom>
          <a:noFill/>
          <a:ln/>
        </p:spPr>
        <p:txBody>
          <a:bodyPr wrap="square" lIns="0" tIns="0" rIns="0" bIns="0" rtlCol="0" anchor="ctr"/>
          <a:lstStyle/>
          <a:p>
            <a:pPr marL="0" indent="0">
              <a:buNone/>
            </a:pPr>
            <a:r>
              <a:rPr lang="en-US" sz="1800" b="1" dirty="0">
                <a:solidFill>
                  <a:srgbClr val="0B5CAD"/>
                </a:solidFill>
                <a:latin typeface="Cambria" pitchFamily="34" charset="0"/>
                <a:ea typeface="Cambria" pitchFamily="34" charset="-122"/>
                <a:cs typeface="Cambria" pitchFamily="34" charset="-120"/>
              </a:rPr>
              <a:t>28×28 = 784 numbers</a:t>
            </a:r>
            <a:endParaRPr lang="en-US" sz="1800" dirty="0"/>
          </a:p>
        </p:txBody>
      </p:sp>
      <p:sp>
        <p:nvSpPr>
          <p:cNvPr id="7" name="Text 5"/>
          <p:cNvSpPr/>
          <p:nvPr/>
        </p:nvSpPr>
        <p:spPr>
          <a:xfrm>
            <a:off x="822960" y="3108960"/>
            <a:ext cx="3063240" cy="1417320"/>
          </a:xfrm>
          <a:prstGeom prst="rect">
            <a:avLst/>
          </a:prstGeom>
          <a:noFill/>
          <a:ln/>
        </p:spPr>
        <p:txBody>
          <a:bodyPr wrap="square" lIns="0" tIns="0" rIns="0" bIns="0" rtlCol="0" anchor="ctr"/>
          <a:lstStyle/>
          <a:p>
            <a:pPr marL="0" indent="0">
              <a:buNone/>
            </a:pPr>
            <a:r>
              <a:rPr lang="en-US" sz="1300" dirty="0">
                <a:solidFill>
                  <a:srgbClr val="5B6470"/>
                </a:solidFill>
                <a:latin typeface="Calibri" pitchFamily="34" charset="0"/>
                <a:ea typeface="Calibri" pitchFamily="34" charset="-122"/>
                <a:cs typeface="Calibri" pitchFamily="34" charset="-120"/>
              </a:rPr>
              <a:t>One brightness value per pixel (0–255). Today's clothing images.</a:t>
            </a:r>
            <a:endParaRPr lang="en-US" sz="1300" dirty="0"/>
          </a:p>
        </p:txBody>
      </p:sp>
      <p:sp>
        <p:nvSpPr>
          <p:cNvPr id="8" name="Shape 6"/>
          <p:cNvSpPr/>
          <p:nvPr/>
        </p:nvSpPr>
        <p:spPr>
          <a:xfrm>
            <a:off x="4306824" y="1737360"/>
            <a:ext cx="3575304" cy="2926080"/>
          </a:xfrm>
          <a:prstGeom prst="roundRect">
            <a:avLst>
              <a:gd name="adj" fmla="val 2500"/>
            </a:avLst>
          </a:prstGeom>
          <a:solidFill>
            <a:srgbClr val="F5F8FB"/>
          </a:solidFill>
          <a:ln w="12700">
            <a:solidFill>
              <a:srgbClr val="DDE5EC"/>
            </a:solidFill>
            <a:prstDash val="solid"/>
          </a:ln>
        </p:spPr>
      </p:sp>
      <p:sp>
        <p:nvSpPr>
          <p:cNvPr id="9" name="Text 7"/>
          <p:cNvSpPr/>
          <p:nvPr/>
        </p:nvSpPr>
        <p:spPr>
          <a:xfrm>
            <a:off x="4581144" y="1965960"/>
            <a:ext cx="3017520" cy="457200"/>
          </a:xfrm>
          <a:prstGeom prst="rect">
            <a:avLst/>
          </a:prstGeom>
          <a:noFill/>
          <a:ln/>
        </p:spPr>
        <p:txBody>
          <a:bodyPr wrap="square" lIns="0" tIns="0" rIns="0" bIns="0" rtlCol="0" anchor="ctr"/>
          <a:lstStyle/>
          <a:p>
            <a:pPr marL="0" indent="0">
              <a:buNone/>
            </a:pPr>
            <a:r>
              <a:rPr lang="en-US" sz="1700" b="1" dirty="0">
                <a:solidFill>
                  <a:srgbClr val="1A2733"/>
                </a:solidFill>
                <a:latin typeface="Cambria" pitchFamily="34" charset="0"/>
                <a:ea typeface="Cambria" pitchFamily="34" charset="-122"/>
                <a:cs typeface="Cambria" pitchFamily="34" charset="-120"/>
              </a:rPr>
              <a:t>Color</a:t>
            </a:r>
            <a:endParaRPr lang="en-US" sz="1700" dirty="0"/>
          </a:p>
        </p:txBody>
      </p:sp>
      <p:sp>
        <p:nvSpPr>
          <p:cNvPr id="10" name="Text 8"/>
          <p:cNvSpPr/>
          <p:nvPr/>
        </p:nvSpPr>
        <p:spPr>
          <a:xfrm>
            <a:off x="4581144" y="2450592"/>
            <a:ext cx="3017520" cy="548640"/>
          </a:xfrm>
          <a:prstGeom prst="rect">
            <a:avLst/>
          </a:prstGeom>
          <a:noFill/>
          <a:ln/>
        </p:spPr>
        <p:txBody>
          <a:bodyPr wrap="square" lIns="0" tIns="0" rIns="0" bIns="0" rtlCol="0" anchor="ctr"/>
          <a:lstStyle/>
          <a:p>
            <a:pPr marL="0" indent="0">
              <a:buNone/>
            </a:pPr>
            <a:r>
              <a:rPr lang="en-US" sz="1800" b="1" dirty="0">
                <a:solidFill>
                  <a:srgbClr val="0B5CAD"/>
                </a:solidFill>
                <a:latin typeface="Cambria" pitchFamily="34" charset="0"/>
                <a:ea typeface="Cambria" pitchFamily="34" charset="-122"/>
                <a:cs typeface="Cambria" pitchFamily="34" charset="-120"/>
              </a:rPr>
              <a:t>28×28×3 = 2,352 numbers</a:t>
            </a:r>
            <a:endParaRPr lang="en-US" sz="1800" dirty="0"/>
          </a:p>
        </p:txBody>
      </p:sp>
      <p:sp>
        <p:nvSpPr>
          <p:cNvPr id="11" name="Text 9"/>
          <p:cNvSpPr/>
          <p:nvPr/>
        </p:nvSpPr>
        <p:spPr>
          <a:xfrm>
            <a:off x="4581144" y="3108960"/>
            <a:ext cx="3063240" cy="1417320"/>
          </a:xfrm>
          <a:prstGeom prst="rect">
            <a:avLst/>
          </a:prstGeom>
          <a:noFill/>
          <a:ln/>
        </p:spPr>
        <p:txBody>
          <a:bodyPr wrap="square" lIns="0" tIns="0" rIns="0" bIns="0" rtlCol="0" anchor="ctr"/>
          <a:lstStyle/>
          <a:p>
            <a:pPr marL="0" indent="0">
              <a:buNone/>
            </a:pPr>
            <a:r>
              <a:rPr lang="en-US" sz="1300" dirty="0">
                <a:solidFill>
                  <a:srgbClr val="5B6470"/>
                </a:solidFill>
                <a:latin typeface="Calibri" pitchFamily="34" charset="0"/>
                <a:ea typeface="Calibri" pitchFamily="34" charset="-122"/>
                <a:cs typeface="Calibri" pitchFamily="34" charset="-120"/>
              </a:rPr>
              <a:t>Three values per pixel: red, green, blue. Same idea, 3× the data.</a:t>
            </a:r>
            <a:endParaRPr lang="en-US" sz="1300" dirty="0"/>
          </a:p>
        </p:txBody>
      </p:sp>
      <p:sp>
        <p:nvSpPr>
          <p:cNvPr id="12" name="Shape 10"/>
          <p:cNvSpPr/>
          <p:nvPr/>
        </p:nvSpPr>
        <p:spPr>
          <a:xfrm>
            <a:off x="8065008" y="1737360"/>
            <a:ext cx="3575304" cy="2926080"/>
          </a:xfrm>
          <a:prstGeom prst="roundRect">
            <a:avLst>
              <a:gd name="adj" fmla="val 2500"/>
            </a:avLst>
          </a:prstGeom>
          <a:solidFill>
            <a:srgbClr val="F5F8FB"/>
          </a:solidFill>
          <a:ln w="12700">
            <a:solidFill>
              <a:srgbClr val="DDE5EC"/>
            </a:solidFill>
            <a:prstDash val="solid"/>
          </a:ln>
        </p:spPr>
      </p:sp>
      <p:sp>
        <p:nvSpPr>
          <p:cNvPr id="13" name="Text 11"/>
          <p:cNvSpPr/>
          <p:nvPr/>
        </p:nvSpPr>
        <p:spPr>
          <a:xfrm>
            <a:off x="8339328" y="1965960"/>
            <a:ext cx="3017520" cy="457200"/>
          </a:xfrm>
          <a:prstGeom prst="rect">
            <a:avLst/>
          </a:prstGeom>
          <a:noFill/>
          <a:ln/>
        </p:spPr>
        <p:txBody>
          <a:bodyPr wrap="square" lIns="0" tIns="0" rIns="0" bIns="0" rtlCol="0" anchor="ctr"/>
          <a:lstStyle/>
          <a:p>
            <a:pPr marL="0" indent="0">
              <a:buNone/>
            </a:pPr>
            <a:r>
              <a:rPr lang="en-US" sz="1700" b="1" dirty="0">
                <a:solidFill>
                  <a:srgbClr val="1A2733"/>
                </a:solidFill>
                <a:latin typeface="Cambria" pitchFamily="34" charset="0"/>
                <a:ea typeface="Cambria" pitchFamily="34" charset="-122"/>
                <a:cs typeface="Cambria" pitchFamily="34" charset="-120"/>
              </a:rPr>
              <a:t>A phone photo</a:t>
            </a:r>
            <a:endParaRPr lang="en-US" sz="1700" dirty="0"/>
          </a:p>
        </p:txBody>
      </p:sp>
      <p:sp>
        <p:nvSpPr>
          <p:cNvPr id="14" name="Text 12"/>
          <p:cNvSpPr/>
          <p:nvPr/>
        </p:nvSpPr>
        <p:spPr>
          <a:xfrm>
            <a:off x="8339328" y="2450592"/>
            <a:ext cx="3017520" cy="548640"/>
          </a:xfrm>
          <a:prstGeom prst="rect">
            <a:avLst/>
          </a:prstGeom>
          <a:noFill/>
          <a:ln/>
        </p:spPr>
        <p:txBody>
          <a:bodyPr wrap="square" lIns="0" tIns="0" rIns="0" bIns="0" rtlCol="0" anchor="ctr"/>
          <a:lstStyle/>
          <a:p>
            <a:pPr marL="0" indent="0">
              <a:buNone/>
            </a:pPr>
            <a:r>
              <a:rPr lang="en-US" sz="1800" b="1" dirty="0">
                <a:solidFill>
                  <a:srgbClr val="0B5CAD"/>
                </a:solidFill>
                <a:latin typeface="Cambria" pitchFamily="34" charset="0"/>
                <a:ea typeface="Cambria" pitchFamily="34" charset="-122"/>
                <a:cs typeface="Cambria" pitchFamily="34" charset="-120"/>
              </a:rPr>
              <a:t>12 million pixels × 3</a:t>
            </a:r>
            <a:endParaRPr lang="en-US" sz="1800" dirty="0"/>
          </a:p>
        </p:txBody>
      </p:sp>
      <p:sp>
        <p:nvSpPr>
          <p:cNvPr id="15" name="Text 13"/>
          <p:cNvSpPr/>
          <p:nvPr/>
        </p:nvSpPr>
        <p:spPr>
          <a:xfrm>
            <a:off x="8339328" y="3108960"/>
            <a:ext cx="3063240" cy="1417320"/>
          </a:xfrm>
          <a:prstGeom prst="rect">
            <a:avLst/>
          </a:prstGeom>
          <a:noFill/>
          <a:ln/>
        </p:spPr>
        <p:txBody>
          <a:bodyPr wrap="square" lIns="0" tIns="0" rIns="0" bIns="0" rtlCol="0" anchor="ctr"/>
          <a:lstStyle/>
          <a:p>
            <a:pPr marL="0" indent="0">
              <a:buNone/>
            </a:pPr>
            <a:r>
              <a:rPr lang="en-US" sz="1300" dirty="0">
                <a:solidFill>
                  <a:srgbClr val="5B6470"/>
                </a:solidFill>
                <a:latin typeface="Calibri" pitchFamily="34" charset="0"/>
                <a:ea typeface="Calibri" pitchFamily="34" charset="-122"/>
                <a:cs typeface="Calibri" pitchFamily="34" charset="-120"/>
              </a:rPr>
              <a:t>Tens of millions of numbers per image. This is why real vision needs serious computing power.</a:t>
            </a:r>
            <a:endParaRPr lang="en-US" sz="1300" dirty="0"/>
          </a:p>
        </p:txBody>
      </p:sp>
      <p:sp>
        <p:nvSpPr>
          <p:cNvPr id="16" name="Text 14"/>
          <p:cNvSpPr/>
          <p:nvPr/>
        </p:nvSpPr>
        <p:spPr>
          <a:xfrm>
            <a:off x="548640" y="4892040"/>
            <a:ext cx="11064240" cy="640080"/>
          </a:xfrm>
          <a:prstGeom prst="rect">
            <a:avLst/>
          </a:prstGeom>
          <a:noFill/>
          <a:ln/>
        </p:spPr>
        <p:txBody>
          <a:bodyPr wrap="square" lIns="0" tIns="0" rIns="0" bIns="0" rtlCol="0" anchor="ctr"/>
          <a:lstStyle/>
          <a:p>
            <a:pPr marL="0" indent="0">
              <a:buNone/>
            </a:pPr>
            <a:r>
              <a:rPr lang="en-US" sz="1350" i="1" dirty="0">
                <a:solidFill>
                  <a:srgbClr val="0B5CAD"/>
                </a:solidFill>
                <a:latin typeface="Calibri" pitchFamily="34" charset="0"/>
                <a:ea typeface="Calibri" pitchFamily="34" charset="-122"/>
                <a:cs typeface="Calibri" pitchFamily="34" charset="-120"/>
              </a:rPr>
              <a:t>Bigger images carry more detail but cost more to process. Fashion-MNIST stays tiny (28×28 grayscale) on purpose — so the whole thing trains in the browser in minutes.</a:t>
            </a:r>
            <a:endParaRPr lang="en-US" sz="1350" dirty="0"/>
          </a:p>
        </p:txBody>
      </p:sp>
      <p:sp>
        <p:nvSpPr>
          <p:cNvPr id="17" name="Text 15"/>
          <p:cNvSpPr/>
          <p:nvPr/>
        </p:nvSpPr>
        <p:spPr>
          <a:xfrm>
            <a:off x="548640" y="6473952"/>
            <a:ext cx="11091672" cy="274320"/>
          </a:xfrm>
          <a:prstGeom prst="rect">
            <a:avLst/>
          </a:prstGeom>
          <a:noFill/>
          <a:ln/>
        </p:spPr>
        <p:txBody>
          <a:bodyPr wrap="square" lIns="0" tIns="0" rIns="0" bIns="0" rtlCol="0" anchor="ctr"/>
          <a:lstStyle/>
          <a:p>
            <a:pPr marL="0" indent="0">
              <a:buNone/>
            </a:pPr>
            <a:r>
              <a:rPr lang="en-US" sz="900" dirty="0">
                <a:solidFill>
                  <a:srgbClr val="5B6470"/>
                </a:solidFill>
                <a:latin typeface="Calibri" pitchFamily="34" charset="0"/>
                <a:ea typeface="Calibri" pitchFamily="34" charset="-122"/>
                <a:cs typeface="Calibri" pitchFamily="34" charset="-120"/>
              </a:rPr>
              <a:t>Digital Communication &amp; Emerging Technologies · NCCU ISS 2026 · Day 2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292608"/>
            <a:ext cx="11091672" cy="658368"/>
          </a:xfrm>
          <a:prstGeom prst="rect">
            <a:avLst/>
          </a:prstGeom>
          <a:noFill/>
          <a:ln/>
        </p:spPr>
        <p:txBody>
          <a:bodyPr wrap="square" lIns="0" tIns="0" rIns="0" bIns="0" rtlCol="0" anchor="ctr"/>
          <a:lstStyle/>
          <a:p>
            <a:pPr marL="0" indent="0">
              <a:buNone/>
            </a:pPr>
            <a:r>
              <a:rPr lang="en-US" sz="3100" b="1" dirty="0">
                <a:solidFill>
                  <a:srgbClr val="1A2733"/>
                </a:solidFill>
                <a:latin typeface="Cambria" pitchFamily="34" charset="0"/>
                <a:ea typeface="Cambria" pitchFamily="34" charset="-122"/>
                <a:cs typeface="Cambria" pitchFamily="34" charset="-120"/>
              </a:rPr>
              <a:t>How a network learns, step 1: measure the error</a:t>
            </a:r>
            <a:endParaRPr lang="en-US" sz="3100" dirty="0"/>
          </a:p>
        </p:txBody>
      </p:sp>
      <p:sp>
        <p:nvSpPr>
          <p:cNvPr id="3" name="Text 1"/>
          <p:cNvSpPr/>
          <p:nvPr/>
        </p:nvSpPr>
        <p:spPr>
          <a:xfrm>
            <a:off x="548640" y="896112"/>
            <a:ext cx="11091672" cy="365760"/>
          </a:xfrm>
          <a:prstGeom prst="rect">
            <a:avLst/>
          </a:prstGeom>
          <a:noFill/>
          <a:ln/>
        </p:spPr>
        <p:txBody>
          <a:bodyPr wrap="square" lIns="0" tIns="0" rIns="0" bIns="0" rtlCol="0" anchor="ctr"/>
          <a:lstStyle/>
          <a:p>
            <a:pPr marL="0" indent="0">
              <a:buNone/>
            </a:pPr>
            <a:r>
              <a:rPr lang="en-US" sz="1500" i="1" dirty="0">
                <a:solidFill>
                  <a:srgbClr val="5B6470"/>
                </a:solidFill>
                <a:latin typeface="Calibri" pitchFamily="34" charset="0"/>
                <a:ea typeface="Calibri" pitchFamily="34" charset="-122"/>
                <a:cs typeface="Calibri" pitchFamily="34" charset="-120"/>
              </a:rPr>
              <a:t>“Loss” is a single score for how wrong the network is right now</a:t>
            </a:r>
            <a:endParaRPr lang="en-US" sz="1500" dirty="0"/>
          </a:p>
        </p:txBody>
      </p:sp>
      <p:sp>
        <p:nvSpPr>
          <p:cNvPr id="4" name="Shape 2"/>
          <p:cNvSpPr/>
          <p:nvPr/>
        </p:nvSpPr>
        <p:spPr>
          <a:xfrm>
            <a:off x="548640" y="1600200"/>
            <a:ext cx="3575304" cy="2194560"/>
          </a:xfrm>
          <a:prstGeom prst="roundRect">
            <a:avLst>
              <a:gd name="adj" fmla="val 3333"/>
            </a:avLst>
          </a:prstGeom>
          <a:solidFill>
            <a:srgbClr val="F5F8FB"/>
          </a:solidFill>
          <a:ln w="12700">
            <a:solidFill>
              <a:srgbClr val="DDE5EC"/>
            </a:solidFill>
            <a:prstDash val="solid"/>
          </a:ln>
        </p:spPr>
      </p:sp>
      <p:pic>
        <p:nvPicPr>
          <p:cNvPr id="5" name="Image 0" descr="preencoded.png"/>
          <p:cNvPicPr>
            <a:picLocks noChangeAspect="1"/>
          </p:cNvPicPr>
          <p:nvPr/>
        </p:nvPicPr>
        <p:blipFill>
          <a:blip r:embed="rId3"/>
          <a:stretch>
            <a:fillRect/>
          </a:stretch>
        </p:blipFill>
        <p:spPr>
          <a:xfrm>
            <a:off x="822960" y="1828800"/>
            <a:ext cx="457200" cy="457200"/>
          </a:xfrm>
          <a:prstGeom prst="rect">
            <a:avLst/>
          </a:prstGeom>
        </p:spPr>
      </p:pic>
      <p:sp>
        <p:nvSpPr>
          <p:cNvPr id="6" name="Text 3"/>
          <p:cNvSpPr/>
          <p:nvPr/>
        </p:nvSpPr>
        <p:spPr>
          <a:xfrm>
            <a:off x="822960" y="2395728"/>
            <a:ext cx="3017520" cy="1280160"/>
          </a:xfrm>
          <a:prstGeom prst="rect">
            <a:avLst/>
          </a:prstGeom>
          <a:noFill/>
          <a:ln/>
        </p:spPr>
        <p:txBody>
          <a:bodyPr wrap="square" lIns="0" tIns="0" rIns="0" bIns="0" rtlCol="0" anchor="ctr"/>
          <a:lstStyle/>
          <a:p>
            <a:pPr marL="0" indent="0">
              <a:buNone/>
            </a:pPr>
            <a:r>
              <a:rPr lang="en-US" sz="1600" b="1" dirty="0">
                <a:solidFill>
                  <a:srgbClr val="1A2733"/>
                </a:solidFill>
                <a:latin typeface="Calibri" pitchFamily="34" charset="0"/>
                <a:ea typeface="Calibri" pitchFamily="34" charset="-122"/>
                <a:cs typeface="Calibri" pitchFamily="34" charset="-120"/>
              </a:rPr>
              <a:t>Predict
</a:t>
            </a:r>
            <a:r>
              <a:rPr lang="en-US" sz="1300" dirty="0">
                <a:solidFill>
                  <a:srgbClr val="5B6470"/>
                </a:solidFill>
                <a:latin typeface="Calibri" pitchFamily="34" charset="0"/>
                <a:ea typeface="Calibri" pitchFamily="34" charset="-122"/>
                <a:cs typeface="Calibri" pitchFamily="34" charset="-120"/>
              </a:rPr>
              <a:t>The network guesses: 70% shirt, 20% bag, 10% coat</a:t>
            </a:r>
            <a:endParaRPr lang="en-US" sz="1600" dirty="0"/>
          </a:p>
        </p:txBody>
      </p:sp>
      <p:sp>
        <p:nvSpPr>
          <p:cNvPr id="7" name="Shape 4"/>
          <p:cNvSpPr/>
          <p:nvPr/>
        </p:nvSpPr>
        <p:spPr>
          <a:xfrm>
            <a:off x="4306824" y="1600200"/>
            <a:ext cx="3575304" cy="2194560"/>
          </a:xfrm>
          <a:prstGeom prst="roundRect">
            <a:avLst>
              <a:gd name="adj" fmla="val 3333"/>
            </a:avLst>
          </a:prstGeom>
          <a:solidFill>
            <a:srgbClr val="F5F8FB"/>
          </a:solidFill>
          <a:ln w="12700">
            <a:solidFill>
              <a:srgbClr val="DDE5EC"/>
            </a:solidFill>
            <a:prstDash val="solid"/>
          </a:ln>
        </p:spPr>
      </p:sp>
      <p:pic>
        <p:nvPicPr>
          <p:cNvPr id="8" name="Image 1" descr="preencoded.png"/>
          <p:cNvPicPr>
            <a:picLocks noChangeAspect="1"/>
          </p:cNvPicPr>
          <p:nvPr/>
        </p:nvPicPr>
        <p:blipFill>
          <a:blip r:embed="rId4"/>
          <a:stretch>
            <a:fillRect/>
          </a:stretch>
        </p:blipFill>
        <p:spPr>
          <a:xfrm>
            <a:off x="4581144" y="1828800"/>
            <a:ext cx="457200" cy="457200"/>
          </a:xfrm>
          <a:prstGeom prst="rect">
            <a:avLst/>
          </a:prstGeom>
        </p:spPr>
      </p:pic>
      <p:sp>
        <p:nvSpPr>
          <p:cNvPr id="9" name="Text 5"/>
          <p:cNvSpPr/>
          <p:nvPr/>
        </p:nvSpPr>
        <p:spPr>
          <a:xfrm>
            <a:off x="4581144" y="2395728"/>
            <a:ext cx="3017520" cy="1280160"/>
          </a:xfrm>
          <a:prstGeom prst="rect">
            <a:avLst/>
          </a:prstGeom>
          <a:noFill/>
          <a:ln/>
        </p:spPr>
        <p:txBody>
          <a:bodyPr wrap="square" lIns="0" tIns="0" rIns="0" bIns="0" rtlCol="0" anchor="ctr"/>
          <a:lstStyle/>
          <a:p>
            <a:pPr marL="0" indent="0">
              <a:buNone/>
            </a:pPr>
            <a:r>
              <a:rPr lang="en-US" sz="1600" b="1" dirty="0">
                <a:solidFill>
                  <a:srgbClr val="1A2733"/>
                </a:solidFill>
                <a:latin typeface="Calibri" pitchFamily="34" charset="0"/>
                <a:ea typeface="Calibri" pitchFamily="34" charset="-122"/>
                <a:cs typeface="Calibri" pitchFamily="34" charset="-120"/>
              </a:rPr>
              <a:t>Compare
</a:t>
            </a:r>
            <a:r>
              <a:rPr lang="en-US" sz="1300" dirty="0">
                <a:solidFill>
                  <a:srgbClr val="5B6470"/>
                </a:solidFill>
                <a:latin typeface="Calibri" pitchFamily="34" charset="0"/>
                <a:ea typeface="Calibri" pitchFamily="34" charset="-122"/>
                <a:cs typeface="Calibri" pitchFamily="34" charset="-120"/>
              </a:rPr>
              <a:t>The right answer was “shirt.” How far off was the guess?</a:t>
            </a:r>
            <a:endParaRPr lang="en-US" sz="1600" dirty="0"/>
          </a:p>
        </p:txBody>
      </p:sp>
      <p:sp>
        <p:nvSpPr>
          <p:cNvPr id="10" name="Shape 6"/>
          <p:cNvSpPr/>
          <p:nvPr/>
        </p:nvSpPr>
        <p:spPr>
          <a:xfrm>
            <a:off x="8065008" y="1600200"/>
            <a:ext cx="3575304" cy="2194560"/>
          </a:xfrm>
          <a:prstGeom prst="roundRect">
            <a:avLst>
              <a:gd name="adj" fmla="val 3333"/>
            </a:avLst>
          </a:prstGeom>
          <a:solidFill>
            <a:srgbClr val="F5F8FB"/>
          </a:solidFill>
          <a:ln w="12700">
            <a:solidFill>
              <a:srgbClr val="DDE5EC"/>
            </a:solidFill>
            <a:prstDash val="solid"/>
          </a:ln>
        </p:spPr>
      </p:sp>
      <p:pic>
        <p:nvPicPr>
          <p:cNvPr id="11" name="Image 2" descr="preencoded.png"/>
          <p:cNvPicPr>
            <a:picLocks noChangeAspect="1"/>
          </p:cNvPicPr>
          <p:nvPr/>
        </p:nvPicPr>
        <p:blipFill>
          <a:blip r:embed="rId5"/>
          <a:stretch>
            <a:fillRect/>
          </a:stretch>
        </p:blipFill>
        <p:spPr>
          <a:xfrm>
            <a:off x="8339328" y="1828800"/>
            <a:ext cx="457200" cy="457200"/>
          </a:xfrm>
          <a:prstGeom prst="rect">
            <a:avLst/>
          </a:prstGeom>
        </p:spPr>
      </p:pic>
      <p:sp>
        <p:nvSpPr>
          <p:cNvPr id="12" name="Text 7"/>
          <p:cNvSpPr/>
          <p:nvPr/>
        </p:nvSpPr>
        <p:spPr>
          <a:xfrm>
            <a:off x="8339328" y="2395728"/>
            <a:ext cx="3017520" cy="1280160"/>
          </a:xfrm>
          <a:prstGeom prst="rect">
            <a:avLst/>
          </a:prstGeom>
          <a:noFill/>
          <a:ln/>
        </p:spPr>
        <p:txBody>
          <a:bodyPr wrap="square" lIns="0" tIns="0" rIns="0" bIns="0" rtlCol="0" anchor="ctr"/>
          <a:lstStyle/>
          <a:p>
            <a:pPr marL="0" indent="0">
              <a:buNone/>
            </a:pPr>
            <a:r>
              <a:rPr lang="en-US" sz="1600" b="1" dirty="0">
                <a:solidFill>
                  <a:srgbClr val="1A2733"/>
                </a:solidFill>
                <a:latin typeface="Calibri" pitchFamily="34" charset="0"/>
                <a:ea typeface="Calibri" pitchFamily="34" charset="-122"/>
                <a:cs typeface="Calibri" pitchFamily="34" charset="-120"/>
              </a:rPr>
              <a:t>Score it
</a:t>
            </a:r>
            <a:r>
              <a:rPr lang="en-US" sz="1300" dirty="0">
                <a:solidFill>
                  <a:srgbClr val="5B6470"/>
                </a:solidFill>
                <a:latin typeface="Calibri" pitchFamily="34" charset="0"/>
                <a:ea typeface="Calibri" pitchFamily="34" charset="-122"/>
                <a:cs typeface="Calibri" pitchFamily="34" charset="-120"/>
              </a:rPr>
              <a:t>Loss = one number for the error. Lower is better.</a:t>
            </a:r>
            <a:endParaRPr lang="en-US" sz="1600" dirty="0"/>
          </a:p>
        </p:txBody>
      </p:sp>
      <p:sp>
        <p:nvSpPr>
          <p:cNvPr id="13" name="Shape 8"/>
          <p:cNvSpPr/>
          <p:nvPr/>
        </p:nvSpPr>
        <p:spPr>
          <a:xfrm>
            <a:off x="548640" y="4023360"/>
            <a:ext cx="11091672" cy="1554480"/>
          </a:xfrm>
          <a:prstGeom prst="roundRect">
            <a:avLst>
              <a:gd name="adj" fmla="val 4706"/>
            </a:avLst>
          </a:prstGeom>
          <a:solidFill>
            <a:srgbClr val="EAF2FB"/>
          </a:solidFill>
          <a:ln/>
        </p:spPr>
      </p:sp>
      <p:sp>
        <p:nvSpPr>
          <p:cNvPr id="14" name="Text 9"/>
          <p:cNvSpPr/>
          <p:nvPr/>
        </p:nvSpPr>
        <p:spPr>
          <a:xfrm>
            <a:off x="868680" y="4206240"/>
            <a:ext cx="10424160" cy="1188720"/>
          </a:xfrm>
          <a:prstGeom prst="rect">
            <a:avLst/>
          </a:prstGeom>
          <a:noFill/>
          <a:ln/>
        </p:spPr>
        <p:txBody>
          <a:bodyPr wrap="square" lIns="0" tIns="0" rIns="0" bIns="0" rtlCol="0" anchor="ctr"/>
          <a:lstStyle/>
          <a:p>
            <a:pPr marL="0" indent="0">
              <a:buNone/>
            </a:pPr>
            <a:r>
              <a:rPr lang="en-US" sz="1550" b="1" dirty="0">
                <a:solidFill>
                  <a:srgbClr val="0B5CAD"/>
                </a:solidFill>
                <a:latin typeface="Calibri" pitchFamily="34" charset="0"/>
                <a:ea typeface="Calibri" pitchFamily="34" charset="-122"/>
                <a:cs typeface="Calibri" pitchFamily="34" charset="-120"/>
              </a:rPr>
              <a:t>Training in one sentence: </a:t>
            </a:r>
            <a:r>
              <a:rPr lang="en-US" sz="1550" dirty="0">
                <a:solidFill>
                  <a:srgbClr val="1A2733"/>
                </a:solidFill>
                <a:latin typeface="Calibri" pitchFamily="34" charset="0"/>
                <a:ea typeface="Calibri" pitchFamily="34" charset="-122"/>
                <a:cs typeface="Calibri" pitchFamily="34" charset="-120"/>
              </a:rPr>
              <a:t>the network makes millions of guesses, measures the loss each time, and slowly adjusts its weights to push the loss down. When the loss stops falling, it has learned what it can.</a:t>
            </a:r>
            <a:endParaRPr lang="en-US" sz="1550" dirty="0"/>
          </a:p>
        </p:txBody>
      </p:sp>
      <p:sp>
        <p:nvSpPr>
          <p:cNvPr id="15" name="Text 10"/>
          <p:cNvSpPr/>
          <p:nvPr/>
        </p:nvSpPr>
        <p:spPr>
          <a:xfrm>
            <a:off x="548640" y="6473952"/>
            <a:ext cx="11091672" cy="274320"/>
          </a:xfrm>
          <a:prstGeom prst="rect">
            <a:avLst/>
          </a:prstGeom>
          <a:noFill/>
          <a:ln/>
        </p:spPr>
        <p:txBody>
          <a:bodyPr wrap="square" lIns="0" tIns="0" rIns="0" bIns="0" rtlCol="0" anchor="ctr"/>
          <a:lstStyle/>
          <a:p>
            <a:pPr marL="0" indent="0">
              <a:buNone/>
            </a:pPr>
            <a:r>
              <a:rPr lang="en-US" sz="900" dirty="0">
                <a:solidFill>
                  <a:srgbClr val="5B6470"/>
                </a:solidFill>
                <a:latin typeface="Calibri" pitchFamily="34" charset="0"/>
                <a:ea typeface="Calibri" pitchFamily="34" charset="-122"/>
                <a:cs typeface="Calibri" pitchFamily="34" charset="-120"/>
              </a:rPr>
              <a:t>Digital Communication &amp; Emerging Technologies · NCCU ISS 2026 · Day 2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292608"/>
            <a:ext cx="11091672" cy="658368"/>
          </a:xfrm>
          <a:prstGeom prst="rect">
            <a:avLst/>
          </a:prstGeom>
          <a:noFill/>
          <a:ln/>
        </p:spPr>
        <p:txBody>
          <a:bodyPr wrap="square" lIns="0" tIns="0" rIns="0" bIns="0" rtlCol="0" anchor="ctr"/>
          <a:lstStyle/>
          <a:p>
            <a:pPr marL="0" indent="0">
              <a:buNone/>
            </a:pPr>
            <a:r>
              <a:rPr lang="en-US" sz="3100" b="1" dirty="0">
                <a:solidFill>
                  <a:srgbClr val="1A2733"/>
                </a:solidFill>
                <a:latin typeface="Cambria" pitchFamily="34" charset="0"/>
                <a:ea typeface="Cambria" pitchFamily="34" charset="-122"/>
                <a:cs typeface="Cambria" pitchFamily="34" charset="-120"/>
              </a:rPr>
              <a:t>Step 2: walk downhill (gradient descent)</a:t>
            </a:r>
            <a:endParaRPr lang="en-US" sz="3100" dirty="0"/>
          </a:p>
        </p:txBody>
      </p:sp>
      <p:sp>
        <p:nvSpPr>
          <p:cNvPr id="3" name="Text 1"/>
          <p:cNvSpPr/>
          <p:nvPr/>
        </p:nvSpPr>
        <p:spPr>
          <a:xfrm>
            <a:off x="548640" y="896112"/>
            <a:ext cx="11091672" cy="365760"/>
          </a:xfrm>
          <a:prstGeom prst="rect">
            <a:avLst/>
          </a:prstGeom>
          <a:noFill/>
          <a:ln/>
        </p:spPr>
        <p:txBody>
          <a:bodyPr wrap="square" lIns="0" tIns="0" rIns="0" bIns="0" rtlCol="0" anchor="ctr"/>
          <a:lstStyle/>
          <a:p>
            <a:pPr marL="0" indent="0">
              <a:buNone/>
            </a:pPr>
            <a:r>
              <a:rPr lang="en-US" sz="1500" i="1" dirty="0">
                <a:solidFill>
                  <a:srgbClr val="5B6470"/>
                </a:solidFill>
                <a:latin typeface="Calibri" pitchFamily="34" charset="0"/>
                <a:ea typeface="Calibri" pitchFamily="34" charset="-122"/>
                <a:cs typeface="Calibri" pitchFamily="34" charset="-120"/>
              </a:rPr>
              <a:t>Finding the weights that make the loss smallest</a:t>
            </a:r>
            <a:endParaRPr lang="en-US" sz="1500" dirty="0"/>
          </a:p>
        </p:txBody>
      </p:sp>
      <p:sp>
        <p:nvSpPr>
          <p:cNvPr id="4" name="Shape 2"/>
          <p:cNvSpPr/>
          <p:nvPr/>
        </p:nvSpPr>
        <p:spPr>
          <a:xfrm>
            <a:off x="822960" y="1986077"/>
            <a:ext cx="141732" cy="278874"/>
          </a:xfrm>
          <a:prstGeom prst="line">
            <a:avLst/>
          </a:prstGeom>
          <a:noFill/>
          <a:ln w="31750">
            <a:solidFill>
              <a:srgbClr val="0B5CAD"/>
            </a:solidFill>
            <a:prstDash val="solid"/>
          </a:ln>
        </p:spPr>
      </p:sp>
      <p:sp>
        <p:nvSpPr>
          <p:cNvPr id="5" name="Shape 3"/>
          <p:cNvSpPr/>
          <p:nvPr/>
        </p:nvSpPr>
        <p:spPr>
          <a:xfrm>
            <a:off x="964692" y="2264951"/>
            <a:ext cx="141732" cy="264572"/>
          </a:xfrm>
          <a:prstGeom prst="line">
            <a:avLst/>
          </a:prstGeom>
          <a:noFill/>
          <a:ln w="31750">
            <a:solidFill>
              <a:srgbClr val="0B5CAD"/>
            </a:solidFill>
            <a:prstDash val="solid"/>
          </a:ln>
        </p:spPr>
      </p:sp>
      <p:sp>
        <p:nvSpPr>
          <p:cNvPr id="6" name="Shape 4"/>
          <p:cNvSpPr/>
          <p:nvPr/>
        </p:nvSpPr>
        <p:spPr>
          <a:xfrm>
            <a:off x="1106424" y="2529523"/>
            <a:ext cx="141732" cy="250271"/>
          </a:xfrm>
          <a:prstGeom prst="line">
            <a:avLst/>
          </a:prstGeom>
          <a:noFill/>
          <a:ln w="31750">
            <a:solidFill>
              <a:srgbClr val="0B5CAD"/>
            </a:solidFill>
            <a:prstDash val="solid"/>
          </a:ln>
        </p:spPr>
      </p:sp>
      <p:sp>
        <p:nvSpPr>
          <p:cNvPr id="7" name="Shape 5"/>
          <p:cNvSpPr/>
          <p:nvPr/>
        </p:nvSpPr>
        <p:spPr>
          <a:xfrm>
            <a:off x="1248156" y="2779794"/>
            <a:ext cx="141732" cy="235970"/>
          </a:xfrm>
          <a:prstGeom prst="line">
            <a:avLst/>
          </a:prstGeom>
          <a:noFill/>
          <a:ln w="31750">
            <a:solidFill>
              <a:srgbClr val="0B5CAD"/>
            </a:solidFill>
            <a:prstDash val="solid"/>
          </a:ln>
        </p:spPr>
      </p:sp>
      <p:sp>
        <p:nvSpPr>
          <p:cNvPr id="8" name="Shape 6"/>
          <p:cNvSpPr/>
          <p:nvPr/>
        </p:nvSpPr>
        <p:spPr>
          <a:xfrm>
            <a:off x="1389888" y="3015764"/>
            <a:ext cx="141732" cy="221669"/>
          </a:xfrm>
          <a:prstGeom prst="line">
            <a:avLst/>
          </a:prstGeom>
          <a:noFill/>
          <a:ln w="31750">
            <a:solidFill>
              <a:srgbClr val="0B5CAD"/>
            </a:solidFill>
            <a:prstDash val="solid"/>
          </a:ln>
        </p:spPr>
      </p:sp>
      <p:sp>
        <p:nvSpPr>
          <p:cNvPr id="9" name="Shape 7"/>
          <p:cNvSpPr/>
          <p:nvPr/>
        </p:nvSpPr>
        <p:spPr>
          <a:xfrm>
            <a:off x="1531620" y="3237433"/>
            <a:ext cx="141732" cy="207368"/>
          </a:xfrm>
          <a:prstGeom prst="line">
            <a:avLst/>
          </a:prstGeom>
          <a:noFill/>
          <a:ln w="31750">
            <a:solidFill>
              <a:srgbClr val="0B5CAD"/>
            </a:solidFill>
            <a:prstDash val="solid"/>
          </a:ln>
        </p:spPr>
      </p:sp>
      <p:sp>
        <p:nvSpPr>
          <p:cNvPr id="10" name="Shape 8"/>
          <p:cNvSpPr/>
          <p:nvPr/>
        </p:nvSpPr>
        <p:spPr>
          <a:xfrm>
            <a:off x="1673352" y="3444801"/>
            <a:ext cx="141732" cy="193066"/>
          </a:xfrm>
          <a:prstGeom prst="line">
            <a:avLst/>
          </a:prstGeom>
          <a:noFill/>
          <a:ln w="31750">
            <a:solidFill>
              <a:srgbClr val="0B5CAD"/>
            </a:solidFill>
            <a:prstDash val="solid"/>
          </a:ln>
        </p:spPr>
      </p:sp>
      <p:sp>
        <p:nvSpPr>
          <p:cNvPr id="11" name="Shape 9"/>
          <p:cNvSpPr/>
          <p:nvPr/>
        </p:nvSpPr>
        <p:spPr>
          <a:xfrm>
            <a:off x="1815084" y="3637867"/>
            <a:ext cx="141732" cy="178765"/>
          </a:xfrm>
          <a:prstGeom prst="line">
            <a:avLst/>
          </a:prstGeom>
          <a:noFill/>
          <a:ln w="31750">
            <a:solidFill>
              <a:srgbClr val="0B5CAD"/>
            </a:solidFill>
            <a:prstDash val="solid"/>
          </a:ln>
        </p:spPr>
      </p:sp>
      <p:sp>
        <p:nvSpPr>
          <p:cNvPr id="12" name="Shape 10"/>
          <p:cNvSpPr/>
          <p:nvPr/>
        </p:nvSpPr>
        <p:spPr>
          <a:xfrm>
            <a:off x="1956816" y="3816632"/>
            <a:ext cx="141732" cy="164464"/>
          </a:xfrm>
          <a:prstGeom prst="line">
            <a:avLst/>
          </a:prstGeom>
          <a:noFill/>
          <a:ln w="31750">
            <a:solidFill>
              <a:srgbClr val="0B5CAD"/>
            </a:solidFill>
            <a:prstDash val="solid"/>
          </a:ln>
        </p:spPr>
      </p:sp>
      <p:sp>
        <p:nvSpPr>
          <p:cNvPr id="13" name="Shape 11"/>
          <p:cNvSpPr/>
          <p:nvPr/>
        </p:nvSpPr>
        <p:spPr>
          <a:xfrm>
            <a:off x="2098548" y="3981096"/>
            <a:ext cx="141732" cy="150163"/>
          </a:xfrm>
          <a:prstGeom prst="line">
            <a:avLst/>
          </a:prstGeom>
          <a:noFill/>
          <a:ln w="31750">
            <a:solidFill>
              <a:srgbClr val="0B5CAD"/>
            </a:solidFill>
            <a:prstDash val="solid"/>
          </a:ln>
        </p:spPr>
      </p:sp>
      <p:sp>
        <p:nvSpPr>
          <p:cNvPr id="14" name="Shape 12"/>
          <p:cNvSpPr/>
          <p:nvPr/>
        </p:nvSpPr>
        <p:spPr>
          <a:xfrm>
            <a:off x="2240280" y="4131259"/>
            <a:ext cx="141732" cy="135862"/>
          </a:xfrm>
          <a:prstGeom prst="line">
            <a:avLst/>
          </a:prstGeom>
          <a:noFill/>
          <a:ln w="31750">
            <a:solidFill>
              <a:srgbClr val="0B5CAD"/>
            </a:solidFill>
            <a:prstDash val="solid"/>
          </a:ln>
        </p:spPr>
      </p:sp>
      <p:sp>
        <p:nvSpPr>
          <p:cNvPr id="15" name="Shape 13"/>
          <p:cNvSpPr/>
          <p:nvPr/>
        </p:nvSpPr>
        <p:spPr>
          <a:xfrm>
            <a:off x="2382012" y="4267121"/>
            <a:ext cx="141732" cy="121560"/>
          </a:xfrm>
          <a:prstGeom prst="line">
            <a:avLst/>
          </a:prstGeom>
          <a:noFill/>
          <a:ln w="31750">
            <a:solidFill>
              <a:srgbClr val="0B5CAD"/>
            </a:solidFill>
            <a:prstDash val="solid"/>
          </a:ln>
        </p:spPr>
      </p:sp>
      <p:sp>
        <p:nvSpPr>
          <p:cNvPr id="16" name="Shape 14"/>
          <p:cNvSpPr/>
          <p:nvPr/>
        </p:nvSpPr>
        <p:spPr>
          <a:xfrm>
            <a:off x="2523744" y="4388681"/>
            <a:ext cx="141732" cy="107259"/>
          </a:xfrm>
          <a:prstGeom prst="line">
            <a:avLst/>
          </a:prstGeom>
          <a:noFill/>
          <a:ln w="31750">
            <a:solidFill>
              <a:srgbClr val="0B5CAD"/>
            </a:solidFill>
            <a:prstDash val="solid"/>
          </a:ln>
        </p:spPr>
      </p:sp>
      <p:sp>
        <p:nvSpPr>
          <p:cNvPr id="17" name="Shape 15"/>
          <p:cNvSpPr/>
          <p:nvPr/>
        </p:nvSpPr>
        <p:spPr>
          <a:xfrm>
            <a:off x="2665476" y="4495940"/>
            <a:ext cx="141732" cy="92958"/>
          </a:xfrm>
          <a:prstGeom prst="line">
            <a:avLst/>
          </a:prstGeom>
          <a:noFill/>
          <a:ln w="31750">
            <a:solidFill>
              <a:srgbClr val="0B5CAD"/>
            </a:solidFill>
            <a:prstDash val="solid"/>
          </a:ln>
        </p:spPr>
      </p:sp>
      <p:sp>
        <p:nvSpPr>
          <p:cNvPr id="18" name="Shape 16"/>
          <p:cNvSpPr/>
          <p:nvPr/>
        </p:nvSpPr>
        <p:spPr>
          <a:xfrm>
            <a:off x="2807208" y="4588898"/>
            <a:ext cx="141732" cy="78657"/>
          </a:xfrm>
          <a:prstGeom prst="line">
            <a:avLst/>
          </a:prstGeom>
          <a:noFill/>
          <a:ln w="31750">
            <a:solidFill>
              <a:srgbClr val="0B5CAD"/>
            </a:solidFill>
            <a:prstDash val="solid"/>
          </a:ln>
        </p:spPr>
      </p:sp>
      <p:sp>
        <p:nvSpPr>
          <p:cNvPr id="19" name="Shape 17"/>
          <p:cNvSpPr/>
          <p:nvPr/>
        </p:nvSpPr>
        <p:spPr>
          <a:xfrm>
            <a:off x="2948940" y="4667555"/>
            <a:ext cx="141732" cy="64355"/>
          </a:xfrm>
          <a:prstGeom prst="line">
            <a:avLst/>
          </a:prstGeom>
          <a:noFill/>
          <a:ln w="31750">
            <a:solidFill>
              <a:srgbClr val="0B5CAD"/>
            </a:solidFill>
            <a:prstDash val="solid"/>
          </a:ln>
        </p:spPr>
      </p:sp>
      <p:sp>
        <p:nvSpPr>
          <p:cNvPr id="20" name="Shape 18"/>
          <p:cNvSpPr/>
          <p:nvPr/>
        </p:nvSpPr>
        <p:spPr>
          <a:xfrm>
            <a:off x="3090672" y="4731910"/>
            <a:ext cx="141732" cy="50054"/>
          </a:xfrm>
          <a:prstGeom prst="line">
            <a:avLst/>
          </a:prstGeom>
          <a:noFill/>
          <a:ln w="31750">
            <a:solidFill>
              <a:srgbClr val="0B5CAD"/>
            </a:solidFill>
            <a:prstDash val="solid"/>
          </a:ln>
        </p:spPr>
      </p:sp>
      <p:sp>
        <p:nvSpPr>
          <p:cNvPr id="21" name="Shape 19"/>
          <p:cNvSpPr/>
          <p:nvPr/>
        </p:nvSpPr>
        <p:spPr>
          <a:xfrm>
            <a:off x="3232404" y="4781965"/>
            <a:ext cx="141732" cy="35753"/>
          </a:xfrm>
          <a:prstGeom prst="line">
            <a:avLst/>
          </a:prstGeom>
          <a:noFill/>
          <a:ln w="31750">
            <a:solidFill>
              <a:srgbClr val="0B5CAD"/>
            </a:solidFill>
            <a:prstDash val="solid"/>
          </a:ln>
        </p:spPr>
      </p:sp>
      <p:sp>
        <p:nvSpPr>
          <p:cNvPr id="22" name="Shape 20"/>
          <p:cNvSpPr/>
          <p:nvPr/>
        </p:nvSpPr>
        <p:spPr>
          <a:xfrm>
            <a:off x="3374136" y="4817718"/>
            <a:ext cx="141732" cy="21452"/>
          </a:xfrm>
          <a:prstGeom prst="line">
            <a:avLst/>
          </a:prstGeom>
          <a:noFill/>
          <a:ln w="31750">
            <a:solidFill>
              <a:srgbClr val="0B5CAD"/>
            </a:solidFill>
            <a:prstDash val="solid"/>
          </a:ln>
        </p:spPr>
      </p:sp>
      <p:sp>
        <p:nvSpPr>
          <p:cNvPr id="23" name="Shape 21"/>
          <p:cNvSpPr/>
          <p:nvPr/>
        </p:nvSpPr>
        <p:spPr>
          <a:xfrm>
            <a:off x="3515868" y="4839169"/>
            <a:ext cx="141732" cy="7151"/>
          </a:xfrm>
          <a:prstGeom prst="line">
            <a:avLst/>
          </a:prstGeom>
          <a:noFill/>
          <a:ln w="31750">
            <a:solidFill>
              <a:srgbClr val="0B5CAD"/>
            </a:solidFill>
            <a:prstDash val="solid"/>
          </a:ln>
        </p:spPr>
      </p:sp>
      <p:sp>
        <p:nvSpPr>
          <p:cNvPr id="24" name="Shape 22"/>
          <p:cNvSpPr/>
          <p:nvPr/>
        </p:nvSpPr>
        <p:spPr>
          <a:xfrm flipV="1">
            <a:off x="3657600" y="4839169"/>
            <a:ext cx="141732" cy="7151"/>
          </a:xfrm>
          <a:prstGeom prst="line">
            <a:avLst/>
          </a:prstGeom>
          <a:noFill/>
          <a:ln w="31750">
            <a:solidFill>
              <a:srgbClr val="0B5CAD"/>
            </a:solidFill>
            <a:prstDash val="solid"/>
          </a:ln>
        </p:spPr>
      </p:sp>
      <p:sp>
        <p:nvSpPr>
          <p:cNvPr id="25" name="Shape 23"/>
          <p:cNvSpPr/>
          <p:nvPr/>
        </p:nvSpPr>
        <p:spPr>
          <a:xfrm flipV="1">
            <a:off x="3799332" y="4817718"/>
            <a:ext cx="141732" cy="21452"/>
          </a:xfrm>
          <a:prstGeom prst="line">
            <a:avLst/>
          </a:prstGeom>
          <a:noFill/>
          <a:ln w="31750">
            <a:solidFill>
              <a:srgbClr val="0B5CAD"/>
            </a:solidFill>
            <a:prstDash val="solid"/>
          </a:ln>
        </p:spPr>
      </p:sp>
      <p:sp>
        <p:nvSpPr>
          <p:cNvPr id="26" name="Shape 24"/>
          <p:cNvSpPr/>
          <p:nvPr/>
        </p:nvSpPr>
        <p:spPr>
          <a:xfrm flipV="1">
            <a:off x="3941064" y="4781965"/>
            <a:ext cx="141732" cy="35753"/>
          </a:xfrm>
          <a:prstGeom prst="line">
            <a:avLst/>
          </a:prstGeom>
          <a:noFill/>
          <a:ln w="31750">
            <a:solidFill>
              <a:srgbClr val="0B5CAD"/>
            </a:solidFill>
            <a:prstDash val="solid"/>
          </a:ln>
        </p:spPr>
      </p:sp>
      <p:sp>
        <p:nvSpPr>
          <p:cNvPr id="27" name="Shape 25"/>
          <p:cNvSpPr/>
          <p:nvPr/>
        </p:nvSpPr>
        <p:spPr>
          <a:xfrm flipV="1">
            <a:off x="4082796" y="4731910"/>
            <a:ext cx="141732" cy="50054"/>
          </a:xfrm>
          <a:prstGeom prst="line">
            <a:avLst/>
          </a:prstGeom>
          <a:noFill/>
          <a:ln w="31750">
            <a:solidFill>
              <a:srgbClr val="0B5CAD"/>
            </a:solidFill>
            <a:prstDash val="solid"/>
          </a:ln>
        </p:spPr>
      </p:sp>
      <p:sp>
        <p:nvSpPr>
          <p:cNvPr id="28" name="Shape 26"/>
          <p:cNvSpPr/>
          <p:nvPr/>
        </p:nvSpPr>
        <p:spPr>
          <a:xfrm flipV="1">
            <a:off x="4224528" y="4667555"/>
            <a:ext cx="141732" cy="64355"/>
          </a:xfrm>
          <a:prstGeom prst="line">
            <a:avLst/>
          </a:prstGeom>
          <a:noFill/>
          <a:ln w="31750">
            <a:solidFill>
              <a:srgbClr val="0B5CAD"/>
            </a:solidFill>
            <a:prstDash val="solid"/>
          </a:ln>
        </p:spPr>
      </p:sp>
      <p:sp>
        <p:nvSpPr>
          <p:cNvPr id="29" name="Shape 27"/>
          <p:cNvSpPr/>
          <p:nvPr/>
        </p:nvSpPr>
        <p:spPr>
          <a:xfrm flipV="1">
            <a:off x="4366260" y="4588898"/>
            <a:ext cx="141732" cy="78657"/>
          </a:xfrm>
          <a:prstGeom prst="line">
            <a:avLst/>
          </a:prstGeom>
          <a:noFill/>
          <a:ln w="31750">
            <a:solidFill>
              <a:srgbClr val="0B5CAD"/>
            </a:solidFill>
            <a:prstDash val="solid"/>
          </a:ln>
        </p:spPr>
      </p:sp>
      <p:sp>
        <p:nvSpPr>
          <p:cNvPr id="30" name="Shape 28"/>
          <p:cNvSpPr/>
          <p:nvPr/>
        </p:nvSpPr>
        <p:spPr>
          <a:xfrm flipV="1">
            <a:off x="4507992" y="4495940"/>
            <a:ext cx="141732" cy="92958"/>
          </a:xfrm>
          <a:prstGeom prst="line">
            <a:avLst/>
          </a:prstGeom>
          <a:noFill/>
          <a:ln w="31750">
            <a:solidFill>
              <a:srgbClr val="0B5CAD"/>
            </a:solidFill>
            <a:prstDash val="solid"/>
          </a:ln>
        </p:spPr>
      </p:sp>
      <p:sp>
        <p:nvSpPr>
          <p:cNvPr id="31" name="Shape 29"/>
          <p:cNvSpPr/>
          <p:nvPr/>
        </p:nvSpPr>
        <p:spPr>
          <a:xfrm flipV="1">
            <a:off x="4649724" y="4388681"/>
            <a:ext cx="141732" cy="107259"/>
          </a:xfrm>
          <a:prstGeom prst="line">
            <a:avLst/>
          </a:prstGeom>
          <a:noFill/>
          <a:ln w="31750">
            <a:solidFill>
              <a:srgbClr val="0B5CAD"/>
            </a:solidFill>
            <a:prstDash val="solid"/>
          </a:ln>
        </p:spPr>
      </p:sp>
      <p:sp>
        <p:nvSpPr>
          <p:cNvPr id="32" name="Shape 30"/>
          <p:cNvSpPr/>
          <p:nvPr/>
        </p:nvSpPr>
        <p:spPr>
          <a:xfrm flipV="1">
            <a:off x="4791456" y="4267121"/>
            <a:ext cx="141732" cy="121560"/>
          </a:xfrm>
          <a:prstGeom prst="line">
            <a:avLst/>
          </a:prstGeom>
          <a:noFill/>
          <a:ln w="31750">
            <a:solidFill>
              <a:srgbClr val="0B5CAD"/>
            </a:solidFill>
            <a:prstDash val="solid"/>
          </a:ln>
        </p:spPr>
      </p:sp>
      <p:sp>
        <p:nvSpPr>
          <p:cNvPr id="33" name="Shape 31"/>
          <p:cNvSpPr/>
          <p:nvPr/>
        </p:nvSpPr>
        <p:spPr>
          <a:xfrm flipV="1">
            <a:off x="4933188" y="4131259"/>
            <a:ext cx="141732" cy="135862"/>
          </a:xfrm>
          <a:prstGeom prst="line">
            <a:avLst/>
          </a:prstGeom>
          <a:noFill/>
          <a:ln w="31750">
            <a:solidFill>
              <a:srgbClr val="0B5CAD"/>
            </a:solidFill>
            <a:prstDash val="solid"/>
          </a:ln>
        </p:spPr>
      </p:sp>
      <p:sp>
        <p:nvSpPr>
          <p:cNvPr id="34" name="Shape 32"/>
          <p:cNvSpPr/>
          <p:nvPr/>
        </p:nvSpPr>
        <p:spPr>
          <a:xfrm flipV="1">
            <a:off x="5074920" y="3981096"/>
            <a:ext cx="141732" cy="150163"/>
          </a:xfrm>
          <a:prstGeom prst="line">
            <a:avLst/>
          </a:prstGeom>
          <a:noFill/>
          <a:ln w="31750">
            <a:solidFill>
              <a:srgbClr val="0B5CAD"/>
            </a:solidFill>
            <a:prstDash val="solid"/>
          </a:ln>
        </p:spPr>
      </p:sp>
      <p:sp>
        <p:nvSpPr>
          <p:cNvPr id="35" name="Shape 33"/>
          <p:cNvSpPr/>
          <p:nvPr/>
        </p:nvSpPr>
        <p:spPr>
          <a:xfrm flipV="1">
            <a:off x="5216652" y="3816632"/>
            <a:ext cx="141732" cy="164464"/>
          </a:xfrm>
          <a:prstGeom prst="line">
            <a:avLst/>
          </a:prstGeom>
          <a:noFill/>
          <a:ln w="31750">
            <a:solidFill>
              <a:srgbClr val="0B5CAD"/>
            </a:solidFill>
            <a:prstDash val="solid"/>
          </a:ln>
        </p:spPr>
      </p:sp>
      <p:sp>
        <p:nvSpPr>
          <p:cNvPr id="36" name="Shape 34"/>
          <p:cNvSpPr/>
          <p:nvPr/>
        </p:nvSpPr>
        <p:spPr>
          <a:xfrm flipV="1">
            <a:off x="5358384" y="3637867"/>
            <a:ext cx="141732" cy="178765"/>
          </a:xfrm>
          <a:prstGeom prst="line">
            <a:avLst/>
          </a:prstGeom>
          <a:noFill/>
          <a:ln w="31750">
            <a:solidFill>
              <a:srgbClr val="0B5CAD"/>
            </a:solidFill>
            <a:prstDash val="solid"/>
          </a:ln>
        </p:spPr>
      </p:sp>
      <p:sp>
        <p:nvSpPr>
          <p:cNvPr id="37" name="Shape 35"/>
          <p:cNvSpPr/>
          <p:nvPr/>
        </p:nvSpPr>
        <p:spPr>
          <a:xfrm flipV="1">
            <a:off x="5500116" y="3444801"/>
            <a:ext cx="141732" cy="193066"/>
          </a:xfrm>
          <a:prstGeom prst="line">
            <a:avLst/>
          </a:prstGeom>
          <a:noFill/>
          <a:ln w="31750">
            <a:solidFill>
              <a:srgbClr val="0B5CAD"/>
            </a:solidFill>
            <a:prstDash val="solid"/>
          </a:ln>
        </p:spPr>
      </p:sp>
      <p:sp>
        <p:nvSpPr>
          <p:cNvPr id="38" name="Shape 36"/>
          <p:cNvSpPr/>
          <p:nvPr/>
        </p:nvSpPr>
        <p:spPr>
          <a:xfrm flipV="1">
            <a:off x="5641848" y="3237433"/>
            <a:ext cx="141732" cy="207368"/>
          </a:xfrm>
          <a:prstGeom prst="line">
            <a:avLst/>
          </a:prstGeom>
          <a:noFill/>
          <a:ln w="31750">
            <a:solidFill>
              <a:srgbClr val="0B5CAD"/>
            </a:solidFill>
            <a:prstDash val="solid"/>
          </a:ln>
        </p:spPr>
      </p:sp>
      <p:sp>
        <p:nvSpPr>
          <p:cNvPr id="39" name="Shape 37"/>
          <p:cNvSpPr/>
          <p:nvPr/>
        </p:nvSpPr>
        <p:spPr>
          <a:xfrm flipV="1">
            <a:off x="5783580" y="3015764"/>
            <a:ext cx="141732" cy="221669"/>
          </a:xfrm>
          <a:prstGeom prst="line">
            <a:avLst/>
          </a:prstGeom>
          <a:noFill/>
          <a:ln w="31750">
            <a:solidFill>
              <a:srgbClr val="0B5CAD"/>
            </a:solidFill>
            <a:prstDash val="solid"/>
          </a:ln>
        </p:spPr>
      </p:sp>
      <p:sp>
        <p:nvSpPr>
          <p:cNvPr id="40" name="Shape 38"/>
          <p:cNvSpPr/>
          <p:nvPr/>
        </p:nvSpPr>
        <p:spPr>
          <a:xfrm flipV="1">
            <a:off x="5925312" y="2779794"/>
            <a:ext cx="141732" cy="235970"/>
          </a:xfrm>
          <a:prstGeom prst="line">
            <a:avLst/>
          </a:prstGeom>
          <a:noFill/>
          <a:ln w="31750">
            <a:solidFill>
              <a:srgbClr val="0B5CAD"/>
            </a:solidFill>
            <a:prstDash val="solid"/>
          </a:ln>
        </p:spPr>
      </p:sp>
      <p:sp>
        <p:nvSpPr>
          <p:cNvPr id="41" name="Shape 39"/>
          <p:cNvSpPr/>
          <p:nvPr/>
        </p:nvSpPr>
        <p:spPr>
          <a:xfrm flipV="1">
            <a:off x="6067044" y="2529523"/>
            <a:ext cx="141732" cy="250271"/>
          </a:xfrm>
          <a:prstGeom prst="line">
            <a:avLst/>
          </a:prstGeom>
          <a:noFill/>
          <a:ln w="31750">
            <a:solidFill>
              <a:srgbClr val="0B5CAD"/>
            </a:solidFill>
            <a:prstDash val="solid"/>
          </a:ln>
        </p:spPr>
      </p:sp>
      <p:sp>
        <p:nvSpPr>
          <p:cNvPr id="42" name="Shape 40"/>
          <p:cNvSpPr/>
          <p:nvPr/>
        </p:nvSpPr>
        <p:spPr>
          <a:xfrm flipV="1">
            <a:off x="6208776" y="2264951"/>
            <a:ext cx="141732" cy="264572"/>
          </a:xfrm>
          <a:prstGeom prst="line">
            <a:avLst/>
          </a:prstGeom>
          <a:noFill/>
          <a:ln w="31750">
            <a:solidFill>
              <a:srgbClr val="0B5CAD"/>
            </a:solidFill>
            <a:prstDash val="solid"/>
          </a:ln>
        </p:spPr>
      </p:sp>
      <p:sp>
        <p:nvSpPr>
          <p:cNvPr id="43" name="Shape 41"/>
          <p:cNvSpPr/>
          <p:nvPr/>
        </p:nvSpPr>
        <p:spPr>
          <a:xfrm flipV="1">
            <a:off x="6350508" y="1986077"/>
            <a:ext cx="141732" cy="278874"/>
          </a:xfrm>
          <a:prstGeom prst="line">
            <a:avLst/>
          </a:prstGeom>
          <a:noFill/>
          <a:ln w="31750">
            <a:solidFill>
              <a:srgbClr val="0B5CAD"/>
            </a:solidFill>
            <a:prstDash val="solid"/>
          </a:ln>
        </p:spPr>
      </p:sp>
      <p:sp>
        <p:nvSpPr>
          <p:cNvPr id="44" name="Shape 42"/>
          <p:cNvSpPr/>
          <p:nvPr/>
        </p:nvSpPr>
        <p:spPr>
          <a:xfrm>
            <a:off x="1384402" y="2956500"/>
            <a:ext cx="237744" cy="237744"/>
          </a:xfrm>
          <a:prstGeom prst="ellipse">
            <a:avLst/>
          </a:prstGeom>
          <a:solidFill>
            <a:srgbClr val="9DB4C8"/>
          </a:solidFill>
          <a:ln/>
        </p:spPr>
      </p:sp>
      <p:sp>
        <p:nvSpPr>
          <p:cNvPr id="45" name="Text 43"/>
          <p:cNvSpPr/>
          <p:nvPr/>
        </p:nvSpPr>
        <p:spPr>
          <a:xfrm>
            <a:off x="1046074" y="3212532"/>
            <a:ext cx="914400" cy="274320"/>
          </a:xfrm>
          <a:prstGeom prst="rect">
            <a:avLst/>
          </a:prstGeom>
          <a:noFill/>
          <a:ln/>
        </p:spPr>
        <p:txBody>
          <a:bodyPr wrap="square" lIns="0" tIns="0" rIns="0" bIns="0" rtlCol="0" anchor="ctr"/>
          <a:lstStyle/>
          <a:p>
            <a:pPr marL="0" indent="0" algn="ctr">
              <a:buNone/>
            </a:pPr>
            <a:r>
              <a:rPr lang="en-US" sz="1000" b="1" dirty="0">
                <a:solidFill>
                  <a:srgbClr val="5B6470"/>
                </a:solidFill>
                <a:latin typeface="Calibri" pitchFamily="34" charset="0"/>
                <a:ea typeface="Calibri" pitchFamily="34" charset="-122"/>
                <a:cs typeface="Calibri" pitchFamily="34" charset="-120"/>
              </a:rPr>
              <a:t>start</a:t>
            </a:r>
            <a:endParaRPr lang="en-US" sz="1000" dirty="0"/>
          </a:p>
        </p:txBody>
      </p:sp>
      <p:sp>
        <p:nvSpPr>
          <p:cNvPr id="46" name="Shape 44"/>
          <p:cNvSpPr/>
          <p:nvPr/>
        </p:nvSpPr>
        <p:spPr>
          <a:xfrm>
            <a:off x="2291486" y="4054833"/>
            <a:ext cx="237744" cy="237744"/>
          </a:xfrm>
          <a:prstGeom prst="ellipse">
            <a:avLst/>
          </a:prstGeom>
          <a:solidFill>
            <a:srgbClr val="9DB4C8"/>
          </a:solidFill>
          <a:ln/>
        </p:spPr>
      </p:sp>
      <p:sp>
        <p:nvSpPr>
          <p:cNvPr id="47" name="Shape 45"/>
          <p:cNvSpPr/>
          <p:nvPr/>
        </p:nvSpPr>
        <p:spPr>
          <a:xfrm>
            <a:off x="3538728" y="4608576"/>
            <a:ext cx="237744" cy="237744"/>
          </a:xfrm>
          <a:prstGeom prst="ellipse">
            <a:avLst/>
          </a:prstGeom>
          <a:solidFill>
            <a:srgbClr val="E8A33D"/>
          </a:solidFill>
          <a:ln/>
        </p:spPr>
      </p:sp>
      <p:sp>
        <p:nvSpPr>
          <p:cNvPr id="48" name="Text 46"/>
          <p:cNvSpPr/>
          <p:nvPr/>
        </p:nvSpPr>
        <p:spPr>
          <a:xfrm>
            <a:off x="3200400" y="4864608"/>
            <a:ext cx="914400" cy="274320"/>
          </a:xfrm>
          <a:prstGeom prst="rect">
            <a:avLst/>
          </a:prstGeom>
          <a:noFill/>
          <a:ln/>
        </p:spPr>
        <p:txBody>
          <a:bodyPr wrap="square" lIns="0" tIns="0" rIns="0" bIns="0" rtlCol="0" anchor="ctr"/>
          <a:lstStyle/>
          <a:p>
            <a:pPr marL="0" indent="0" algn="ctr">
              <a:buNone/>
            </a:pPr>
            <a:r>
              <a:rPr lang="en-US" sz="1000" b="1" dirty="0">
                <a:solidFill>
                  <a:srgbClr val="B87614"/>
                </a:solidFill>
                <a:latin typeface="Calibri" pitchFamily="34" charset="0"/>
                <a:ea typeface="Calibri" pitchFamily="34" charset="-122"/>
                <a:cs typeface="Calibri" pitchFamily="34" charset="-120"/>
              </a:rPr>
              <a:t>min</a:t>
            </a:r>
            <a:endParaRPr lang="en-US" sz="1000" dirty="0"/>
          </a:p>
        </p:txBody>
      </p:sp>
      <p:sp>
        <p:nvSpPr>
          <p:cNvPr id="49" name="Text 47"/>
          <p:cNvSpPr/>
          <p:nvPr/>
        </p:nvSpPr>
        <p:spPr>
          <a:xfrm>
            <a:off x="777240" y="1508760"/>
            <a:ext cx="914400" cy="274320"/>
          </a:xfrm>
          <a:prstGeom prst="rect">
            <a:avLst/>
          </a:prstGeom>
          <a:noFill/>
          <a:ln/>
        </p:spPr>
        <p:txBody>
          <a:bodyPr wrap="square" lIns="0" tIns="0" rIns="0" bIns="0" rtlCol="0" anchor="ctr"/>
          <a:lstStyle/>
          <a:p>
            <a:pPr marL="0" indent="0">
              <a:buNone/>
            </a:pPr>
            <a:r>
              <a:rPr lang="en-US" sz="1100" dirty="0">
                <a:solidFill>
                  <a:srgbClr val="5B6470"/>
                </a:solidFill>
                <a:latin typeface="Calibri" pitchFamily="34" charset="0"/>
                <a:ea typeface="Calibri" pitchFamily="34" charset="-122"/>
                <a:cs typeface="Calibri" pitchFamily="34" charset="-120"/>
              </a:rPr>
              <a:t>loss</a:t>
            </a:r>
            <a:endParaRPr lang="en-US" sz="1100" dirty="0"/>
          </a:p>
        </p:txBody>
      </p:sp>
      <p:sp>
        <p:nvSpPr>
          <p:cNvPr id="50" name="Text 48"/>
          <p:cNvSpPr/>
          <p:nvPr/>
        </p:nvSpPr>
        <p:spPr>
          <a:xfrm>
            <a:off x="5303520" y="4892040"/>
            <a:ext cx="1371600" cy="274320"/>
          </a:xfrm>
          <a:prstGeom prst="rect">
            <a:avLst/>
          </a:prstGeom>
          <a:noFill/>
          <a:ln/>
        </p:spPr>
        <p:txBody>
          <a:bodyPr wrap="square" lIns="0" tIns="0" rIns="0" bIns="0" rtlCol="0" anchor="ctr"/>
          <a:lstStyle/>
          <a:p>
            <a:pPr marL="0" indent="0">
              <a:buNone/>
            </a:pPr>
            <a:r>
              <a:rPr lang="en-US" sz="1100" dirty="0">
                <a:solidFill>
                  <a:srgbClr val="5B6470"/>
                </a:solidFill>
                <a:latin typeface="Calibri" pitchFamily="34" charset="0"/>
                <a:ea typeface="Calibri" pitchFamily="34" charset="-122"/>
                <a:cs typeface="Calibri" pitchFamily="34" charset="-120"/>
              </a:rPr>
              <a:t>weights →</a:t>
            </a:r>
            <a:endParaRPr lang="en-US" sz="1100" dirty="0"/>
          </a:p>
        </p:txBody>
      </p:sp>
      <p:sp>
        <p:nvSpPr>
          <p:cNvPr id="51" name="Shape 49"/>
          <p:cNvSpPr/>
          <p:nvPr/>
        </p:nvSpPr>
        <p:spPr>
          <a:xfrm>
            <a:off x="6858000" y="1737360"/>
            <a:ext cx="4782312" cy="3200400"/>
          </a:xfrm>
          <a:prstGeom prst="roundRect">
            <a:avLst>
              <a:gd name="adj" fmla="val 2286"/>
            </a:avLst>
          </a:prstGeom>
          <a:solidFill>
            <a:srgbClr val="EAF2FB"/>
          </a:solidFill>
          <a:ln/>
        </p:spPr>
      </p:sp>
      <p:sp>
        <p:nvSpPr>
          <p:cNvPr id="52" name="Text 50"/>
          <p:cNvSpPr/>
          <p:nvPr/>
        </p:nvSpPr>
        <p:spPr>
          <a:xfrm>
            <a:off x="7132320" y="1965960"/>
            <a:ext cx="4251960" cy="2788920"/>
          </a:xfrm>
          <a:prstGeom prst="rect">
            <a:avLst/>
          </a:prstGeom>
          <a:noFill/>
          <a:ln/>
        </p:spPr>
        <p:txBody>
          <a:bodyPr wrap="square" lIns="0" tIns="0" rIns="0" bIns="0" rtlCol="0" anchor="t"/>
          <a:lstStyle/>
          <a:p>
            <a:pPr marL="0" indent="0">
              <a:buNone/>
            </a:pPr>
            <a:r>
              <a:rPr lang="en-US" sz="1500" b="1" dirty="0">
                <a:solidFill>
                  <a:srgbClr val="0B5CAD"/>
                </a:solidFill>
                <a:latin typeface="Calibri" pitchFamily="34" charset="0"/>
                <a:ea typeface="Calibri" pitchFamily="34" charset="-122"/>
                <a:cs typeface="Calibri" pitchFamily="34" charset="-120"/>
              </a:rPr>
              <a:t>Imagine the loss as a valley.
</a:t>
            </a:r>
            <a:r>
              <a:rPr lang="en-US" sz="1400" dirty="0">
                <a:solidFill>
                  <a:srgbClr val="1A2733"/>
                </a:solidFill>
                <a:latin typeface="Calibri" pitchFamily="34" charset="0"/>
                <a:ea typeface="Calibri" pitchFamily="34" charset="-122"/>
                <a:cs typeface="Calibri" pitchFamily="34" charset="-120"/>
              </a:rPr>
              <a:t>The network stands somewhere on the slope and takes a small step downhill, again and again, until it reaches the bottom — the weights with the least error.
</a:t>
            </a:r>
            <a:r>
              <a:rPr lang="en-US" sz="1350" i="1" dirty="0">
                <a:solidFill>
                  <a:srgbClr val="5B6470"/>
                </a:solidFill>
                <a:latin typeface="Calibri" pitchFamily="34" charset="0"/>
                <a:ea typeface="Calibri" pitchFamily="34" charset="-122"/>
                <a:cs typeface="Calibri" pitchFamily="34" charset="-120"/>
              </a:rPr>
              <a:t>Step size = the “learning rate.” Too big and it overshoots; too small and it crawls.</a:t>
            </a:r>
            <a:endParaRPr lang="en-US" sz="1500" dirty="0"/>
          </a:p>
        </p:txBody>
      </p:sp>
      <p:sp>
        <p:nvSpPr>
          <p:cNvPr id="53" name="Text 51"/>
          <p:cNvSpPr/>
          <p:nvPr/>
        </p:nvSpPr>
        <p:spPr>
          <a:xfrm>
            <a:off x="548640" y="5212080"/>
            <a:ext cx="11064240" cy="457200"/>
          </a:xfrm>
          <a:prstGeom prst="rect">
            <a:avLst/>
          </a:prstGeom>
          <a:noFill/>
          <a:ln/>
        </p:spPr>
        <p:txBody>
          <a:bodyPr wrap="square" lIns="0" tIns="0" rIns="0" bIns="0" rtlCol="0" anchor="ctr"/>
          <a:lstStyle/>
          <a:p>
            <a:pPr marL="0" indent="0">
              <a:buNone/>
            </a:pPr>
            <a:r>
              <a:rPr lang="en-US" sz="1300" i="1" dirty="0">
                <a:solidFill>
                  <a:srgbClr val="0B5CAD"/>
                </a:solidFill>
                <a:latin typeface="Calibri" pitchFamily="34" charset="0"/>
                <a:ea typeface="Calibri" pitchFamily="34" charset="-122"/>
                <a:cs typeface="Calibri" pitchFamily="34" charset="-120"/>
              </a:rPr>
              <a:t>The optimizer (Adam, SGD…) is just the strategy for taking those downhill steps efficiently.</a:t>
            </a:r>
            <a:endParaRPr lang="en-US" sz="1300" dirty="0"/>
          </a:p>
        </p:txBody>
      </p:sp>
      <p:sp>
        <p:nvSpPr>
          <p:cNvPr id="54" name="Text 52"/>
          <p:cNvSpPr/>
          <p:nvPr/>
        </p:nvSpPr>
        <p:spPr>
          <a:xfrm>
            <a:off x="548640" y="6473952"/>
            <a:ext cx="11091672" cy="274320"/>
          </a:xfrm>
          <a:prstGeom prst="rect">
            <a:avLst/>
          </a:prstGeom>
          <a:noFill/>
          <a:ln/>
        </p:spPr>
        <p:txBody>
          <a:bodyPr wrap="square" lIns="0" tIns="0" rIns="0" bIns="0" rtlCol="0" anchor="ctr"/>
          <a:lstStyle/>
          <a:p>
            <a:pPr marL="0" indent="0">
              <a:buNone/>
            </a:pPr>
            <a:r>
              <a:rPr lang="en-US" sz="900" dirty="0">
                <a:solidFill>
                  <a:srgbClr val="5B6470"/>
                </a:solidFill>
                <a:latin typeface="Calibri" pitchFamily="34" charset="0"/>
                <a:ea typeface="Calibri" pitchFamily="34" charset="-122"/>
                <a:cs typeface="Calibri" pitchFamily="34" charset="-120"/>
              </a:rPr>
              <a:t>Digital Communication &amp; Emerging Technologies · NCCU ISS 2026 · Day 2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292608"/>
            <a:ext cx="11091672" cy="658368"/>
          </a:xfrm>
          <a:prstGeom prst="rect">
            <a:avLst/>
          </a:prstGeom>
          <a:noFill/>
          <a:ln/>
        </p:spPr>
        <p:txBody>
          <a:bodyPr wrap="square" lIns="0" tIns="0" rIns="0" bIns="0" rtlCol="0" anchor="ctr"/>
          <a:lstStyle/>
          <a:p>
            <a:pPr marL="0" indent="0">
              <a:buNone/>
            </a:pPr>
            <a:r>
              <a:rPr lang="en-US" sz="3100" b="1" dirty="0">
                <a:solidFill>
                  <a:srgbClr val="1A2733"/>
                </a:solidFill>
                <a:latin typeface="Cambria" pitchFamily="34" charset="0"/>
                <a:ea typeface="Cambria" pitchFamily="34" charset="-122"/>
                <a:cs typeface="Cambria" pitchFamily="34" charset="-120"/>
              </a:rPr>
              <a:t>Step size matters: the learning rate</a:t>
            </a:r>
            <a:endParaRPr lang="en-US" sz="3100" dirty="0"/>
          </a:p>
        </p:txBody>
      </p:sp>
      <p:sp>
        <p:nvSpPr>
          <p:cNvPr id="3" name="Text 1"/>
          <p:cNvSpPr/>
          <p:nvPr/>
        </p:nvSpPr>
        <p:spPr>
          <a:xfrm>
            <a:off x="548640" y="896112"/>
            <a:ext cx="11091672" cy="365760"/>
          </a:xfrm>
          <a:prstGeom prst="rect">
            <a:avLst/>
          </a:prstGeom>
          <a:noFill/>
          <a:ln/>
        </p:spPr>
        <p:txBody>
          <a:bodyPr wrap="square" lIns="0" tIns="0" rIns="0" bIns="0" rtlCol="0" anchor="ctr"/>
          <a:lstStyle/>
          <a:p>
            <a:pPr marL="0" indent="0">
              <a:buNone/>
            </a:pPr>
            <a:r>
              <a:rPr lang="en-US" sz="1500" i="1" dirty="0">
                <a:solidFill>
                  <a:srgbClr val="5B6470"/>
                </a:solidFill>
                <a:latin typeface="Calibri" pitchFamily="34" charset="0"/>
                <a:ea typeface="Calibri" pitchFamily="34" charset="-122"/>
                <a:cs typeface="Calibri" pitchFamily="34" charset="-120"/>
              </a:rPr>
              <a:t>How big a step to take downhill each time</a:t>
            </a:r>
            <a:endParaRPr lang="en-US" sz="1500" dirty="0"/>
          </a:p>
        </p:txBody>
      </p:sp>
      <p:sp>
        <p:nvSpPr>
          <p:cNvPr id="4" name="Shape 2"/>
          <p:cNvSpPr/>
          <p:nvPr/>
        </p:nvSpPr>
        <p:spPr>
          <a:xfrm>
            <a:off x="548640" y="1783080"/>
            <a:ext cx="3575304" cy="2468880"/>
          </a:xfrm>
          <a:prstGeom prst="roundRect">
            <a:avLst>
              <a:gd name="adj" fmla="val 2963"/>
            </a:avLst>
          </a:prstGeom>
          <a:solidFill>
            <a:srgbClr val="9DB4C8"/>
          </a:solidFill>
          <a:ln/>
        </p:spPr>
      </p:sp>
      <p:sp>
        <p:nvSpPr>
          <p:cNvPr id="5" name="Text 3"/>
          <p:cNvSpPr/>
          <p:nvPr/>
        </p:nvSpPr>
        <p:spPr>
          <a:xfrm>
            <a:off x="822960" y="2011680"/>
            <a:ext cx="301752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Too small</a:t>
            </a:r>
            <a:endParaRPr lang="en-US" sz="1800" dirty="0"/>
          </a:p>
        </p:txBody>
      </p:sp>
      <p:sp>
        <p:nvSpPr>
          <p:cNvPr id="6" name="Text 4"/>
          <p:cNvSpPr/>
          <p:nvPr/>
        </p:nvSpPr>
        <p:spPr>
          <a:xfrm>
            <a:off x="822960" y="2560320"/>
            <a:ext cx="3063240" cy="155448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Safe but painfully slow — the network crawls and may run out of time before it learns.</a:t>
            </a:r>
            <a:endParaRPr lang="en-US" sz="1400" dirty="0"/>
          </a:p>
        </p:txBody>
      </p:sp>
      <p:sp>
        <p:nvSpPr>
          <p:cNvPr id="7" name="Shape 5"/>
          <p:cNvSpPr/>
          <p:nvPr/>
        </p:nvSpPr>
        <p:spPr>
          <a:xfrm>
            <a:off x="4306824" y="1783080"/>
            <a:ext cx="3575304" cy="2468880"/>
          </a:xfrm>
          <a:prstGeom prst="roundRect">
            <a:avLst>
              <a:gd name="adj" fmla="val 2963"/>
            </a:avLst>
          </a:prstGeom>
          <a:solidFill>
            <a:srgbClr val="2E7D5B"/>
          </a:solidFill>
          <a:ln/>
        </p:spPr>
      </p:sp>
      <p:sp>
        <p:nvSpPr>
          <p:cNvPr id="8" name="Text 6"/>
          <p:cNvSpPr/>
          <p:nvPr/>
        </p:nvSpPr>
        <p:spPr>
          <a:xfrm>
            <a:off x="4581144" y="2011680"/>
            <a:ext cx="301752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Just right</a:t>
            </a:r>
            <a:endParaRPr lang="en-US" sz="1800" dirty="0"/>
          </a:p>
        </p:txBody>
      </p:sp>
      <p:sp>
        <p:nvSpPr>
          <p:cNvPr id="9" name="Text 7"/>
          <p:cNvSpPr/>
          <p:nvPr/>
        </p:nvSpPr>
        <p:spPr>
          <a:xfrm>
            <a:off x="4581144" y="2560320"/>
            <a:ext cx="3063240" cy="155448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Steady, efficient progress down to a low loss. This is the goal.</a:t>
            </a:r>
            <a:endParaRPr lang="en-US" sz="1400" dirty="0"/>
          </a:p>
        </p:txBody>
      </p:sp>
      <p:sp>
        <p:nvSpPr>
          <p:cNvPr id="10" name="Shape 8"/>
          <p:cNvSpPr/>
          <p:nvPr/>
        </p:nvSpPr>
        <p:spPr>
          <a:xfrm>
            <a:off x="8065008" y="1783080"/>
            <a:ext cx="3575304" cy="2468880"/>
          </a:xfrm>
          <a:prstGeom prst="roundRect">
            <a:avLst>
              <a:gd name="adj" fmla="val 2963"/>
            </a:avLst>
          </a:prstGeom>
          <a:solidFill>
            <a:srgbClr val="E8A33D"/>
          </a:solidFill>
          <a:ln/>
        </p:spPr>
      </p:sp>
      <p:sp>
        <p:nvSpPr>
          <p:cNvPr id="11" name="Text 9"/>
          <p:cNvSpPr/>
          <p:nvPr/>
        </p:nvSpPr>
        <p:spPr>
          <a:xfrm>
            <a:off x="8339328" y="2011680"/>
            <a:ext cx="301752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Too big</a:t>
            </a:r>
            <a:endParaRPr lang="en-US" sz="1800" dirty="0"/>
          </a:p>
        </p:txBody>
      </p:sp>
      <p:sp>
        <p:nvSpPr>
          <p:cNvPr id="12" name="Text 10"/>
          <p:cNvSpPr/>
          <p:nvPr/>
        </p:nvSpPr>
        <p:spPr>
          <a:xfrm>
            <a:off x="8339328" y="2560320"/>
            <a:ext cx="3063240" cy="155448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Overshoots the bottom, bounces around, and may never settle. The loss jumps instead of falling.</a:t>
            </a:r>
            <a:endParaRPr lang="en-US" sz="1400" dirty="0"/>
          </a:p>
        </p:txBody>
      </p:sp>
      <p:sp>
        <p:nvSpPr>
          <p:cNvPr id="13" name="Text 11"/>
          <p:cNvSpPr/>
          <p:nvPr/>
        </p:nvSpPr>
        <p:spPr>
          <a:xfrm>
            <a:off x="548640" y="4526280"/>
            <a:ext cx="11064240" cy="640080"/>
          </a:xfrm>
          <a:prstGeom prst="rect">
            <a:avLst/>
          </a:prstGeom>
          <a:noFill/>
          <a:ln/>
        </p:spPr>
        <p:txBody>
          <a:bodyPr wrap="square" lIns="0" tIns="0" rIns="0" bIns="0" rtlCol="0" anchor="ctr"/>
          <a:lstStyle/>
          <a:p>
            <a:pPr marL="0" indent="0">
              <a:buNone/>
            </a:pPr>
            <a:r>
              <a:rPr lang="en-US" sz="1400" i="1" dirty="0">
                <a:solidFill>
                  <a:srgbClr val="0B5CAD"/>
                </a:solidFill>
                <a:latin typeface="Calibri" pitchFamily="34" charset="0"/>
                <a:ea typeface="Calibri" pitchFamily="34" charset="-122"/>
                <a:cs typeface="Calibri" pitchFamily="34" charset="-120"/>
              </a:rPr>
              <a:t>You saw this yesterday in Playground — turning the learning rate too high made the loss jump around. It's one of the first knobs to tune.</a:t>
            </a:r>
            <a:endParaRPr lang="en-US" sz="1400" dirty="0"/>
          </a:p>
        </p:txBody>
      </p:sp>
      <p:sp>
        <p:nvSpPr>
          <p:cNvPr id="14" name="Text 12"/>
          <p:cNvSpPr/>
          <p:nvPr/>
        </p:nvSpPr>
        <p:spPr>
          <a:xfrm>
            <a:off x="548640" y="6473952"/>
            <a:ext cx="11091672" cy="274320"/>
          </a:xfrm>
          <a:prstGeom prst="rect">
            <a:avLst/>
          </a:prstGeom>
          <a:noFill/>
          <a:ln/>
        </p:spPr>
        <p:txBody>
          <a:bodyPr wrap="square" lIns="0" tIns="0" rIns="0" bIns="0" rtlCol="0" anchor="ctr"/>
          <a:lstStyle/>
          <a:p>
            <a:pPr marL="0" indent="0">
              <a:buNone/>
            </a:pPr>
            <a:r>
              <a:rPr lang="en-US" sz="900" dirty="0">
                <a:solidFill>
                  <a:srgbClr val="5B6470"/>
                </a:solidFill>
                <a:latin typeface="Calibri" pitchFamily="34" charset="0"/>
                <a:ea typeface="Calibri" pitchFamily="34" charset="-122"/>
                <a:cs typeface="Calibri" pitchFamily="34" charset="-120"/>
              </a:rPr>
              <a:t>Digital Communication &amp; Emerging Technologies · NCCU ISS 2026 · Day 2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292608"/>
            <a:ext cx="11091672" cy="658368"/>
          </a:xfrm>
          <a:prstGeom prst="rect">
            <a:avLst/>
          </a:prstGeom>
          <a:noFill/>
          <a:ln/>
        </p:spPr>
        <p:txBody>
          <a:bodyPr wrap="square" lIns="0" tIns="0" rIns="0" bIns="0" rtlCol="0" anchor="ctr"/>
          <a:lstStyle/>
          <a:p>
            <a:pPr marL="0" indent="0">
              <a:buNone/>
            </a:pPr>
            <a:r>
              <a:rPr lang="en-US" sz="3100" b="1" dirty="0">
                <a:solidFill>
                  <a:srgbClr val="1A2733"/>
                </a:solidFill>
                <a:latin typeface="Cambria" pitchFamily="34" charset="0"/>
                <a:ea typeface="Cambria" pitchFamily="34" charset="-122"/>
                <a:cs typeface="Cambria" pitchFamily="34" charset="-120"/>
              </a:rPr>
              <a:t>The training loop, and “epochs”</a:t>
            </a:r>
            <a:endParaRPr lang="en-US" sz="3100" dirty="0"/>
          </a:p>
        </p:txBody>
      </p:sp>
      <p:sp>
        <p:nvSpPr>
          <p:cNvPr id="3" name="Text 1"/>
          <p:cNvSpPr/>
          <p:nvPr/>
        </p:nvSpPr>
        <p:spPr>
          <a:xfrm>
            <a:off x="548640" y="896112"/>
            <a:ext cx="11091672" cy="365760"/>
          </a:xfrm>
          <a:prstGeom prst="rect">
            <a:avLst/>
          </a:prstGeom>
          <a:noFill/>
          <a:ln/>
        </p:spPr>
        <p:txBody>
          <a:bodyPr wrap="square" lIns="0" tIns="0" rIns="0" bIns="0" rtlCol="0" anchor="ctr"/>
          <a:lstStyle/>
          <a:p>
            <a:pPr marL="0" indent="0">
              <a:buNone/>
            </a:pPr>
            <a:r>
              <a:rPr lang="en-US" sz="1500" i="1" dirty="0">
                <a:solidFill>
                  <a:srgbClr val="5B6470"/>
                </a:solidFill>
                <a:latin typeface="Calibri" pitchFamily="34" charset="0"/>
                <a:ea typeface="Calibri" pitchFamily="34" charset="-122"/>
                <a:cs typeface="Calibri" pitchFamily="34" charset="-120"/>
              </a:rPr>
              <a:t>Learning is this cycle, repeated thousands of times</a:t>
            </a:r>
            <a:endParaRPr lang="en-US" sz="1500" dirty="0"/>
          </a:p>
        </p:txBody>
      </p:sp>
      <p:sp>
        <p:nvSpPr>
          <p:cNvPr id="4" name="Shape 2"/>
          <p:cNvSpPr/>
          <p:nvPr/>
        </p:nvSpPr>
        <p:spPr>
          <a:xfrm>
            <a:off x="548640" y="1828800"/>
            <a:ext cx="2606040" cy="2103120"/>
          </a:xfrm>
          <a:prstGeom prst="roundRect">
            <a:avLst>
              <a:gd name="adj" fmla="val 3478"/>
            </a:avLst>
          </a:prstGeom>
          <a:solidFill>
            <a:srgbClr val="F5F8FB"/>
          </a:solidFill>
          <a:ln w="12700">
            <a:solidFill>
              <a:srgbClr val="DDE5EC"/>
            </a:solidFill>
            <a:prstDash val="solid"/>
          </a:ln>
        </p:spPr>
      </p:sp>
      <p:pic>
        <p:nvPicPr>
          <p:cNvPr id="5" name="Image 0" descr="preencoded.png"/>
          <p:cNvPicPr>
            <a:picLocks noChangeAspect="1"/>
          </p:cNvPicPr>
          <p:nvPr/>
        </p:nvPicPr>
        <p:blipFill>
          <a:blip r:embed="rId3"/>
          <a:stretch>
            <a:fillRect/>
          </a:stretch>
        </p:blipFill>
        <p:spPr>
          <a:xfrm>
            <a:off x="804672" y="2029968"/>
            <a:ext cx="402336" cy="402336"/>
          </a:xfrm>
          <a:prstGeom prst="rect">
            <a:avLst/>
          </a:prstGeom>
        </p:spPr>
      </p:pic>
      <p:sp>
        <p:nvSpPr>
          <p:cNvPr id="6" name="Text 3"/>
          <p:cNvSpPr/>
          <p:nvPr/>
        </p:nvSpPr>
        <p:spPr>
          <a:xfrm>
            <a:off x="804672" y="2542032"/>
            <a:ext cx="2148840" cy="1280160"/>
          </a:xfrm>
          <a:prstGeom prst="rect">
            <a:avLst/>
          </a:prstGeom>
          <a:noFill/>
          <a:ln/>
        </p:spPr>
        <p:txBody>
          <a:bodyPr wrap="square" lIns="0" tIns="0" rIns="0" bIns="0" rtlCol="0" anchor="ctr"/>
          <a:lstStyle/>
          <a:p>
            <a:pPr marL="0" indent="0">
              <a:buNone/>
            </a:pPr>
            <a:r>
              <a:rPr lang="en-US" sz="1500" b="1" dirty="0">
                <a:solidFill>
                  <a:srgbClr val="0B5CAD"/>
                </a:solidFill>
                <a:latin typeface="Calibri" pitchFamily="34" charset="0"/>
                <a:ea typeface="Calibri" pitchFamily="34" charset="-122"/>
                <a:cs typeface="Calibri" pitchFamily="34" charset="-120"/>
              </a:rPr>
              <a:t>See a batch
</a:t>
            </a:r>
            <a:r>
              <a:rPr lang="en-US" sz="1250" dirty="0">
                <a:solidFill>
                  <a:srgbClr val="5B6470"/>
                </a:solidFill>
                <a:latin typeface="Calibri" pitchFamily="34" charset="0"/>
                <a:ea typeface="Calibri" pitchFamily="34" charset="-122"/>
                <a:cs typeface="Calibri" pitchFamily="34" charset="-120"/>
              </a:rPr>
              <a:t>Show the network some images</a:t>
            </a:r>
            <a:endParaRPr lang="en-US" sz="1500" dirty="0"/>
          </a:p>
        </p:txBody>
      </p:sp>
      <p:sp>
        <p:nvSpPr>
          <p:cNvPr id="7" name="Text 4"/>
          <p:cNvSpPr/>
          <p:nvPr/>
        </p:nvSpPr>
        <p:spPr>
          <a:xfrm>
            <a:off x="3108960" y="2697480"/>
            <a:ext cx="320040" cy="457200"/>
          </a:xfrm>
          <a:prstGeom prst="rect">
            <a:avLst/>
          </a:prstGeom>
          <a:noFill/>
          <a:ln/>
        </p:spPr>
        <p:txBody>
          <a:bodyPr wrap="square" lIns="0" tIns="0" rIns="0" bIns="0" rtlCol="0" anchor="ctr"/>
          <a:lstStyle/>
          <a:p>
            <a:pPr marL="0" indent="0" algn="ctr">
              <a:buNone/>
            </a:pPr>
            <a:r>
              <a:rPr lang="en-US" sz="1800" dirty="0">
                <a:solidFill>
                  <a:srgbClr val="5B6470"/>
                </a:solidFill>
                <a:latin typeface="Calibri" pitchFamily="34" charset="0"/>
                <a:ea typeface="Calibri" pitchFamily="34" charset="-122"/>
                <a:cs typeface="Calibri" pitchFamily="34" charset="-120"/>
              </a:rPr>
              <a:t>→</a:t>
            </a:r>
            <a:endParaRPr lang="en-US" sz="1800" dirty="0"/>
          </a:p>
        </p:txBody>
      </p:sp>
      <p:sp>
        <p:nvSpPr>
          <p:cNvPr id="8" name="Shape 5"/>
          <p:cNvSpPr/>
          <p:nvPr/>
        </p:nvSpPr>
        <p:spPr>
          <a:xfrm>
            <a:off x="3410712" y="1828800"/>
            <a:ext cx="2606040" cy="2103120"/>
          </a:xfrm>
          <a:prstGeom prst="roundRect">
            <a:avLst>
              <a:gd name="adj" fmla="val 3478"/>
            </a:avLst>
          </a:prstGeom>
          <a:solidFill>
            <a:srgbClr val="F5F8FB"/>
          </a:solidFill>
          <a:ln w="12700">
            <a:solidFill>
              <a:srgbClr val="DDE5EC"/>
            </a:solidFill>
            <a:prstDash val="solid"/>
          </a:ln>
        </p:spPr>
      </p:sp>
      <p:pic>
        <p:nvPicPr>
          <p:cNvPr id="9" name="Image 1" descr="preencoded.png"/>
          <p:cNvPicPr>
            <a:picLocks noChangeAspect="1"/>
          </p:cNvPicPr>
          <p:nvPr/>
        </p:nvPicPr>
        <p:blipFill>
          <a:blip r:embed="rId4"/>
          <a:stretch>
            <a:fillRect/>
          </a:stretch>
        </p:blipFill>
        <p:spPr>
          <a:xfrm>
            <a:off x="3666744" y="2029968"/>
            <a:ext cx="402336" cy="402336"/>
          </a:xfrm>
          <a:prstGeom prst="rect">
            <a:avLst/>
          </a:prstGeom>
        </p:spPr>
      </p:pic>
      <p:sp>
        <p:nvSpPr>
          <p:cNvPr id="10" name="Text 6"/>
          <p:cNvSpPr/>
          <p:nvPr/>
        </p:nvSpPr>
        <p:spPr>
          <a:xfrm>
            <a:off x="3666744" y="2542032"/>
            <a:ext cx="2148840" cy="1280160"/>
          </a:xfrm>
          <a:prstGeom prst="rect">
            <a:avLst/>
          </a:prstGeom>
          <a:noFill/>
          <a:ln/>
        </p:spPr>
        <p:txBody>
          <a:bodyPr wrap="square" lIns="0" tIns="0" rIns="0" bIns="0" rtlCol="0" anchor="ctr"/>
          <a:lstStyle/>
          <a:p>
            <a:pPr marL="0" indent="0">
              <a:buNone/>
            </a:pPr>
            <a:r>
              <a:rPr lang="en-US" sz="1500" b="1" dirty="0">
                <a:solidFill>
                  <a:srgbClr val="0B5CAD"/>
                </a:solidFill>
                <a:latin typeface="Calibri" pitchFamily="34" charset="0"/>
                <a:ea typeface="Calibri" pitchFamily="34" charset="-122"/>
                <a:cs typeface="Calibri" pitchFamily="34" charset="-120"/>
              </a:rPr>
              <a:t>Predict
</a:t>
            </a:r>
            <a:r>
              <a:rPr lang="en-US" sz="1250" dirty="0">
                <a:solidFill>
                  <a:srgbClr val="5B6470"/>
                </a:solidFill>
                <a:latin typeface="Calibri" pitchFamily="34" charset="0"/>
                <a:ea typeface="Calibri" pitchFamily="34" charset="-122"/>
                <a:cs typeface="Calibri" pitchFamily="34" charset="-120"/>
              </a:rPr>
              <a:t>It guesses the labels</a:t>
            </a:r>
            <a:endParaRPr lang="en-US" sz="1500" dirty="0"/>
          </a:p>
        </p:txBody>
      </p:sp>
      <p:sp>
        <p:nvSpPr>
          <p:cNvPr id="11" name="Text 7"/>
          <p:cNvSpPr/>
          <p:nvPr/>
        </p:nvSpPr>
        <p:spPr>
          <a:xfrm>
            <a:off x="5971032" y="2697480"/>
            <a:ext cx="320040" cy="457200"/>
          </a:xfrm>
          <a:prstGeom prst="rect">
            <a:avLst/>
          </a:prstGeom>
          <a:noFill/>
          <a:ln/>
        </p:spPr>
        <p:txBody>
          <a:bodyPr wrap="square" lIns="0" tIns="0" rIns="0" bIns="0" rtlCol="0" anchor="ctr"/>
          <a:lstStyle/>
          <a:p>
            <a:pPr marL="0" indent="0" algn="ctr">
              <a:buNone/>
            </a:pPr>
            <a:r>
              <a:rPr lang="en-US" sz="1800" dirty="0">
                <a:solidFill>
                  <a:srgbClr val="5B6470"/>
                </a:solidFill>
                <a:latin typeface="Calibri" pitchFamily="34" charset="0"/>
                <a:ea typeface="Calibri" pitchFamily="34" charset="-122"/>
                <a:cs typeface="Calibri" pitchFamily="34" charset="-120"/>
              </a:rPr>
              <a:t>→</a:t>
            </a:r>
            <a:endParaRPr lang="en-US" sz="1800" dirty="0"/>
          </a:p>
        </p:txBody>
      </p:sp>
      <p:sp>
        <p:nvSpPr>
          <p:cNvPr id="12" name="Shape 8"/>
          <p:cNvSpPr/>
          <p:nvPr/>
        </p:nvSpPr>
        <p:spPr>
          <a:xfrm>
            <a:off x="6272784" y="1828800"/>
            <a:ext cx="2606040" cy="2103120"/>
          </a:xfrm>
          <a:prstGeom prst="roundRect">
            <a:avLst>
              <a:gd name="adj" fmla="val 3478"/>
            </a:avLst>
          </a:prstGeom>
          <a:solidFill>
            <a:srgbClr val="F5F8FB"/>
          </a:solidFill>
          <a:ln w="12700">
            <a:solidFill>
              <a:srgbClr val="DDE5EC"/>
            </a:solidFill>
            <a:prstDash val="solid"/>
          </a:ln>
        </p:spPr>
      </p:sp>
      <p:pic>
        <p:nvPicPr>
          <p:cNvPr id="13" name="Image 2" descr="preencoded.png"/>
          <p:cNvPicPr>
            <a:picLocks noChangeAspect="1"/>
          </p:cNvPicPr>
          <p:nvPr/>
        </p:nvPicPr>
        <p:blipFill>
          <a:blip r:embed="rId5"/>
          <a:stretch>
            <a:fillRect/>
          </a:stretch>
        </p:blipFill>
        <p:spPr>
          <a:xfrm>
            <a:off x="6528816" y="2029968"/>
            <a:ext cx="402336" cy="402336"/>
          </a:xfrm>
          <a:prstGeom prst="rect">
            <a:avLst/>
          </a:prstGeom>
        </p:spPr>
      </p:pic>
      <p:sp>
        <p:nvSpPr>
          <p:cNvPr id="14" name="Text 9"/>
          <p:cNvSpPr/>
          <p:nvPr/>
        </p:nvSpPr>
        <p:spPr>
          <a:xfrm>
            <a:off x="6528816" y="2542032"/>
            <a:ext cx="2148840" cy="1280160"/>
          </a:xfrm>
          <a:prstGeom prst="rect">
            <a:avLst/>
          </a:prstGeom>
          <a:noFill/>
          <a:ln/>
        </p:spPr>
        <p:txBody>
          <a:bodyPr wrap="square" lIns="0" tIns="0" rIns="0" bIns="0" rtlCol="0" anchor="ctr"/>
          <a:lstStyle/>
          <a:p>
            <a:pPr marL="0" indent="0">
              <a:buNone/>
            </a:pPr>
            <a:r>
              <a:rPr lang="en-US" sz="1500" b="1" dirty="0">
                <a:solidFill>
                  <a:srgbClr val="0B5CAD"/>
                </a:solidFill>
                <a:latin typeface="Calibri" pitchFamily="34" charset="0"/>
                <a:ea typeface="Calibri" pitchFamily="34" charset="-122"/>
                <a:cs typeface="Calibri" pitchFamily="34" charset="-120"/>
              </a:rPr>
              <a:t>Measure loss
</a:t>
            </a:r>
            <a:r>
              <a:rPr lang="en-US" sz="1250" dirty="0">
                <a:solidFill>
                  <a:srgbClr val="5B6470"/>
                </a:solidFill>
                <a:latin typeface="Calibri" pitchFamily="34" charset="0"/>
                <a:ea typeface="Calibri" pitchFamily="34" charset="-122"/>
                <a:cs typeface="Calibri" pitchFamily="34" charset="-120"/>
              </a:rPr>
              <a:t>How wrong was it?</a:t>
            </a:r>
            <a:endParaRPr lang="en-US" sz="1500" dirty="0"/>
          </a:p>
        </p:txBody>
      </p:sp>
      <p:sp>
        <p:nvSpPr>
          <p:cNvPr id="15" name="Text 10"/>
          <p:cNvSpPr/>
          <p:nvPr/>
        </p:nvSpPr>
        <p:spPr>
          <a:xfrm>
            <a:off x="8833104" y="2697480"/>
            <a:ext cx="320040" cy="457200"/>
          </a:xfrm>
          <a:prstGeom prst="rect">
            <a:avLst/>
          </a:prstGeom>
          <a:noFill/>
          <a:ln/>
        </p:spPr>
        <p:txBody>
          <a:bodyPr wrap="square" lIns="0" tIns="0" rIns="0" bIns="0" rtlCol="0" anchor="ctr"/>
          <a:lstStyle/>
          <a:p>
            <a:pPr marL="0" indent="0" algn="ctr">
              <a:buNone/>
            </a:pPr>
            <a:r>
              <a:rPr lang="en-US" sz="1800" dirty="0">
                <a:solidFill>
                  <a:srgbClr val="5B6470"/>
                </a:solidFill>
                <a:latin typeface="Calibri" pitchFamily="34" charset="0"/>
                <a:ea typeface="Calibri" pitchFamily="34" charset="-122"/>
                <a:cs typeface="Calibri" pitchFamily="34" charset="-120"/>
              </a:rPr>
              <a:t>→</a:t>
            </a:r>
            <a:endParaRPr lang="en-US" sz="1800" dirty="0"/>
          </a:p>
        </p:txBody>
      </p:sp>
      <p:sp>
        <p:nvSpPr>
          <p:cNvPr id="16" name="Shape 11"/>
          <p:cNvSpPr/>
          <p:nvPr/>
        </p:nvSpPr>
        <p:spPr>
          <a:xfrm>
            <a:off x="9134856" y="1828800"/>
            <a:ext cx="2606040" cy="2103120"/>
          </a:xfrm>
          <a:prstGeom prst="roundRect">
            <a:avLst>
              <a:gd name="adj" fmla="val 3478"/>
            </a:avLst>
          </a:prstGeom>
          <a:solidFill>
            <a:srgbClr val="F5F8FB"/>
          </a:solidFill>
          <a:ln w="12700">
            <a:solidFill>
              <a:srgbClr val="DDE5EC"/>
            </a:solidFill>
            <a:prstDash val="solid"/>
          </a:ln>
        </p:spPr>
      </p:sp>
      <p:pic>
        <p:nvPicPr>
          <p:cNvPr id="17" name="Image 3" descr="preencoded.png"/>
          <p:cNvPicPr>
            <a:picLocks noChangeAspect="1"/>
          </p:cNvPicPr>
          <p:nvPr/>
        </p:nvPicPr>
        <p:blipFill>
          <a:blip r:embed="rId6"/>
          <a:stretch>
            <a:fillRect/>
          </a:stretch>
        </p:blipFill>
        <p:spPr>
          <a:xfrm>
            <a:off x="9390888" y="2029968"/>
            <a:ext cx="402336" cy="402336"/>
          </a:xfrm>
          <a:prstGeom prst="rect">
            <a:avLst/>
          </a:prstGeom>
        </p:spPr>
      </p:pic>
      <p:sp>
        <p:nvSpPr>
          <p:cNvPr id="18" name="Text 12"/>
          <p:cNvSpPr/>
          <p:nvPr/>
        </p:nvSpPr>
        <p:spPr>
          <a:xfrm>
            <a:off x="9390888" y="2542032"/>
            <a:ext cx="2148840" cy="1280160"/>
          </a:xfrm>
          <a:prstGeom prst="rect">
            <a:avLst/>
          </a:prstGeom>
          <a:noFill/>
          <a:ln/>
        </p:spPr>
        <p:txBody>
          <a:bodyPr wrap="square" lIns="0" tIns="0" rIns="0" bIns="0" rtlCol="0" anchor="ctr"/>
          <a:lstStyle/>
          <a:p>
            <a:pPr marL="0" indent="0">
              <a:buNone/>
            </a:pPr>
            <a:r>
              <a:rPr lang="en-US" sz="1500" b="1" dirty="0">
                <a:solidFill>
                  <a:srgbClr val="0B5CAD"/>
                </a:solidFill>
                <a:latin typeface="Calibri" pitchFamily="34" charset="0"/>
                <a:ea typeface="Calibri" pitchFamily="34" charset="-122"/>
                <a:cs typeface="Calibri" pitchFamily="34" charset="-120"/>
              </a:rPr>
              <a:t>Adjust weights
</a:t>
            </a:r>
            <a:r>
              <a:rPr lang="en-US" sz="1250" dirty="0">
                <a:solidFill>
                  <a:srgbClr val="5B6470"/>
                </a:solidFill>
                <a:latin typeface="Calibri" pitchFamily="34" charset="0"/>
                <a:ea typeface="Calibri" pitchFamily="34" charset="-122"/>
                <a:cs typeface="Calibri" pitchFamily="34" charset="-120"/>
              </a:rPr>
              <a:t>Nudge every weight downhill</a:t>
            </a:r>
            <a:endParaRPr lang="en-US" sz="1500" dirty="0"/>
          </a:p>
        </p:txBody>
      </p:sp>
      <p:sp>
        <p:nvSpPr>
          <p:cNvPr id="19" name="Shape 13"/>
          <p:cNvSpPr/>
          <p:nvPr/>
        </p:nvSpPr>
        <p:spPr>
          <a:xfrm>
            <a:off x="1737360" y="3977640"/>
            <a:ext cx="8686800" cy="0"/>
          </a:xfrm>
          <a:prstGeom prst="line">
            <a:avLst/>
          </a:prstGeom>
          <a:noFill/>
          <a:ln w="19050">
            <a:solidFill>
              <a:srgbClr val="9DB4C8"/>
            </a:solidFill>
            <a:prstDash val="solid"/>
            <a:headEnd type="triangle"/>
            <a:tailEnd type="triangle"/>
          </a:ln>
        </p:spPr>
      </p:sp>
      <p:sp>
        <p:nvSpPr>
          <p:cNvPr id="20" name="Text 14"/>
          <p:cNvSpPr/>
          <p:nvPr/>
        </p:nvSpPr>
        <p:spPr>
          <a:xfrm>
            <a:off x="5486400" y="4023360"/>
            <a:ext cx="1188720" cy="274320"/>
          </a:xfrm>
          <a:prstGeom prst="rect">
            <a:avLst/>
          </a:prstGeom>
          <a:noFill/>
          <a:ln/>
        </p:spPr>
        <p:txBody>
          <a:bodyPr wrap="square" lIns="0" tIns="0" rIns="0" bIns="0" rtlCol="0" anchor="ctr"/>
          <a:lstStyle/>
          <a:p>
            <a:pPr marL="0" indent="0" algn="ctr">
              <a:buNone/>
            </a:pPr>
            <a:r>
              <a:rPr lang="en-US" sz="1100" i="1" dirty="0">
                <a:solidFill>
                  <a:srgbClr val="5B6470"/>
                </a:solidFill>
                <a:latin typeface="Calibri" pitchFamily="34" charset="0"/>
                <a:ea typeface="Calibri" pitchFamily="34" charset="-122"/>
                <a:cs typeface="Calibri" pitchFamily="34" charset="-120"/>
              </a:rPr>
              <a:t>repeat</a:t>
            </a:r>
            <a:endParaRPr lang="en-US" sz="1100" dirty="0"/>
          </a:p>
        </p:txBody>
      </p:sp>
      <p:sp>
        <p:nvSpPr>
          <p:cNvPr id="21" name="Text 15"/>
          <p:cNvSpPr/>
          <p:nvPr/>
        </p:nvSpPr>
        <p:spPr>
          <a:xfrm>
            <a:off x="548640" y="4526280"/>
            <a:ext cx="11064240" cy="822960"/>
          </a:xfrm>
          <a:prstGeom prst="rect">
            <a:avLst/>
          </a:prstGeom>
          <a:noFill/>
          <a:ln/>
        </p:spPr>
        <p:txBody>
          <a:bodyPr wrap="square" lIns="0" tIns="0" rIns="0" bIns="0" rtlCol="0" anchor="ctr"/>
          <a:lstStyle/>
          <a:p>
            <a:pPr marL="0" indent="0">
              <a:buNone/>
            </a:pPr>
            <a:r>
              <a:rPr lang="en-US" sz="1500" b="1" dirty="0">
                <a:solidFill>
                  <a:srgbClr val="0B5CAD"/>
                </a:solidFill>
                <a:latin typeface="Calibri" pitchFamily="34" charset="0"/>
                <a:ea typeface="Calibri" pitchFamily="34" charset="-122"/>
                <a:cs typeface="Calibri" pitchFamily="34" charset="-120"/>
              </a:rPr>
              <a:t>One epoch </a:t>
            </a:r>
            <a:r>
              <a:rPr lang="en-US" sz="1500" dirty="0">
                <a:solidFill>
                  <a:srgbClr val="1A2733"/>
                </a:solidFill>
                <a:latin typeface="Calibri" pitchFamily="34" charset="0"/>
                <a:ea typeface="Calibri" pitchFamily="34" charset="-122"/>
                <a:cs typeface="Calibri" pitchFamily="34" charset="-120"/>
              </a:rPr>
              <a:t>= the network has seen every training image once. Real training runs many epochs; you'll set this number in the lab and watch accuracy climb after each one.</a:t>
            </a:r>
            <a:endParaRPr lang="en-US" sz="1500" dirty="0"/>
          </a:p>
        </p:txBody>
      </p:sp>
      <p:sp>
        <p:nvSpPr>
          <p:cNvPr id="22" name="Text 16"/>
          <p:cNvSpPr/>
          <p:nvPr/>
        </p:nvSpPr>
        <p:spPr>
          <a:xfrm>
            <a:off x="548640" y="6473952"/>
            <a:ext cx="11091672" cy="274320"/>
          </a:xfrm>
          <a:prstGeom prst="rect">
            <a:avLst/>
          </a:prstGeom>
          <a:noFill/>
          <a:ln/>
        </p:spPr>
        <p:txBody>
          <a:bodyPr wrap="square" lIns="0" tIns="0" rIns="0" bIns="0" rtlCol="0" anchor="ctr"/>
          <a:lstStyle/>
          <a:p>
            <a:pPr marL="0" indent="0">
              <a:buNone/>
            </a:pPr>
            <a:r>
              <a:rPr lang="en-US" sz="900" dirty="0">
                <a:solidFill>
                  <a:srgbClr val="5B6470"/>
                </a:solidFill>
                <a:latin typeface="Calibri" pitchFamily="34" charset="0"/>
                <a:ea typeface="Calibri" pitchFamily="34" charset="-122"/>
                <a:cs typeface="Calibri" pitchFamily="34" charset="-120"/>
              </a:rPr>
              <a:t>Digital Communication &amp; Emerging Technologies · NCCU ISS 2026 · Day 2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292608"/>
            <a:ext cx="11091672" cy="658368"/>
          </a:xfrm>
          <a:prstGeom prst="rect">
            <a:avLst/>
          </a:prstGeom>
          <a:noFill/>
          <a:ln/>
        </p:spPr>
        <p:txBody>
          <a:bodyPr wrap="square" lIns="0" tIns="0" rIns="0" bIns="0" rtlCol="0" anchor="ctr"/>
          <a:lstStyle/>
          <a:p>
            <a:pPr marL="0" indent="0">
              <a:buNone/>
            </a:pPr>
            <a:r>
              <a:rPr lang="en-US" sz="3100" b="1" dirty="0">
                <a:solidFill>
                  <a:srgbClr val="1A2733"/>
                </a:solidFill>
                <a:latin typeface="Cambria" pitchFamily="34" charset="0"/>
                <a:ea typeface="Cambria" pitchFamily="34" charset="-122"/>
                <a:cs typeface="Cambria" pitchFamily="34" charset="-120"/>
              </a:rPr>
              <a:t>One more ingredient: activation functions</a:t>
            </a:r>
            <a:endParaRPr lang="en-US" sz="3100" dirty="0"/>
          </a:p>
        </p:txBody>
      </p:sp>
      <p:sp>
        <p:nvSpPr>
          <p:cNvPr id="3" name="Text 1"/>
          <p:cNvSpPr/>
          <p:nvPr/>
        </p:nvSpPr>
        <p:spPr>
          <a:xfrm>
            <a:off x="548640" y="896112"/>
            <a:ext cx="11091672" cy="365760"/>
          </a:xfrm>
          <a:prstGeom prst="rect">
            <a:avLst/>
          </a:prstGeom>
          <a:noFill/>
          <a:ln/>
        </p:spPr>
        <p:txBody>
          <a:bodyPr wrap="square" lIns="0" tIns="0" rIns="0" bIns="0" rtlCol="0" anchor="ctr"/>
          <a:lstStyle/>
          <a:p>
            <a:pPr marL="0" indent="0">
              <a:buNone/>
            </a:pPr>
            <a:r>
              <a:rPr lang="en-US" sz="1500" i="1" dirty="0">
                <a:solidFill>
                  <a:srgbClr val="5B6470"/>
                </a:solidFill>
                <a:latin typeface="Calibri" pitchFamily="34" charset="0"/>
                <a:ea typeface="Calibri" pitchFamily="34" charset="-122"/>
                <a:cs typeface="Calibri" pitchFamily="34" charset="-120"/>
              </a:rPr>
              <a:t>The little bend that lets networks learn curves, not just straight lines</a:t>
            </a:r>
            <a:endParaRPr lang="en-US" sz="1500" dirty="0"/>
          </a:p>
        </p:txBody>
      </p:sp>
      <p:sp>
        <p:nvSpPr>
          <p:cNvPr id="4" name="Shape 2"/>
          <p:cNvSpPr/>
          <p:nvPr/>
        </p:nvSpPr>
        <p:spPr>
          <a:xfrm>
            <a:off x="548640" y="1600200"/>
            <a:ext cx="5394960" cy="3566160"/>
          </a:xfrm>
          <a:prstGeom prst="roundRect">
            <a:avLst>
              <a:gd name="adj" fmla="val 2051"/>
            </a:avLst>
          </a:prstGeom>
          <a:solidFill>
            <a:srgbClr val="F5F8FB"/>
          </a:solidFill>
          <a:ln w="12700">
            <a:solidFill>
              <a:srgbClr val="DDE5EC"/>
            </a:solidFill>
            <a:prstDash val="solid"/>
          </a:ln>
        </p:spPr>
      </p:sp>
      <p:sp>
        <p:nvSpPr>
          <p:cNvPr id="5" name="Text 3"/>
          <p:cNvSpPr/>
          <p:nvPr/>
        </p:nvSpPr>
        <p:spPr>
          <a:xfrm>
            <a:off x="822960" y="1783080"/>
            <a:ext cx="4846320" cy="365760"/>
          </a:xfrm>
          <a:prstGeom prst="rect">
            <a:avLst/>
          </a:prstGeom>
          <a:noFill/>
          <a:ln/>
        </p:spPr>
        <p:txBody>
          <a:bodyPr wrap="square" lIns="0" tIns="0" rIns="0" bIns="0" rtlCol="0" anchor="ctr"/>
          <a:lstStyle/>
          <a:p>
            <a:pPr marL="0" indent="0">
              <a:buNone/>
            </a:pPr>
            <a:r>
              <a:rPr lang="en-US" sz="1600" b="1" dirty="0">
                <a:solidFill>
                  <a:srgbClr val="1A2733"/>
                </a:solidFill>
                <a:latin typeface="Cambria" pitchFamily="34" charset="0"/>
                <a:ea typeface="Cambria" pitchFamily="34" charset="-122"/>
                <a:cs typeface="Cambria" pitchFamily="34" charset="-120"/>
              </a:rPr>
              <a:t>The problem</a:t>
            </a:r>
            <a:endParaRPr lang="en-US" sz="1600" dirty="0"/>
          </a:p>
        </p:txBody>
      </p:sp>
      <p:sp>
        <p:nvSpPr>
          <p:cNvPr id="6" name="Text 4"/>
          <p:cNvSpPr/>
          <p:nvPr/>
        </p:nvSpPr>
        <p:spPr>
          <a:xfrm>
            <a:off x="822960" y="2240280"/>
            <a:ext cx="4846320" cy="1828800"/>
          </a:xfrm>
          <a:prstGeom prst="rect">
            <a:avLst/>
          </a:prstGeom>
          <a:noFill/>
          <a:ln/>
        </p:spPr>
        <p:txBody>
          <a:bodyPr wrap="square" lIns="0" tIns="0" rIns="0" bIns="0" rtlCol="0" anchor="ctr"/>
          <a:lstStyle/>
          <a:p>
            <a:pPr marL="0" indent="0">
              <a:buNone/>
            </a:pPr>
            <a:r>
              <a:rPr lang="en-US" sz="1400" dirty="0">
                <a:solidFill>
                  <a:srgbClr val="5B6470"/>
                </a:solidFill>
                <a:latin typeface="Calibri" pitchFamily="34" charset="0"/>
                <a:ea typeface="Calibri" pitchFamily="34" charset="-122"/>
                <a:cs typeface="Calibri" pitchFamily="34" charset="-120"/>
              </a:rPr>
              <a:t>Stack only straight-line math and, no matter how many layers, you still get a straight line. Yesterday's zero-hidden-layer network could only draw a straight boundary — that's why it failed on Circle.</a:t>
            </a:r>
            <a:endParaRPr lang="en-US" sz="1400" dirty="0"/>
          </a:p>
        </p:txBody>
      </p:sp>
      <p:sp>
        <p:nvSpPr>
          <p:cNvPr id="7" name="Shape 5"/>
          <p:cNvSpPr/>
          <p:nvPr/>
        </p:nvSpPr>
        <p:spPr>
          <a:xfrm>
            <a:off x="6172200" y="1600200"/>
            <a:ext cx="5468112" cy="3566160"/>
          </a:xfrm>
          <a:prstGeom prst="roundRect">
            <a:avLst>
              <a:gd name="adj" fmla="val 2051"/>
            </a:avLst>
          </a:prstGeom>
          <a:solidFill>
            <a:srgbClr val="EAF2FB"/>
          </a:solidFill>
          <a:ln/>
        </p:spPr>
      </p:sp>
      <p:sp>
        <p:nvSpPr>
          <p:cNvPr id="8" name="Text 6"/>
          <p:cNvSpPr/>
          <p:nvPr/>
        </p:nvSpPr>
        <p:spPr>
          <a:xfrm>
            <a:off x="6446520" y="1783080"/>
            <a:ext cx="4937760" cy="365760"/>
          </a:xfrm>
          <a:prstGeom prst="rect">
            <a:avLst/>
          </a:prstGeom>
          <a:noFill/>
          <a:ln/>
        </p:spPr>
        <p:txBody>
          <a:bodyPr wrap="square" lIns="0" tIns="0" rIns="0" bIns="0" rtlCol="0" anchor="ctr"/>
          <a:lstStyle/>
          <a:p>
            <a:pPr marL="0" indent="0">
              <a:buNone/>
            </a:pPr>
            <a:r>
              <a:rPr lang="en-US" sz="1600" b="1" dirty="0">
                <a:solidFill>
                  <a:srgbClr val="0B5CAD"/>
                </a:solidFill>
                <a:latin typeface="Cambria" pitchFamily="34" charset="0"/>
                <a:ea typeface="Cambria" pitchFamily="34" charset="-122"/>
                <a:cs typeface="Cambria" pitchFamily="34" charset="-120"/>
              </a:rPr>
              <a:t>The fix</a:t>
            </a:r>
            <a:endParaRPr lang="en-US" sz="1600" dirty="0"/>
          </a:p>
        </p:txBody>
      </p:sp>
      <p:sp>
        <p:nvSpPr>
          <p:cNvPr id="9" name="Text 7"/>
          <p:cNvSpPr/>
          <p:nvPr/>
        </p:nvSpPr>
        <p:spPr>
          <a:xfrm>
            <a:off x="6446520" y="2240280"/>
            <a:ext cx="4937760" cy="2651760"/>
          </a:xfrm>
          <a:prstGeom prst="rect">
            <a:avLst/>
          </a:prstGeom>
          <a:noFill/>
          <a:ln/>
        </p:spPr>
        <p:txBody>
          <a:bodyPr wrap="square" lIns="0" tIns="0" rIns="0" bIns="0" rtlCol="0" anchor="ctr"/>
          <a:lstStyle/>
          <a:p>
            <a:pPr marL="0" indent="0">
              <a:buNone/>
            </a:pPr>
            <a:r>
              <a:rPr lang="en-US" sz="1400" dirty="0">
                <a:solidFill>
                  <a:srgbClr val="1A2733"/>
                </a:solidFill>
                <a:latin typeface="Calibri" pitchFamily="34" charset="0"/>
                <a:ea typeface="Calibri" pitchFamily="34" charset="-122"/>
                <a:cs typeface="Calibri" pitchFamily="34" charset="-120"/>
              </a:rPr>
              <a:t>After each layer, apply a simple bend (an activation function, e.g. ReLU: “keep positives, zero out negatives”). That small non-linearity is what lets stacked layers curve and wrap around complex shapes — the spiral, a cat, a shirt.
</a:t>
            </a:r>
            <a:r>
              <a:rPr lang="en-US" sz="1400" b="1" dirty="0">
                <a:solidFill>
                  <a:srgbClr val="0B5CAD"/>
                </a:solidFill>
                <a:latin typeface="Calibri" pitchFamily="34" charset="0"/>
                <a:ea typeface="Calibri" pitchFamily="34" charset="-122"/>
                <a:cs typeface="Calibri" pitchFamily="34" charset="-120"/>
              </a:rPr>
              <a:t>No activation, no deep learning. It is that essential.</a:t>
            </a:r>
            <a:endParaRPr lang="en-US" sz="1400" dirty="0"/>
          </a:p>
        </p:txBody>
      </p:sp>
      <p:sp>
        <p:nvSpPr>
          <p:cNvPr id="10" name="Text 8"/>
          <p:cNvSpPr/>
          <p:nvPr/>
        </p:nvSpPr>
        <p:spPr>
          <a:xfrm>
            <a:off x="548640" y="6473952"/>
            <a:ext cx="11091672" cy="274320"/>
          </a:xfrm>
          <a:prstGeom prst="rect">
            <a:avLst/>
          </a:prstGeom>
          <a:noFill/>
          <a:ln/>
        </p:spPr>
        <p:txBody>
          <a:bodyPr wrap="square" lIns="0" tIns="0" rIns="0" bIns="0" rtlCol="0" anchor="ctr"/>
          <a:lstStyle/>
          <a:p>
            <a:pPr marL="0" indent="0">
              <a:buNone/>
            </a:pPr>
            <a:r>
              <a:rPr lang="en-US" sz="900" dirty="0">
                <a:solidFill>
                  <a:srgbClr val="5B6470"/>
                </a:solidFill>
                <a:latin typeface="Calibri" pitchFamily="34" charset="0"/>
                <a:ea typeface="Calibri" pitchFamily="34" charset="-122"/>
                <a:cs typeface="Calibri" pitchFamily="34" charset="-120"/>
              </a:rPr>
              <a:t>Digital Communication &amp; Emerging Technologies · NCCU ISS 2026 · Day 2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292608"/>
            <a:ext cx="11091672" cy="658368"/>
          </a:xfrm>
          <a:prstGeom prst="rect">
            <a:avLst/>
          </a:prstGeom>
          <a:noFill/>
          <a:ln/>
        </p:spPr>
        <p:txBody>
          <a:bodyPr wrap="square" lIns="0" tIns="0" rIns="0" bIns="0" rtlCol="0" anchor="ctr"/>
          <a:lstStyle/>
          <a:p>
            <a:pPr marL="0" indent="0">
              <a:buNone/>
            </a:pPr>
            <a:r>
              <a:rPr lang="en-US" sz="3100" b="1" dirty="0">
                <a:solidFill>
                  <a:srgbClr val="1A2733"/>
                </a:solidFill>
                <a:latin typeface="Cambria" pitchFamily="34" charset="0"/>
                <a:ea typeface="Cambria" pitchFamily="34" charset="-122"/>
                <a:cs typeface="Cambria" pitchFamily="34" charset="-120"/>
              </a:rPr>
              <a:t>Quick poll: is a bigger network always better?</a:t>
            </a:r>
            <a:endParaRPr lang="en-US" sz="3100" dirty="0"/>
          </a:p>
        </p:txBody>
      </p:sp>
      <p:sp>
        <p:nvSpPr>
          <p:cNvPr id="3" name="Text 1"/>
          <p:cNvSpPr/>
          <p:nvPr/>
        </p:nvSpPr>
        <p:spPr>
          <a:xfrm>
            <a:off x="548640" y="896112"/>
            <a:ext cx="11091672" cy="365760"/>
          </a:xfrm>
          <a:prstGeom prst="rect">
            <a:avLst/>
          </a:prstGeom>
          <a:noFill/>
          <a:ln/>
        </p:spPr>
        <p:txBody>
          <a:bodyPr wrap="square" lIns="0" tIns="0" rIns="0" bIns="0" rtlCol="0" anchor="ctr"/>
          <a:lstStyle/>
          <a:p>
            <a:pPr marL="0" indent="0">
              <a:buNone/>
            </a:pPr>
            <a:r>
              <a:rPr lang="en-US" sz="1500" i="1" dirty="0">
                <a:solidFill>
                  <a:srgbClr val="5B6470"/>
                </a:solidFill>
                <a:latin typeface="Calibri" pitchFamily="34" charset="0"/>
                <a:ea typeface="Calibri" pitchFamily="34" charset="-122"/>
                <a:cs typeface="Calibri" pitchFamily="34" charset="-120"/>
              </a:rPr>
              <a:t>You've built small and large networks — what do you think?</a:t>
            </a:r>
            <a:endParaRPr lang="en-US" sz="1500" dirty="0"/>
          </a:p>
        </p:txBody>
      </p:sp>
      <p:sp>
        <p:nvSpPr>
          <p:cNvPr id="4" name="Shape 2"/>
          <p:cNvSpPr/>
          <p:nvPr/>
        </p:nvSpPr>
        <p:spPr>
          <a:xfrm>
            <a:off x="10058400" y="457200"/>
            <a:ext cx="1554480" cy="310896"/>
          </a:xfrm>
          <a:prstGeom prst="roundRect">
            <a:avLst>
              <a:gd name="adj" fmla="val 50000"/>
            </a:avLst>
          </a:prstGeom>
          <a:solidFill>
            <a:srgbClr val="3FB984"/>
          </a:solidFill>
          <a:ln/>
        </p:spPr>
      </p:sp>
      <p:sp>
        <p:nvSpPr>
          <p:cNvPr id="5" name="Text 3"/>
          <p:cNvSpPr/>
          <p:nvPr/>
        </p:nvSpPr>
        <p:spPr>
          <a:xfrm>
            <a:off x="10058400" y="457200"/>
            <a:ext cx="155448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Zuvio poll</a:t>
            </a:r>
            <a:endParaRPr lang="en-US" sz="1100" dirty="0"/>
          </a:p>
        </p:txBody>
      </p:sp>
      <p:sp>
        <p:nvSpPr>
          <p:cNvPr id="6" name="Shape 4"/>
          <p:cNvSpPr/>
          <p:nvPr/>
        </p:nvSpPr>
        <p:spPr>
          <a:xfrm>
            <a:off x="1463040" y="1965960"/>
            <a:ext cx="9235440" cy="960120"/>
          </a:xfrm>
          <a:prstGeom prst="roundRect">
            <a:avLst>
              <a:gd name="adj" fmla="val 7619"/>
            </a:avLst>
          </a:prstGeom>
          <a:solidFill>
            <a:srgbClr val="F5F8FB"/>
          </a:solidFill>
          <a:ln w="12700">
            <a:solidFill>
              <a:srgbClr val="DDE5EC"/>
            </a:solidFill>
            <a:prstDash val="solid"/>
          </a:ln>
        </p:spPr>
      </p:sp>
      <p:sp>
        <p:nvSpPr>
          <p:cNvPr id="7" name="Shape 5"/>
          <p:cNvSpPr/>
          <p:nvPr/>
        </p:nvSpPr>
        <p:spPr>
          <a:xfrm>
            <a:off x="1691640" y="2212848"/>
            <a:ext cx="457200" cy="457200"/>
          </a:xfrm>
          <a:prstGeom prst="ellipse">
            <a:avLst/>
          </a:prstGeom>
          <a:solidFill>
            <a:srgbClr val="0B5CAD"/>
          </a:solidFill>
          <a:ln/>
        </p:spPr>
      </p:sp>
      <p:sp>
        <p:nvSpPr>
          <p:cNvPr id="8" name="Text 6"/>
          <p:cNvSpPr/>
          <p:nvPr/>
        </p:nvSpPr>
        <p:spPr>
          <a:xfrm>
            <a:off x="1691640" y="221284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9" name="Text 7"/>
          <p:cNvSpPr/>
          <p:nvPr/>
        </p:nvSpPr>
        <p:spPr>
          <a:xfrm>
            <a:off x="2377440" y="1965960"/>
            <a:ext cx="8138160" cy="960120"/>
          </a:xfrm>
          <a:prstGeom prst="rect">
            <a:avLst/>
          </a:prstGeom>
          <a:noFill/>
          <a:ln/>
        </p:spPr>
        <p:txBody>
          <a:bodyPr wrap="square" lIns="0" tIns="0" rIns="0" bIns="0" rtlCol="0" anchor="ctr"/>
          <a:lstStyle/>
          <a:p>
            <a:pPr marL="0" indent="0">
              <a:buNone/>
            </a:pPr>
            <a:r>
              <a:rPr lang="en-US" sz="1550" dirty="0">
                <a:solidFill>
                  <a:srgbClr val="1A2733"/>
                </a:solidFill>
                <a:latin typeface="Calibri" pitchFamily="34" charset="0"/>
                <a:ea typeface="Calibri" pitchFamily="34" charset="-122"/>
                <a:cs typeface="Calibri" pitchFamily="34" charset="-120"/>
              </a:rPr>
              <a:t>Yes — more layers and neurons always means higher accuracy</a:t>
            </a:r>
            <a:endParaRPr lang="en-US" sz="1550" dirty="0"/>
          </a:p>
        </p:txBody>
      </p:sp>
      <p:sp>
        <p:nvSpPr>
          <p:cNvPr id="10" name="Shape 8"/>
          <p:cNvSpPr/>
          <p:nvPr/>
        </p:nvSpPr>
        <p:spPr>
          <a:xfrm>
            <a:off x="1463040" y="3063240"/>
            <a:ext cx="9235440" cy="960120"/>
          </a:xfrm>
          <a:prstGeom prst="roundRect">
            <a:avLst>
              <a:gd name="adj" fmla="val 7619"/>
            </a:avLst>
          </a:prstGeom>
          <a:solidFill>
            <a:srgbClr val="F5F8FB"/>
          </a:solidFill>
          <a:ln w="12700">
            <a:solidFill>
              <a:srgbClr val="DDE5EC"/>
            </a:solidFill>
            <a:prstDash val="solid"/>
          </a:ln>
        </p:spPr>
      </p:sp>
      <p:sp>
        <p:nvSpPr>
          <p:cNvPr id="11" name="Shape 9"/>
          <p:cNvSpPr/>
          <p:nvPr/>
        </p:nvSpPr>
        <p:spPr>
          <a:xfrm>
            <a:off x="1691640" y="3310128"/>
            <a:ext cx="457200" cy="457200"/>
          </a:xfrm>
          <a:prstGeom prst="ellipse">
            <a:avLst/>
          </a:prstGeom>
          <a:solidFill>
            <a:srgbClr val="0B5CAD"/>
          </a:solidFill>
          <a:ln/>
        </p:spPr>
      </p:sp>
      <p:sp>
        <p:nvSpPr>
          <p:cNvPr id="12" name="Text 10"/>
          <p:cNvSpPr/>
          <p:nvPr/>
        </p:nvSpPr>
        <p:spPr>
          <a:xfrm>
            <a:off x="1691640" y="331012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3" name="Text 11"/>
          <p:cNvSpPr/>
          <p:nvPr/>
        </p:nvSpPr>
        <p:spPr>
          <a:xfrm>
            <a:off x="2377440" y="3063240"/>
            <a:ext cx="8138160" cy="960120"/>
          </a:xfrm>
          <a:prstGeom prst="rect">
            <a:avLst/>
          </a:prstGeom>
          <a:noFill/>
          <a:ln/>
        </p:spPr>
        <p:txBody>
          <a:bodyPr wrap="square" lIns="0" tIns="0" rIns="0" bIns="0" rtlCol="0" anchor="ctr"/>
          <a:lstStyle/>
          <a:p>
            <a:pPr marL="0" indent="0">
              <a:buNone/>
            </a:pPr>
            <a:r>
              <a:rPr lang="en-US" sz="1550" dirty="0">
                <a:solidFill>
                  <a:srgbClr val="1A2733"/>
                </a:solidFill>
                <a:latin typeface="Calibri" pitchFamily="34" charset="0"/>
                <a:ea typeface="Calibri" pitchFamily="34" charset="-122"/>
                <a:cs typeface="Calibri" pitchFamily="34" charset="-120"/>
              </a:rPr>
              <a:t>No — bigger can memorize the training data and do worse on new data</a:t>
            </a:r>
            <a:endParaRPr lang="en-US" sz="1550" dirty="0"/>
          </a:p>
        </p:txBody>
      </p:sp>
      <p:sp>
        <p:nvSpPr>
          <p:cNvPr id="14" name="Shape 12"/>
          <p:cNvSpPr/>
          <p:nvPr/>
        </p:nvSpPr>
        <p:spPr>
          <a:xfrm>
            <a:off x="1463040" y="4160520"/>
            <a:ext cx="9235440" cy="960120"/>
          </a:xfrm>
          <a:prstGeom prst="roundRect">
            <a:avLst>
              <a:gd name="adj" fmla="val 7619"/>
            </a:avLst>
          </a:prstGeom>
          <a:solidFill>
            <a:srgbClr val="F5F8FB"/>
          </a:solidFill>
          <a:ln w="12700">
            <a:solidFill>
              <a:srgbClr val="DDE5EC"/>
            </a:solidFill>
            <a:prstDash val="solid"/>
          </a:ln>
        </p:spPr>
      </p:sp>
      <p:sp>
        <p:nvSpPr>
          <p:cNvPr id="15" name="Shape 13"/>
          <p:cNvSpPr/>
          <p:nvPr/>
        </p:nvSpPr>
        <p:spPr>
          <a:xfrm>
            <a:off x="1691640" y="4407408"/>
            <a:ext cx="457200" cy="457200"/>
          </a:xfrm>
          <a:prstGeom prst="ellipse">
            <a:avLst/>
          </a:prstGeom>
          <a:solidFill>
            <a:srgbClr val="0B5CAD"/>
          </a:solidFill>
          <a:ln/>
        </p:spPr>
      </p:sp>
      <p:sp>
        <p:nvSpPr>
          <p:cNvPr id="16" name="Text 14"/>
          <p:cNvSpPr/>
          <p:nvPr/>
        </p:nvSpPr>
        <p:spPr>
          <a:xfrm>
            <a:off x="1691640" y="440740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7" name="Text 15"/>
          <p:cNvSpPr/>
          <p:nvPr/>
        </p:nvSpPr>
        <p:spPr>
          <a:xfrm>
            <a:off x="2377440" y="4160520"/>
            <a:ext cx="8138160" cy="960120"/>
          </a:xfrm>
          <a:prstGeom prst="rect">
            <a:avLst/>
          </a:prstGeom>
          <a:noFill/>
          <a:ln/>
        </p:spPr>
        <p:txBody>
          <a:bodyPr wrap="square" lIns="0" tIns="0" rIns="0" bIns="0" rtlCol="0" anchor="ctr"/>
          <a:lstStyle/>
          <a:p>
            <a:pPr marL="0" indent="0">
              <a:buNone/>
            </a:pPr>
            <a:r>
              <a:rPr lang="en-US" sz="1550" dirty="0">
                <a:solidFill>
                  <a:srgbClr val="1A2733"/>
                </a:solidFill>
                <a:latin typeface="Calibri" pitchFamily="34" charset="0"/>
                <a:ea typeface="Calibri" pitchFamily="34" charset="-122"/>
                <a:cs typeface="Calibri" pitchFamily="34" charset="-120"/>
              </a:rPr>
              <a:t>It depends on how much data you have</a:t>
            </a:r>
            <a:endParaRPr lang="en-US" sz="1550" dirty="0"/>
          </a:p>
        </p:txBody>
      </p:sp>
      <p:sp>
        <p:nvSpPr>
          <p:cNvPr id="18" name="Text 16"/>
          <p:cNvSpPr/>
          <p:nvPr/>
        </p:nvSpPr>
        <p:spPr>
          <a:xfrm>
            <a:off x="548640" y="6473952"/>
            <a:ext cx="11091672" cy="274320"/>
          </a:xfrm>
          <a:prstGeom prst="rect">
            <a:avLst/>
          </a:prstGeom>
          <a:noFill/>
          <a:ln/>
        </p:spPr>
        <p:txBody>
          <a:bodyPr wrap="square" lIns="0" tIns="0" rIns="0" bIns="0" rtlCol="0" anchor="ctr"/>
          <a:lstStyle/>
          <a:p>
            <a:pPr marL="0" indent="0">
              <a:buNone/>
            </a:pPr>
            <a:r>
              <a:rPr lang="en-US" sz="900" dirty="0">
                <a:solidFill>
                  <a:srgbClr val="5B6470"/>
                </a:solidFill>
                <a:latin typeface="Calibri" pitchFamily="34" charset="0"/>
                <a:ea typeface="Calibri" pitchFamily="34" charset="-122"/>
                <a:cs typeface="Calibri" pitchFamily="34" charset="-120"/>
              </a:rPr>
              <a:t>Digital Communication &amp; Emerging Technologies · NCCU ISS 2026 · Day 2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292608"/>
            <a:ext cx="11091672" cy="658368"/>
          </a:xfrm>
          <a:prstGeom prst="rect">
            <a:avLst/>
          </a:prstGeom>
          <a:noFill/>
          <a:ln/>
        </p:spPr>
        <p:txBody>
          <a:bodyPr wrap="square" lIns="0" tIns="0" rIns="0" bIns="0" rtlCol="0" anchor="ctr"/>
          <a:lstStyle/>
          <a:p>
            <a:pPr marL="0" indent="0">
              <a:buNone/>
            </a:pPr>
            <a:r>
              <a:rPr lang="en-US" sz="3100" b="1" dirty="0">
                <a:solidFill>
                  <a:srgbClr val="1A2733"/>
                </a:solidFill>
                <a:latin typeface="Cambria" pitchFamily="34" charset="0"/>
                <a:ea typeface="Cambria" pitchFamily="34" charset="-122"/>
                <a:cs typeface="Cambria" pitchFamily="34" charset="-120"/>
              </a:rPr>
              <a:t>… both B and C are right</a:t>
            </a:r>
            <a:endParaRPr lang="en-US" sz="3100" dirty="0"/>
          </a:p>
        </p:txBody>
      </p:sp>
      <p:sp>
        <p:nvSpPr>
          <p:cNvPr id="3" name="Text 1"/>
          <p:cNvSpPr/>
          <p:nvPr/>
        </p:nvSpPr>
        <p:spPr>
          <a:xfrm>
            <a:off x="548640" y="896112"/>
            <a:ext cx="11091672" cy="365760"/>
          </a:xfrm>
          <a:prstGeom prst="rect">
            <a:avLst/>
          </a:prstGeom>
          <a:noFill/>
          <a:ln/>
        </p:spPr>
        <p:txBody>
          <a:bodyPr wrap="square" lIns="0" tIns="0" rIns="0" bIns="0" rtlCol="0" anchor="ctr"/>
          <a:lstStyle/>
          <a:p>
            <a:pPr marL="0" indent="0">
              <a:buNone/>
            </a:pPr>
            <a:r>
              <a:rPr lang="en-US" sz="1500" i="1" dirty="0">
                <a:solidFill>
                  <a:srgbClr val="5B6470"/>
                </a:solidFill>
                <a:latin typeface="Calibri" pitchFamily="34" charset="0"/>
                <a:ea typeface="Calibri" pitchFamily="34" charset="-122"/>
                <a:cs typeface="Calibri" pitchFamily="34" charset="-120"/>
              </a:rPr>
              <a:t>Bigger is not automatically better</a:t>
            </a:r>
            <a:endParaRPr lang="en-US" sz="1500" dirty="0"/>
          </a:p>
        </p:txBody>
      </p:sp>
      <p:sp>
        <p:nvSpPr>
          <p:cNvPr id="4" name="Shape 2"/>
          <p:cNvSpPr/>
          <p:nvPr/>
        </p:nvSpPr>
        <p:spPr>
          <a:xfrm>
            <a:off x="548640" y="1645920"/>
            <a:ext cx="11091672" cy="1554480"/>
          </a:xfrm>
          <a:prstGeom prst="roundRect">
            <a:avLst>
              <a:gd name="adj" fmla="val 4706"/>
            </a:avLst>
          </a:prstGeom>
          <a:solidFill>
            <a:srgbClr val="EAF2FB"/>
          </a:solidFill>
          <a:ln/>
        </p:spPr>
      </p:sp>
      <p:sp>
        <p:nvSpPr>
          <p:cNvPr id="5" name="Text 3"/>
          <p:cNvSpPr/>
          <p:nvPr/>
        </p:nvSpPr>
        <p:spPr>
          <a:xfrm>
            <a:off x="868680" y="1828800"/>
            <a:ext cx="10424160" cy="1188720"/>
          </a:xfrm>
          <a:prstGeom prst="rect">
            <a:avLst/>
          </a:prstGeom>
          <a:noFill/>
          <a:ln/>
        </p:spPr>
        <p:txBody>
          <a:bodyPr wrap="square" lIns="0" tIns="0" rIns="0" bIns="0" rtlCol="0" anchor="ctr"/>
          <a:lstStyle/>
          <a:p>
            <a:pPr marL="0" indent="0">
              <a:buNone/>
            </a:pPr>
            <a:r>
              <a:rPr lang="en-US" sz="1550" dirty="0">
                <a:solidFill>
                  <a:srgbClr val="1A2733"/>
                </a:solidFill>
                <a:latin typeface="Calibri" pitchFamily="34" charset="0"/>
                <a:ea typeface="Calibri" pitchFamily="34" charset="-122"/>
                <a:cs typeface="Calibri" pitchFamily="34" charset="-120"/>
              </a:rPr>
              <a:t>A bigger network has more capacity — which it can spend either on learning real patterns or on memorizing the exact training images. </a:t>
            </a:r>
            <a:r>
              <a:rPr lang="en-US" sz="1550" b="1" dirty="0">
                <a:solidFill>
                  <a:srgbClr val="0B5CAD"/>
                </a:solidFill>
                <a:latin typeface="Calibri" pitchFamily="34" charset="0"/>
                <a:ea typeface="Calibri" pitchFamily="34" charset="-122"/>
                <a:cs typeface="Calibri" pitchFamily="34" charset="-120"/>
              </a:rPr>
              <a:t>With limited data, a big network tends to memorize (overfit) and does worse on new photos.</a:t>
            </a:r>
            <a:endParaRPr lang="en-US" sz="1550" dirty="0"/>
          </a:p>
        </p:txBody>
      </p:sp>
      <p:sp>
        <p:nvSpPr>
          <p:cNvPr id="6" name="Text 4"/>
          <p:cNvSpPr/>
          <p:nvPr/>
        </p:nvSpPr>
        <p:spPr>
          <a:xfrm>
            <a:off x="548640" y="3383280"/>
            <a:ext cx="11091672" cy="822960"/>
          </a:xfrm>
          <a:prstGeom prst="rect">
            <a:avLst/>
          </a:prstGeom>
          <a:noFill/>
          <a:ln/>
        </p:spPr>
        <p:txBody>
          <a:bodyPr wrap="square" lIns="0" tIns="0" rIns="0" bIns="0" rtlCol="0" anchor="ctr"/>
          <a:lstStyle/>
          <a:p>
            <a:pPr marL="0" indent="0">
              <a:buNone/>
            </a:pPr>
            <a:r>
              <a:rPr lang="en-US" sz="1500" dirty="0">
                <a:solidFill>
                  <a:srgbClr val="1A2733"/>
                </a:solidFill>
                <a:latin typeface="Calibri" pitchFamily="34" charset="0"/>
                <a:ea typeface="Calibri" pitchFamily="34" charset="-122"/>
                <a:cs typeface="Calibri" pitchFamily="34" charset="-120"/>
              </a:rPr>
              <a:t>This is the central tension of the whole day: enough capacity to learn, not so much that it memorizes. We'll name that failure — overfitting — and fight it in three ways.</a:t>
            </a:r>
            <a:endParaRPr lang="en-US" sz="1500" dirty="0"/>
          </a:p>
        </p:txBody>
      </p:sp>
      <p:sp>
        <p:nvSpPr>
          <p:cNvPr id="7" name="Text 5"/>
          <p:cNvSpPr/>
          <p:nvPr/>
        </p:nvSpPr>
        <p:spPr>
          <a:xfrm>
            <a:off x="548640" y="4343400"/>
            <a:ext cx="11064240" cy="457200"/>
          </a:xfrm>
          <a:prstGeom prst="rect">
            <a:avLst/>
          </a:prstGeom>
          <a:noFill/>
          <a:ln/>
        </p:spPr>
        <p:txBody>
          <a:bodyPr wrap="square" lIns="0" tIns="0" rIns="0" bIns="0" rtlCol="0" anchor="ctr"/>
          <a:lstStyle/>
          <a:p>
            <a:pPr marL="0" indent="0">
              <a:buNone/>
            </a:pPr>
            <a:r>
              <a:rPr lang="en-US" sz="1400" i="1" dirty="0">
                <a:solidFill>
                  <a:srgbClr val="0B5CAD"/>
                </a:solidFill>
                <a:latin typeface="Calibri" pitchFamily="34" charset="0"/>
                <a:ea typeface="Calibri" pitchFamily="34" charset="-122"/>
                <a:cs typeface="Calibri" pitchFamily="34" charset="-120"/>
              </a:rPr>
              <a:t>For now, hold the thought. First, let's see how CNNs make vision efficient in the first place.</a:t>
            </a:r>
            <a:endParaRPr lang="en-US" sz="1400" dirty="0"/>
          </a:p>
        </p:txBody>
      </p:sp>
      <p:sp>
        <p:nvSpPr>
          <p:cNvPr id="8" name="Text 6"/>
          <p:cNvSpPr/>
          <p:nvPr/>
        </p:nvSpPr>
        <p:spPr>
          <a:xfrm>
            <a:off x="548640" y="6473952"/>
            <a:ext cx="11091672" cy="274320"/>
          </a:xfrm>
          <a:prstGeom prst="rect">
            <a:avLst/>
          </a:prstGeom>
          <a:noFill/>
          <a:ln/>
        </p:spPr>
        <p:txBody>
          <a:bodyPr wrap="square" lIns="0" tIns="0" rIns="0" bIns="0" rtlCol="0" anchor="ctr"/>
          <a:lstStyle/>
          <a:p>
            <a:pPr marL="0" indent="0">
              <a:buNone/>
            </a:pPr>
            <a:r>
              <a:rPr lang="en-US" sz="900" dirty="0">
                <a:solidFill>
                  <a:srgbClr val="5B6470"/>
                </a:solidFill>
                <a:latin typeface="Calibri" pitchFamily="34" charset="0"/>
                <a:ea typeface="Calibri" pitchFamily="34" charset="-122"/>
                <a:cs typeface="Calibri" pitchFamily="34" charset="-120"/>
              </a:rPr>
              <a:t>Digital Communication &amp; Emerging Technologies · NCCU ISS 2026 · Day 2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292608"/>
            <a:ext cx="11091672" cy="658368"/>
          </a:xfrm>
          <a:prstGeom prst="rect">
            <a:avLst/>
          </a:prstGeom>
          <a:noFill/>
          <a:ln/>
        </p:spPr>
        <p:txBody>
          <a:bodyPr wrap="square" lIns="0" tIns="0" rIns="0" bIns="0" rtlCol="0" anchor="ctr"/>
          <a:lstStyle/>
          <a:p>
            <a:pPr marL="0" indent="0">
              <a:buNone/>
            </a:pPr>
            <a:r>
              <a:rPr lang="en-US" sz="3100" b="1" dirty="0">
                <a:solidFill>
                  <a:srgbClr val="1A2733"/>
                </a:solidFill>
                <a:latin typeface="Cambria" pitchFamily="34" charset="0"/>
                <a:ea typeface="Cambria" pitchFamily="34" charset="-122"/>
                <a:cs typeface="Cambria" pitchFamily="34" charset="-120"/>
              </a:rPr>
              <a:t>But flat networks waste what images tell us</a:t>
            </a:r>
            <a:endParaRPr lang="en-US" sz="3100" dirty="0"/>
          </a:p>
        </p:txBody>
      </p:sp>
      <p:sp>
        <p:nvSpPr>
          <p:cNvPr id="3" name="Text 1"/>
          <p:cNvSpPr/>
          <p:nvPr/>
        </p:nvSpPr>
        <p:spPr>
          <a:xfrm>
            <a:off x="548640" y="896112"/>
            <a:ext cx="11091672" cy="365760"/>
          </a:xfrm>
          <a:prstGeom prst="rect">
            <a:avLst/>
          </a:prstGeom>
          <a:noFill/>
          <a:ln/>
        </p:spPr>
        <p:txBody>
          <a:bodyPr wrap="square" lIns="0" tIns="0" rIns="0" bIns="0" rtlCol="0" anchor="ctr"/>
          <a:lstStyle/>
          <a:p>
            <a:pPr marL="0" indent="0">
              <a:buNone/>
            </a:pPr>
            <a:r>
              <a:rPr lang="en-US" sz="1500" i="1" dirty="0">
                <a:solidFill>
                  <a:srgbClr val="5B6470"/>
                </a:solidFill>
                <a:latin typeface="Calibri" pitchFamily="34" charset="0"/>
                <a:ea typeface="Calibri" pitchFamily="34" charset="-122"/>
                <a:cs typeface="Calibri" pitchFamily="34" charset="-120"/>
              </a:rPr>
              <a:t>Nearby pixels belong together — a plain network ignores that</a:t>
            </a:r>
            <a:endParaRPr lang="en-US" sz="1500" dirty="0"/>
          </a:p>
        </p:txBody>
      </p:sp>
      <p:sp>
        <p:nvSpPr>
          <p:cNvPr id="4" name="Shape 2"/>
          <p:cNvSpPr/>
          <p:nvPr/>
        </p:nvSpPr>
        <p:spPr>
          <a:xfrm>
            <a:off x="548640" y="1600200"/>
            <a:ext cx="5394960" cy="3566160"/>
          </a:xfrm>
          <a:prstGeom prst="roundRect">
            <a:avLst>
              <a:gd name="adj" fmla="val 2051"/>
            </a:avLst>
          </a:prstGeom>
          <a:solidFill>
            <a:srgbClr val="F5F8FB"/>
          </a:solidFill>
          <a:ln w="12700">
            <a:solidFill>
              <a:srgbClr val="DDE5EC"/>
            </a:solidFill>
            <a:prstDash val="solid"/>
          </a:ln>
        </p:spPr>
      </p:sp>
      <p:sp>
        <p:nvSpPr>
          <p:cNvPr id="5" name="Text 3"/>
          <p:cNvSpPr/>
          <p:nvPr/>
        </p:nvSpPr>
        <p:spPr>
          <a:xfrm>
            <a:off x="822960" y="1783080"/>
            <a:ext cx="4846320" cy="365760"/>
          </a:xfrm>
          <a:prstGeom prst="rect">
            <a:avLst/>
          </a:prstGeom>
          <a:noFill/>
          <a:ln/>
        </p:spPr>
        <p:txBody>
          <a:bodyPr wrap="square" lIns="0" tIns="0" rIns="0" bIns="0" rtlCol="0" anchor="ctr"/>
          <a:lstStyle/>
          <a:p>
            <a:pPr marL="0" indent="0">
              <a:buNone/>
            </a:pPr>
            <a:r>
              <a:rPr lang="en-US" sz="1600" b="1" dirty="0">
                <a:solidFill>
                  <a:srgbClr val="1A2733"/>
                </a:solidFill>
                <a:latin typeface="Cambria" pitchFamily="34" charset="0"/>
                <a:ea typeface="Cambria" pitchFamily="34" charset="-122"/>
                <a:cs typeface="Cambria" pitchFamily="34" charset="-120"/>
              </a:rPr>
              <a:t>The problem</a:t>
            </a:r>
            <a:endParaRPr lang="en-US" sz="1600" dirty="0"/>
          </a:p>
        </p:txBody>
      </p:sp>
      <p:sp>
        <p:nvSpPr>
          <p:cNvPr id="6" name="Text 4"/>
          <p:cNvSpPr/>
          <p:nvPr/>
        </p:nvSpPr>
        <p:spPr>
          <a:xfrm>
            <a:off x="822960" y="2240280"/>
            <a:ext cx="4846320" cy="1828800"/>
          </a:xfrm>
          <a:prstGeom prst="rect">
            <a:avLst/>
          </a:prstGeom>
          <a:noFill/>
          <a:ln/>
        </p:spPr>
        <p:txBody>
          <a:bodyPr wrap="square" lIns="0" tIns="0" rIns="0" bIns="0" rtlCol="0" anchor="ctr"/>
          <a:lstStyle/>
          <a:p>
            <a:pPr marL="0" indent="0">
              <a:buNone/>
            </a:pPr>
            <a:r>
              <a:rPr lang="en-US" sz="1400" dirty="0">
                <a:solidFill>
                  <a:srgbClr val="5B6470"/>
                </a:solidFill>
                <a:latin typeface="Calibri" pitchFamily="34" charset="0"/>
                <a:ea typeface="Calibri" pitchFamily="34" charset="-122"/>
                <a:cs typeface="Calibri" pitchFamily="34" charset="-120"/>
              </a:rPr>
              <a:t>If you flatten 784 pixels into one long row, the network loses all sense of where each pixel was. A sleeve moved two pixels looks like a totally different input. It has to re-learn every shape in every position.</a:t>
            </a:r>
            <a:endParaRPr lang="en-US" sz="1400" dirty="0"/>
          </a:p>
        </p:txBody>
      </p:sp>
      <p:sp>
        <p:nvSpPr>
          <p:cNvPr id="7" name="Shape 5"/>
          <p:cNvSpPr/>
          <p:nvPr/>
        </p:nvSpPr>
        <p:spPr>
          <a:xfrm>
            <a:off x="6172200" y="1600200"/>
            <a:ext cx="5468112" cy="3566160"/>
          </a:xfrm>
          <a:prstGeom prst="roundRect">
            <a:avLst>
              <a:gd name="adj" fmla="val 2051"/>
            </a:avLst>
          </a:prstGeom>
          <a:solidFill>
            <a:srgbClr val="EAF2FB"/>
          </a:solidFill>
          <a:ln/>
        </p:spPr>
      </p:sp>
      <p:sp>
        <p:nvSpPr>
          <p:cNvPr id="8" name="Text 6"/>
          <p:cNvSpPr/>
          <p:nvPr/>
        </p:nvSpPr>
        <p:spPr>
          <a:xfrm>
            <a:off x="6446520" y="1783080"/>
            <a:ext cx="4937760" cy="365760"/>
          </a:xfrm>
          <a:prstGeom prst="rect">
            <a:avLst/>
          </a:prstGeom>
          <a:noFill/>
          <a:ln/>
        </p:spPr>
        <p:txBody>
          <a:bodyPr wrap="square" lIns="0" tIns="0" rIns="0" bIns="0" rtlCol="0" anchor="ctr"/>
          <a:lstStyle/>
          <a:p>
            <a:pPr marL="0" indent="0">
              <a:buNone/>
            </a:pPr>
            <a:r>
              <a:rPr lang="en-US" sz="1600" b="1" dirty="0">
                <a:solidFill>
                  <a:srgbClr val="0B5CAD"/>
                </a:solidFill>
                <a:latin typeface="Cambria" pitchFamily="34" charset="0"/>
                <a:ea typeface="Cambria" pitchFamily="34" charset="-122"/>
                <a:cs typeface="Cambria" pitchFamily="34" charset="-120"/>
              </a:rPr>
              <a:t>The insight</a:t>
            </a:r>
            <a:endParaRPr lang="en-US" sz="1600" dirty="0"/>
          </a:p>
        </p:txBody>
      </p:sp>
      <p:sp>
        <p:nvSpPr>
          <p:cNvPr id="9" name="Text 7"/>
          <p:cNvSpPr/>
          <p:nvPr/>
        </p:nvSpPr>
        <p:spPr>
          <a:xfrm>
            <a:off x="6446520" y="2240280"/>
            <a:ext cx="4937760" cy="2651760"/>
          </a:xfrm>
          <a:prstGeom prst="rect">
            <a:avLst/>
          </a:prstGeom>
          <a:noFill/>
          <a:ln/>
        </p:spPr>
        <p:txBody>
          <a:bodyPr wrap="square" lIns="0" tIns="0" rIns="0" bIns="0" rtlCol="0" anchor="ctr"/>
          <a:lstStyle/>
          <a:p>
            <a:pPr marL="0" indent="0">
              <a:buNone/>
            </a:pPr>
            <a:r>
              <a:rPr lang="en-US" sz="1400" dirty="0">
                <a:solidFill>
                  <a:srgbClr val="1A2733"/>
                </a:solidFill>
                <a:latin typeface="Calibri" pitchFamily="34" charset="0"/>
                <a:ea typeface="Calibri" pitchFamily="34" charset="-122"/>
                <a:cs typeface="Calibri" pitchFamily="34" charset="-120"/>
              </a:rPr>
              <a:t>In images, meaning is local: an edge, a corner, a texture is a small patch of neighboring pixels. So build a network that looks at small patches at a time, and reuses the same pattern-detector across the whole image.
</a:t>
            </a:r>
            <a:r>
              <a:rPr lang="en-US" sz="1400" b="1" dirty="0">
                <a:solidFill>
                  <a:srgbClr val="0B5CAD"/>
                </a:solidFill>
                <a:latin typeface="Calibri" pitchFamily="34" charset="0"/>
                <a:ea typeface="Calibri" pitchFamily="34" charset="-122"/>
                <a:cs typeface="Calibri" pitchFamily="34" charset="-120"/>
              </a:rPr>
              <a:t>That network is a convolutional neural network (CNN).</a:t>
            </a:r>
            <a:endParaRPr lang="en-US" sz="1400" dirty="0"/>
          </a:p>
        </p:txBody>
      </p:sp>
      <p:sp>
        <p:nvSpPr>
          <p:cNvPr id="10" name="Text 8"/>
          <p:cNvSpPr/>
          <p:nvPr/>
        </p:nvSpPr>
        <p:spPr>
          <a:xfrm>
            <a:off x="548640" y="6473952"/>
            <a:ext cx="11091672" cy="274320"/>
          </a:xfrm>
          <a:prstGeom prst="rect">
            <a:avLst/>
          </a:prstGeom>
          <a:noFill/>
          <a:ln/>
        </p:spPr>
        <p:txBody>
          <a:bodyPr wrap="square" lIns="0" tIns="0" rIns="0" bIns="0" rtlCol="0" anchor="ctr"/>
          <a:lstStyle/>
          <a:p>
            <a:pPr marL="0" indent="0">
              <a:buNone/>
            </a:pPr>
            <a:r>
              <a:rPr lang="en-US" sz="900" dirty="0">
                <a:solidFill>
                  <a:srgbClr val="5B6470"/>
                </a:solidFill>
                <a:latin typeface="Calibri" pitchFamily="34" charset="0"/>
                <a:ea typeface="Calibri" pitchFamily="34" charset="-122"/>
                <a:cs typeface="Calibri" pitchFamily="34" charset="-120"/>
              </a:rPr>
              <a:t>Digital Communication &amp; Emerging Technologies · NCCU ISS 2026 · Day 2  |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292608"/>
            <a:ext cx="11091672" cy="658368"/>
          </a:xfrm>
          <a:prstGeom prst="rect">
            <a:avLst/>
          </a:prstGeom>
          <a:noFill/>
          <a:ln/>
        </p:spPr>
        <p:txBody>
          <a:bodyPr wrap="square" lIns="0" tIns="0" rIns="0" bIns="0" rtlCol="0" anchor="ctr"/>
          <a:lstStyle/>
          <a:p>
            <a:pPr marL="0" indent="0">
              <a:buNone/>
            </a:pPr>
            <a:r>
              <a:rPr lang="en-US" sz="3100" b="1" dirty="0">
                <a:solidFill>
                  <a:srgbClr val="1A2733"/>
                </a:solidFill>
                <a:latin typeface="Cambria" pitchFamily="34" charset="0"/>
                <a:ea typeface="Cambria" pitchFamily="34" charset="-122"/>
                <a:cs typeface="Cambria" pitchFamily="34" charset="-120"/>
              </a:rPr>
              <a:t>Convolution: slide a small filter over the image</a:t>
            </a:r>
            <a:endParaRPr lang="en-US" sz="3100" dirty="0"/>
          </a:p>
        </p:txBody>
      </p:sp>
      <p:sp>
        <p:nvSpPr>
          <p:cNvPr id="3" name="Text 1"/>
          <p:cNvSpPr/>
          <p:nvPr/>
        </p:nvSpPr>
        <p:spPr>
          <a:xfrm>
            <a:off x="548640" y="896112"/>
            <a:ext cx="11091672" cy="365760"/>
          </a:xfrm>
          <a:prstGeom prst="rect">
            <a:avLst/>
          </a:prstGeom>
          <a:noFill/>
          <a:ln/>
        </p:spPr>
        <p:txBody>
          <a:bodyPr wrap="square" lIns="0" tIns="0" rIns="0" bIns="0" rtlCol="0" anchor="ctr"/>
          <a:lstStyle/>
          <a:p>
            <a:pPr marL="0" indent="0">
              <a:buNone/>
            </a:pPr>
            <a:r>
              <a:rPr lang="en-US" sz="1500" i="1" dirty="0">
                <a:solidFill>
                  <a:srgbClr val="5B6470"/>
                </a:solidFill>
                <a:latin typeface="Calibri" pitchFamily="34" charset="0"/>
                <a:ea typeface="Calibri" pitchFamily="34" charset="-122"/>
                <a:cs typeface="Calibri" pitchFamily="34" charset="-120"/>
              </a:rPr>
              <a:t>The filter (kernel) is a tiny pattern-detector</a:t>
            </a:r>
            <a:endParaRPr lang="en-US" sz="1500" dirty="0"/>
          </a:p>
        </p:txBody>
      </p:sp>
      <p:sp>
        <p:nvSpPr>
          <p:cNvPr id="4" name="Shape 2"/>
          <p:cNvSpPr/>
          <p:nvPr/>
        </p:nvSpPr>
        <p:spPr>
          <a:xfrm>
            <a:off x="731520" y="1828800"/>
            <a:ext cx="365760" cy="365760"/>
          </a:xfrm>
          <a:prstGeom prst="rect">
            <a:avLst/>
          </a:prstGeom>
          <a:solidFill>
            <a:srgbClr val="D3E4F6"/>
          </a:solidFill>
          <a:ln w="19050">
            <a:solidFill>
              <a:srgbClr val="0B5CAD"/>
            </a:solidFill>
            <a:prstDash val="solid"/>
          </a:ln>
        </p:spPr>
      </p:sp>
      <p:sp>
        <p:nvSpPr>
          <p:cNvPr id="5" name="Shape 3"/>
          <p:cNvSpPr/>
          <p:nvPr/>
        </p:nvSpPr>
        <p:spPr>
          <a:xfrm>
            <a:off x="1097280" y="1828800"/>
            <a:ext cx="365760" cy="365760"/>
          </a:xfrm>
          <a:prstGeom prst="rect">
            <a:avLst/>
          </a:prstGeom>
          <a:solidFill>
            <a:srgbClr val="D3E4F6"/>
          </a:solidFill>
          <a:ln w="19050">
            <a:solidFill>
              <a:srgbClr val="0B5CAD"/>
            </a:solidFill>
            <a:prstDash val="solid"/>
          </a:ln>
        </p:spPr>
      </p:sp>
      <p:sp>
        <p:nvSpPr>
          <p:cNvPr id="6" name="Shape 4"/>
          <p:cNvSpPr/>
          <p:nvPr/>
        </p:nvSpPr>
        <p:spPr>
          <a:xfrm>
            <a:off x="1463040" y="1828800"/>
            <a:ext cx="365760" cy="365760"/>
          </a:xfrm>
          <a:prstGeom prst="rect">
            <a:avLst/>
          </a:prstGeom>
          <a:solidFill>
            <a:srgbClr val="D3E4F6"/>
          </a:solidFill>
          <a:ln w="19050">
            <a:solidFill>
              <a:srgbClr val="0B5CAD"/>
            </a:solidFill>
            <a:prstDash val="solid"/>
          </a:ln>
        </p:spPr>
      </p:sp>
      <p:sp>
        <p:nvSpPr>
          <p:cNvPr id="7" name="Shape 5"/>
          <p:cNvSpPr/>
          <p:nvPr/>
        </p:nvSpPr>
        <p:spPr>
          <a:xfrm>
            <a:off x="1828800" y="1828800"/>
            <a:ext cx="365760" cy="365760"/>
          </a:xfrm>
          <a:prstGeom prst="rect">
            <a:avLst/>
          </a:prstGeom>
          <a:solidFill>
            <a:srgbClr val="F5F8FB"/>
          </a:solidFill>
          <a:ln w="9525">
            <a:solidFill>
              <a:srgbClr val="DDE5EC"/>
            </a:solidFill>
            <a:prstDash val="solid"/>
          </a:ln>
        </p:spPr>
      </p:sp>
      <p:sp>
        <p:nvSpPr>
          <p:cNvPr id="8" name="Shape 6"/>
          <p:cNvSpPr/>
          <p:nvPr/>
        </p:nvSpPr>
        <p:spPr>
          <a:xfrm>
            <a:off x="2194560" y="1828800"/>
            <a:ext cx="365760" cy="365760"/>
          </a:xfrm>
          <a:prstGeom prst="rect">
            <a:avLst/>
          </a:prstGeom>
          <a:solidFill>
            <a:srgbClr val="F5F8FB"/>
          </a:solidFill>
          <a:ln w="9525">
            <a:solidFill>
              <a:srgbClr val="DDE5EC"/>
            </a:solidFill>
            <a:prstDash val="solid"/>
          </a:ln>
        </p:spPr>
      </p:sp>
      <p:sp>
        <p:nvSpPr>
          <p:cNvPr id="9" name="Shape 7"/>
          <p:cNvSpPr/>
          <p:nvPr/>
        </p:nvSpPr>
        <p:spPr>
          <a:xfrm>
            <a:off x="2560320" y="1828800"/>
            <a:ext cx="365760" cy="365760"/>
          </a:xfrm>
          <a:prstGeom prst="rect">
            <a:avLst/>
          </a:prstGeom>
          <a:solidFill>
            <a:srgbClr val="F5F8FB"/>
          </a:solidFill>
          <a:ln w="9525">
            <a:solidFill>
              <a:srgbClr val="DDE5EC"/>
            </a:solidFill>
            <a:prstDash val="solid"/>
          </a:ln>
        </p:spPr>
      </p:sp>
      <p:sp>
        <p:nvSpPr>
          <p:cNvPr id="10" name="Shape 8"/>
          <p:cNvSpPr/>
          <p:nvPr/>
        </p:nvSpPr>
        <p:spPr>
          <a:xfrm>
            <a:off x="731520" y="2194560"/>
            <a:ext cx="365760" cy="365760"/>
          </a:xfrm>
          <a:prstGeom prst="rect">
            <a:avLst/>
          </a:prstGeom>
          <a:solidFill>
            <a:srgbClr val="D3E4F6"/>
          </a:solidFill>
          <a:ln w="19050">
            <a:solidFill>
              <a:srgbClr val="0B5CAD"/>
            </a:solidFill>
            <a:prstDash val="solid"/>
          </a:ln>
        </p:spPr>
      </p:sp>
      <p:sp>
        <p:nvSpPr>
          <p:cNvPr id="11" name="Shape 9"/>
          <p:cNvSpPr/>
          <p:nvPr/>
        </p:nvSpPr>
        <p:spPr>
          <a:xfrm>
            <a:off x="1097280" y="2194560"/>
            <a:ext cx="365760" cy="365760"/>
          </a:xfrm>
          <a:prstGeom prst="rect">
            <a:avLst/>
          </a:prstGeom>
          <a:solidFill>
            <a:srgbClr val="D3E4F6"/>
          </a:solidFill>
          <a:ln w="19050">
            <a:solidFill>
              <a:srgbClr val="0B5CAD"/>
            </a:solidFill>
            <a:prstDash val="solid"/>
          </a:ln>
        </p:spPr>
      </p:sp>
      <p:sp>
        <p:nvSpPr>
          <p:cNvPr id="12" name="Shape 10"/>
          <p:cNvSpPr/>
          <p:nvPr/>
        </p:nvSpPr>
        <p:spPr>
          <a:xfrm>
            <a:off x="1463040" y="2194560"/>
            <a:ext cx="365760" cy="365760"/>
          </a:xfrm>
          <a:prstGeom prst="rect">
            <a:avLst/>
          </a:prstGeom>
          <a:solidFill>
            <a:srgbClr val="D3E4F6"/>
          </a:solidFill>
          <a:ln w="19050">
            <a:solidFill>
              <a:srgbClr val="0B5CAD"/>
            </a:solidFill>
            <a:prstDash val="solid"/>
          </a:ln>
        </p:spPr>
      </p:sp>
      <p:sp>
        <p:nvSpPr>
          <p:cNvPr id="13" name="Shape 11"/>
          <p:cNvSpPr/>
          <p:nvPr/>
        </p:nvSpPr>
        <p:spPr>
          <a:xfrm>
            <a:off x="1828800" y="2194560"/>
            <a:ext cx="365760" cy="365760"/>
          </a:xfrm>
          <a:prstGeom prst="rect">
            <a:avLst/>
          </a:prstGeom>
          <a:solidFill>
            <a:srgbClr val="F5F8FB"/>
          </a:solidFill>
          <a:ln w="9525">
            <a:solidFill>
              <a:srgbClr val="DDE5EC"/>
            </a:solidFill>
            <a:prstDash val="solid"/>
          </a:ln>
        </p:spPr>
      </p:sp>
      <p:sp>
        <p:nvSpPr>
          <p:cNvPr id="14" name="Shape 12"/>
          <p:cNvSpPr/>
          <p:nvPr/>
        </p:nvSpPr>
        <p:spPr>
          <a:xfrm>
            <a:off x="2194560" y="2194560"/>
            <a:ext cx="365760" cy="365760"/>
          </a:xfrm>
          <a:prstGeom prst="rect">
            <a:avLst/>
          </a:prstGeom>
          <a:solidFill>
            <a:srgbClr val="F5F8FB"/>
          </a:solidFill>
          <a:ln w="9525">
            <a:solidFill>
              <a:srgbClr val="DDE5EC"/>
            </a:solidFill>
            <a:prstDash val="solid"/>
          </a:ln>
        </p:spPr>
      </p:sp>
      <p:sp>
        <p:nvSpPr>
          <p:cNvPr id="15" name="Shape 13"/>
          <p:cNvSpPr/>
          <p:nvPr/>
        </p:nvSpPr>
        <p:spPr>
          <a:xfrm>
            <a:off x="2560320" y="2194560"/>
            <a:ext cx="365760" cy="365760"/>
          </a:xfrm>
          <a:prstGeom prst="rect">
            <a:avLst/>
          </a:prstGeom>
          <a:solidFill>
            <a:srgbClr val="F5F8FB"/>
          </a:solidFill>
          <a:ln w="9525">
            <a:solidFill>
              <a:srgbClr val="DDE5EC"/>
            </a:solidFill>
            <a:prstDash val="solid"/>
          </a:ln>
        </p:spPr>
      </p:sp>
      <p:sp>
        <p:nvSpPr>
          <p:cNvPr id="16" name="Shape 14"/>
          <p:cNvSpPr/>
          <p:nvPr/>
        </p:nvSpPr>
        <p:spPr>
          <a:xfrm>
            <a:off x="731520" y="2560320"/>
            <a:ext cx="365760" cy="365760"/>
          </a:xfrm>
          <a:prstGeom prst="rect">
            <a:avLst/>
          </a:prstGeom>
          <a:solidFill>
            <a:srgbClr val="D3E4F6"/>
          </a:solidFill>
          <a:ln w="19050">
            <a:solidFill>
              <a:srgbClr val="0B5CAD"/>
            </a:solidFill>
            <a:prstDash val="solid"/>
          </a:ln>
        </p:spPr>
      </p:sp>
      <p:sp>
        <p:nvSpPr>
          <p:cNvPr id="17" name="Shape 15"/>
          <p:cNvSpPr/>
          <p:nvPr/>
        </p:nvSpPr>
        <p:spPr>
          <a:xfrm>
            <a:off x="1097280" y="2560320"/>
            <a:ext cx="365760" cy="365760"/>
          </a:xfrm>
          <a:prstGeom prst="rect">
            <a:avLst/>
          </a:prstGeom>
          <a:solidFill>
            <a:srgbClr val="D3E4F6"/>
          </a:solidFill>
          <a:ln w="19050">
            <a:solidFill>
              <a:srgbClr val="0B5CAD"/>
            </a:solidFill>
            <a:prstDash val="solid"/>
          </a:ln>
        </p:spPr>
      </p:sp>
      <p:sp>
        <p:nvSpPr>
          <p:cNvPr id="18" name="Shape 16"/>
          <p:cNvSpPr/>
          <p:nvPr/>
        </p:nvSpPr>
        <p:spPr>
          <a:xfrm>
            <a:off x="1463040" y="2560320"/>
            <a:ext cx="365760" cy="365760"/>
          </a:xfrm>
          <a:prstGeom prst="rect">
            <a:avLst/>
          </a:prstGeom>
          <a:solidFill>
            <a:srgbClr val="D3E4F6"/>
          </a:solidFill>
          <a:ln w="19050">
            <a:solidFill>
              <a:srgbClr val="0B5CAD"/>
            </a:solidFill>
            <a:prstDash val="solid"/>
          </a:ln>
        </p:spPr>
      </p:sp>
      <p:sp>
        <p:nvSpPr>
          <p:cNvPr id="19" name="Shape 17"/>
          <p:cNvSpPr/>
          <p:nvPr/>
        </p:nvSpPr>
        <p:spPr>
          <a:xfrm>
            <a:off x="1828800" y="2560320"/>
            <a:ext cx="365760" cy="365760"/>
          </a:xfrm>
          <a:prstGeom prst="rect">
            <a:avLst/>
          </a:prstGeom>
          <a:solidFill>
            <a:srgbClr val="F5F8FB"/>
          </a:solidFill>
          <a:ln w="9525">
            <a:solidFill>
              <a:srgbClr val="DDE5EC"/>
            </a:solidFill>
            <a:prstDash val="solid"/>
          </a:ln>
        </p:spPr>
      </p:sp>
      <p:sp>
        <p:nvSpPr>
          <p:cNvPr id="20" name="Shape 18"/>
          <p:cNvSpPr/>
          <p:nvPr/>
        </p:nvSpPr>
        <p:spPr>
          <a:xfrm>
            <a:off x="2194560" y="2560320"/>
            <a:ext cx="365760" cy="365760"/>
          </a:xfrm>
          <a:prstGeom prst="rect">
            <a:avLst/>
          </a:prstGeom>
          <a:solidFill>
            <a:srgbClr val="F5F8FB"/>
          </a:solidFill>
          <a:ln w="9525">
            <a:solidFill>
              <a:srgbClr val="DDE5EC"/>
            </a:solidFill>
            <a:prstDash val="solid"/>
          </a:ln>
        </p:spPr>
      </p:sp>
      <p:sp>
        <p:nvSpPr>
          <p:cNvPr id="21" name="Shape 19"/>
          <p:cNvSpPr/>
          <p:nvPr/>
        </p:nvSpPr>
        <p:spPr>
          <a:xfrm>
            <a:off x="2560320" y="2560320"/>
            <a:ext cx="365760" cy="365760"/>
          </a:xfrm>
          <a:prstGeom prst="rect">
            <a:avLst/>
          </a:prstGeom>
          <a:solidFill>
            <a:srgbClr val="F5F8FB"/>
          </a:solidFill>
          <a:ln w="9525">
            <a:solidFill>
              <a:srgbClr val="DDE5EC"/>
            </a:solidFill>
            <a:prstDash val="solid"/>
          </a:ln>
        </p:spPr>
      </p:sp>
      <p:sp>
        <p:nvSpPr>
          <p:cNvPr id="22" name="Shape 20"/>
          <p:cNvSpPr/>
          <p:nvPr/>
        </p:nvSpPr>
        <p:spPr>
          <a:xfrm>
            <a:off x="731520" y="2926080"/>
            <a:ext cx="365760" cy="365760"/>
          </a:xfrm>
          <a:prstGeom prst="rect">
            <a:avLst/>
          </a:prstGeom>
          <a:solidFill>
            <a:srgbClr val="F5F8FB"/>
          </a:solidFill>
          <a:ln w="9525">
            <a:solidFill>
              <a:srgbClr val="DDE5EC"/>
            </a:solidFill>
            <a:prstDash val="solid"/>
          </a:ln>
        </p:spPr>
      </p:sp>
      <p:sp>
        <p:nvSpPr>
          <p:cNvPr id="23" name="Shape 21"/>
          <p:cNvSpPr/>
          <p:nvPr/>
        </p:nvSpPr>
        <p:spPr>
          <a:xfrm>
            <a:off x="1097280" y="2926080"/>
            <a:ext cx="365760" cy="365760"/>
          </a:xfrm>
          <a:prstGeom prst="rect">
            <a:avLst/>
          </a:prstGeom>
          <a:solidFill>
            <a:srgbClr val="F5F8FB"/>
          </a:solidFill>
          <a:ln w="9525">
            <a:solidFill>
              <a:srgbClr val="DDE5EC"/>
            </a:solidFill>
            <a:prstDash val="solid"/>
          </a:ln>
        </p:spPr>
      </p:sp>
      <p:sp>
        <p:nvSpPr>
          <p:cNvPr id="24" name="Shape 22"/>
          <p:cNvSpPr/>
          <p:nvPr/>
        </p:nvSpPr>
        <p:spPr>
          <a:xfrm>
            <a:off x="1463040" y="2926080"/>
            <a:ext cx="365760" cy="365760"/>
          </a:xfrm>
          <a:prstGeom prst="rect">
            <a:avLst/>
          </a:prstGeom>
          <a:solidFill>
            <a:srgbClr val="F5F8FB"/>
          </a:solidFill>
          <a:ln w="9525">
            <a:solidFill>
              <a:srgbClr val="DDE5EC"/>
            </a:solidFill>
            <a:prstDash val="solid"/>
          </a:ln>
        </p:spPr>
      </p:sp>
      <p:sp>
        <p:nvSpPr>
          <p:cNvPr id="25" name="Shape 23"/>
          <p:cNvSpPr/>
          <p:nvPr/>
        </p:nvSpPr>
        <p:spPr>
          <a:xfrm>
            <a:off x="1828800" y="2926080"/>
            <a:ext cx="365760" cy="365760"/>
          </a:xfrm>
          <a:prstGeom prst="rect">
            <a:avLst/>
          </a:prstGeom>
          <a:solidFill>
            <a:srgbClr val="F5F8FB"/>
          </a:solidFill>
          <a:ln w="9525">
            <a:solidFill>
              <a:srgbClr val="DDE5EC"/>
            </a:solidFill>
            <a:prstDash val="solid"/>
          </a:ln>
        </p:spPr>
      </p:sp>
      <p:sp>
        <p:nvSpPr>
          <p:cNvPr id="26" name="Shape 24"/>
          <p:cNvSpPr/>
          <p:nvPr/>
        </p:nvSpPr>
        <p:spPr>
          <a:xfrm>
            <a:off x="2194560" y="2926080"/>
            <a:ext cx="365760" cy="365760"/>
          </a:xfrm>
          <a:prstGeom prst="rect">
            <a:avLst/>
          </a:prstGeom>
          <a:solidFill>
            <a:srgbClr val="F5F8FB"/>
          </a:solidFill>
          <a:ln w="9525">
            <a:solidFill>
              <a:srgbClr val="DDE5EC"/>
            </a:solidFill>
            <a:prstDash val="solid"/>
          </a:ln>
        </p:spPr>
      </p:sp>
      <p:sp>
        <p:nvSpPr>
          <p:cNvPr id="27" name="Shape 25"/>
          <p:cNvSpPr/>
          <p:nvPr/>
        </p:nvSpPr>
        <p:spPr>
          <a:xfrm>
            <a:off x="2560320" y="2926080"/>
            <a:ext cx="365760" cy="365760"/>
          </a:xfrm>
          <a:prstGeom prst="rect">
            <a:avLst/>
          </a:prstGeom>
          <a:solidFill>
            <a:srgbClr val="F5F8FB"/>
          </a:solidFill>
          <a:ln w="9525">
            <a:solidFill>
              <a:srgbClr val="DDE5EC"/>
            </a:solidFill>
            <a:prstDash val="solid"/>
          </a:ln>
        </p:spPr>
      </p:sp>
      <p:sp>
        <p:nvSpPr>
          <p:cNvPr id="28" name="Shape 26"/>
          <p:cNvSpPr/>
          <p:nvPr/>
        </p:nvSpPr>
        <p:spPr>
          <a:xfrm>
            <a:off x="731520" y="3291840"/>
            <a:ext cx="365760" cy="365760"/>
          </a:xfrm>
          <a:prstGeom prst="rect">
            <a:avLst/>
          </a:prstGeom>
          <a:solidFill>
            <a:srgbClr val="F5F8FB"/>
          </a:solidFill>
          <a:ln w="9525">
            <a:solidFill>
              <a:srgbClr val="DDE5EC"/>
            </a:solidFill>
            <a:prstDash val="solid"/>
          </a:ln>
        </p:spPr>
      </p:sp>
      <p:sp>
        <p:nvSpPr>
          <p:cNvPr id="29" name="Shape 27"/>
          <p:cNvSpPr/>
          <p:nvPr/>
        </p:nvSpPr>
        <p:spPr>
          <a:xfrm>
            <a:off x="1097280" y="3291840"/>
            <a:ext cx="365760" cy="365760"/>
          </a:xfrm>
          <a:prstGeom prst="rect">
            <a:avLst/>
          </a:prstGeom>
          <a:solidFill>
            <a:srgbClr val="F5F8FB"/>
          </a:solidFill>
          <a:ln w="9525">
            <a:solidFill>
              <a:srgbClr val="DDE5EC"/>
            </a:solidFill>
            <a:prstDash val="solid"/>
          </a:ln>
        </p:spPr>
      </p:sp>
      <p:sp>
        <p:nvSpPr>
          <p:cNvPr id="30" name="Shape 28"/>
          <p:cNvSpPr/>
          <p:nvPr/>
        </p:nvSpPr>
        <p:spPr>
          <a:xfrm>
            <a:off x="1463040" y="3291840"/>
            <a:ext cx="365760" cy="365760"/>
          </a:xfrm>
          <a:prstGeom prst="rect">
            <a:avLst/>
          </a:prstGeom>
          <a:solidFill>
            <a:srgbClr val="F5F8FB"/>
          </a:solidFill>
          <a:ln w="9525">
            <a:solidFill>
              <a:srgbClr val="DDE5EC"/>
            </a:solidFill>
            <a:prstDash val="solid"/>
          </a:ln>
        </p:spPr>
      </p:sp>
      <p:sp>
        <p:nvSpPr>
          <p:cNvPr id="31" name="Shape 29"/>
          <p:cNvSpPr/>
          <p:nvPr/>
        </p:nvSpPr>
        <p:spPr>
          <a:xfrm>
            <a:off x="1828800" y="3291840"/>
            <a:ext cx="365760" cy="365760"/>
          </a:xfrm>
          <a:prstGeom prst="rect">
            <a:avLst/>
          </a:prstGeom>
          <a:solidFill>
            <a:srgbClr val="F5F8FB"/>
          </a:solidFill>
          <a:ln w="9525">
            <a:solidFill>
              <a:srgbClr val="DDE5EC"/>
            </a:solidFill>
            <a:prstDash val="solid"/>
          </a:ln>
        </p:spPr>
      </p:sp>
      <p:sp>
        <p:nvSpPr>
          <p:cNvPr id="32" name="Shape 30"/>
          <p:cNvSpPr/>
          <p:nvPr/>
        </p:nvSpPr>
        <p:spPr>
          <a:xfrm>
            <a:off x="2194560" y="3291840"/>
            <a:ext cx="365760" cy="365760"/>
          </a:xfrm>
          <a:prstGeom prst="rect">
            <a:avLst/>
          </a:prstGeom>
          <a:solidFill>
            <a:srgbClr val="F5F8FB"/>
          </a:solidFill>
          <a:ln w="9525">
            <a:solidFill>
              <a:srgbClr val="DDE5EC"/>
            </a:solidFill>
            <a:prstDash val="solid"/>
          </a:ln>
        </p:spPr>
      </p:sp>
      <p:sp>
        <p:nvSpPr>
          <p:cNvPr id="33" name="Shape 31"/>
          <p:cNvSpPr/>
          <p:nvPr/>
        </p:nvSpPr>
        <p:spPr>
          <a:xfrm>
            <a:off x="2560320" y="3291840"/>
            <a:ext cx="365760" cy="365760"/>
          </a:xfrm>
          <a:prstGeom prst="rect">
            <a:avLst/>
          </a:prstGeom>
          <a:solidFill>
            <a:srgbClr val="F5F8FB"/>
          </a:solidFill>
          <a:ln w="9525">
            <a:solidFill>
              <a:srgbClr val="DDE5EC"/>
            </a:solidFill>
            <a:prstDash val="solid"/>
          </a:ln>
        </p:spPr>
      </p:sp>
      <p:sp>
        <p:nvSpPr>
          <p:cNvPr id="34" name="Shape 32"/>
          <p:cNvSpPr/>
          <p:nvPr/>
        </p:nvSpPr>
        <p:spPr>
          <a:xfrm>
            <a:off x="731520" y="3657600"/>
            <a:ext cx="365760" cy="365760"/>
          </a:xfrm>
          <a:prstGeom prst="rect">
            <a:avLst/>
          </a:prstGeom>
          <a:solidFill>
            <a:srgbClr val="F5F8FB"/>
          </a:solidFill>
          <a:ln w="9525">
            <a:solidFill>
              <a:srgbClr val="DDE5EC"/>
            </a:solidFill>
            <a:prstDash val="solid"/>
          </a:ln>
        </p:spPr>
      </p:sp>
      <p:sp>
        <p:nvSpPr>
          <p:cNvPr id="35" name="Shape 33"/>
          <p:cNvSpPr/>
          <p:nvPr/>
        </p:nvSpPr>
        <p:spPr>
          <a:xfrm>
            <a:off x="1097280" y="3657600"/>
            <a:ext cx="365760" cy="365760"/>
          </a:xfrm>
          <a:prstGeom prst="rect">
            <a:avLst/>
          </a:prstGeom>
          <a:solidFill>
            <a:srgbClr val="F5F8FB"/>
          </a:solidFill>
          <a:ln w="9525">
            <a:solidFill>
              <a:srgbClr val="DDE5EC"/>
            </a:solidFill>
            <a:prstDash val="solid"/>
          </a:ln>
        </p:spPr>
      </p:sp>
      <p:sp>
        <p:nvSpPr>
          <p:cNvPr id="36" name="Shape 34"/>
          <p:cNvSpPr/>
          <p:nvPr/>
        </p:nvSpPr>
        <p:spPr>
          <a:xfrm>
            <a:off x="1463040" y="3657600"/>
            <a:ext cx="365760" cy="365760"/>
          </a:xfrm>
          <a:prstGeom prst="rect">
            <a:avLst/>
          </a:prstGeom>
          <a:solidFill>
            <a:srgbClr val="F5F8FB"/>
          </a:solidFill>
          <a:ln w="9525">
            <a:solidFill>
              <a:srgbClr val="DDE5EC"/>
            </a:solidFill>
            <a:prstDash val="solid"/>
          </a:ln>
        </p:spPr>
      </p:sp>
      <p:sp>
        <p:nvSpPr>
          <p:cNvPr id="37" name="Shape 35"/>
          <p:cNvSpPr/>
          <p:nvPr/>
        </p:nvSpPr>
        <p:spPr>
          <a:xfrm>
            <a:off x="1828800" y="3657600"/>
            <a:ext cx="365760" cy="365760"/>
          </a:xfrm>
          <a:prstGeom prst="rect">
            <a:avLst/>
          </a:prstGeom>
          <a:solidFill>
            <a:srgbClr val="F5F8FB"/>
          </a:solidFill>
          <a:ln w="9525">
            <a:solidFill>
              <a:srgbClr val="DDE5EC"/>
            </a:solidFill>
            <a:prstDash val="solid"/>
          </a:ln>
        </p:spPr>
      </p:sp>
      <p:sp>
        <p:nvSpPr>
          <p:cNvPr id="38" name="Shape 36"/>
          <p:cNvSpPr/>
          <p:nvPr/>
        </p:nvSpPr>
        <p:spPr>
          <a:xfrm>
            <a:off x="2194560" y="3657600"/>
            <a:ext cx="365760" cy="365760"/>
          </a:xfrm>
          <a:prstGeom prst="rect">
            <a:avLst/>
          </a:prstGeom>
          <a:solidFill>
            <a:srgbClr val="F5F8FB"/>
          </a:solidFill>
          <a:ln w="9525">
            <a:solidFill>
              <a:srgbClr val="DDE5EC"/>
            </a:solidFill>
            <a:prstDash val="solid"/>
          </a:ln>
        </p:spPr>
      </p:sp>
      <p:sp>
        <p:nvSpPr>
          <p:cNvPr id="39" name="Shape 37"/>
          <p:cNvSpPr/>
          <p:nvPr/>
        </p:nvSpPr>
        <p:spPr>
          <a:xfrm>
            <a:off x="2560320" y="3657600"/>
            <a:ext cx="365760" cy="365760"/>
          </a:xfrm>
          <a:prstGeom prst="rect">
            <a:avLst/>
          </a:prstGeom>
          <a:solidFill>
            <a:srgbClr val="F5F8FB"/>
          </a:solidFill>
          <a:ln w="9525">
            <a:solidFill>
              <a:srgbClr val="DDE5EC"/>
            </a:solidFill>
            <a:prstDash val="solid"/>
          </a:ln>
        </p:spPr>
      </p:sp>
      <p:sp>
        <p:nvSpPr>
          <p:cNvPr id="40" name="Text 38"/>
          <p:cNvSpPr/>
          <p:nvPr/>
        </p:nvSpPr>
        <p:spPr>
          <a:xfrm>
            <a:off x="731520" y="1536192"/>
            <a:ext cx="2194560" cy="274320"/>
          </a:xfrm>
          <a:prstGeom prst="rect">
            <a:avLst/>
          </a:prstGeom>
          <a:noFill/>
          <a:ln/>
        </p:spPr>
        <p:txBody>
          <a:bodyPr wrap="square" lIns="0" tIns="0" rIns="0" bIns="0" rtlCol="0" anchor="ctr"/>
          <a:lstStyle/>
          <a:p>
            <a:pPr marL="0" indent="0">
              <a:buNone/>
            </a:pPr>
            <a:r>
              <a:rPr lang="en-US" sz="1100" dirty="0">
                <a:solidFill>
                  <a:srgbClr val="5B6470"/>
                </a:solidFill>
                <a:latin typeface="Calibri" pitchFamily="34" charset="0"/>
                <a:ea typeface="Calibri" pitchFamily="34" charset="-122"/>
                <a:cs typeface="Calibri" pitchFamily="34" charset="-120"/>
              </a:rPr>
              <a:t>image</a:t>
            </a:r>
            <a:endParaRPr lang="en-US" sz="1100" dirty="0"/>
          </a:p>
        </p:txBody>
      </p:sp>
      <p:sp>
        <p:nvSpPr>
          <p:cNvPr id="41" name="Shape 39"/>
          <p:cNvSpPr/>
          <p:nvPr/>
        </p:nvSpPr>
        <p:spPr>
          <a:xfrm>
            <a:off x="3657600" y="2194560"/>
            <a:ext cx="365760" cy="365760"/>
          </a:xfrm>
          <a:prstGeom prst="rect">
            <a:avLst/>
          </a:prstGeom>
          <a:solidFill>
            <a:srgbClr val="0B5CAD"/>
          </a:solidFill>
          <a:ln w="12700">
            <a:solidFill>
              <a:srgbClr val="FFFFFF"/>
            </a:solidFill>
            <a:prstDash val="solid"/>
          </a:ln>
        </p:spPr>
      </p:sp>
      <p:sp>
        <p:nvSpPr>
          <p:cNvPr id="42" name="Text 40"/>
          <p:cNvSpPr/>
          <p:nvPr/>
        </p:nvSpPr>
        <p:spPr>
          <a:xfrm>
            <a:off x="3657600" y="219456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3" name="Shape 41"/>
          <p:cNvSpPr/>
          <p:nvPr/>
        </p:nvSpPr>
        <p:spPr>
          <a:xfrm>
            <a:off x="4023360" y="2194560"/>
            <a:ext cx="365760" cy="365760"/>
          </a:xfrm>
          <a:prstGeom prst="rect">
            <a:avLst/>
          </a:prstGeom>
          <a:solidFill>
            <a:srgbClr val="0B5CAD"/>
          </a:solidFill>
          <a:ln w="12700">
            <a:solidFill>
              <a:srgbClr val="FFFFFF"/>
            </a:solidFill>
            <a:prstDash val="solid"/>
          </a:ln>
        </p:spPr>
      </p:sp>
      <p:sp>
        <p:nvSpPr>
          <p:cNvPr id="44" name="Text 42"/>
          <p:cNvSpPr/>
          <p:nvPr/>
        </p:nvSpPr>
        <p:spPr>
          <a:xfrm>
            <a:off x="4023360" y="219456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a:t>
            </a:r>
            <a:endParaRPr lang="en-US" sz="1100" dirty="0"/>
          </a:p>
        </p:txBody>
      </p:sp>
      <p:sp>
        <p:nvSpPr>
          <p:cNvPr id="45" name="Shape 43"/>
          <p:cNvSpPr/>
          <p:nvPr/>
        </p:nvSpPr>
        <p:spPr>
          <a:xfrm>
            <a:off x="4389120" y="2194560"/>
            <a:ext cx="365760" cy="365760"/>
          </a:xfrm>
          <a:prstGeom prst="rect">
            <a:avLst/>
          </a:prstGeom>
          <a:solidFill>
            <a:srgbClr val="0B5CAD"/>
          </a:solidFill>
          <a:ln w="12700">
            <a:solidFill>
              <a:srgbClr val="FFFFFF"/>
            </a:solidFill>
            <a:prstDash val="solid"/>
          </a:ln>
        </p:spPr>
      </p:sp>
      <p:sp>
        <p:nvSpPr>
          <p:cNvPr id="46" name="Text 44"/>
          <p:cNvSpPr/>
          <p:nvPr/>
        </p:nvSpPr>
        <p:spPr>
          <a:xfrm>
            <a:off x="4389120" y="219456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7" name="Shape 45"/>
          <p:cNvSpPr/>
          <p:nvPr/>
        </p:nvSpPr>
        <p:spPr>
          <a:xfrm>
            <a:off x="3657600" y="2560320"/>
            <a:ext cx="365760" cy="365760"/>
          </a:xfrm>
          <a:prstGeom prst="rect">
            <a:avLst/>
          </a:prstGeom>
          <a:solidFill>
            <a:srgbClr val="0B5CAD"/>
          </a:solidFill>
          <a:ln w="12700">
            <a:solidFill>
              <a:srgbClr val="FFFFFF"/>
            </a:solidFill>
            <a:prstDash val="solid"/>
          </a:ln>
        </p:spPr>
      </p:sp>
      <p:sp>
        <p:nvSpPr>
          <p:cNvPr id="48" name="Text 46"/>
          <p:cNvSpPr/>
          <p:nvPr/>
        </p:nvSpPr>
        <p:spPr>
          <a:xfrm>
            <a:off x="3657600" y="256032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9" name="Shape 47"/>
          <p:cNvSpPr/>
          <p:nvPr/>
        </p:nvSpPr>
        <p:spPr>
          <a:xfrm>
            <a:off x="4023360" y="2560320"/>
            <a:ext cx="365760" cy="365760"/>
          </a:xfrm>
          <a:prstGeom prst="rect">
            <a:avLst/>
          </a:prstGeom>
          <a:solidFill>
            <a:srgbClr val="0B5CAD"/>
          </a:solidFill>
          <a:ln w="12700">
            <a:solidFill>
              <a:srgbClr val="FFFFFF"/>
            </a:solidFill>
            <a:prstDash val="solid"/>
          </a:ln>
        </p:spPr>
      </p:sp>
      <p:sp>
        <p:nvSpPr>
          <p:cNvPr id="50" name="Text 48"/>
          <p:cNvSpPr/>
          <p:nvPr/>
        </p:nvSpPr>
        <p:spPr>
          <a:xfrm>
            <a:off x="4023360" y="256032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a:t>
            </a:r>
            <a:endParaRPr lang="en-US" sz="1100" dirty="0"/>
          </a:p>
        </p:txBody>
      </p:sp>
      <p:sp>
        <p:nvSpPr>
          <p:cNvPr id="51" name="Shape 49"/>
          <p:cNvSpPr/>
          <p:nvPr/>
        </p:nvSpPr>
        <p:spPr>
          <a:xfrm>
            <a:off x="4389120" y="2560320"/>
            <a:ext cx="365760" cy="365760"/>
          </a:xfrm>
          <a:prstGeom prst="rect">
            <a:avLst/>
          </a:prstGeom>
          <a:solidFill>
            <a:srgbClr val="0B5CAD"/>
          </a:solidFill>
          <a:ln w="12700">
            <a:solidFill>
              <a:srgbClr val="FFFFFF"/>
            </a:solidFill>
            <a:prstDash val="solid"/>
          </a:ln>
        </p:spPr>
      </p:sp>
      <p:sp>
        <p:nvSpPr>
          <p:cNvPr id="52" name="Text 50"/>
          <p:cNvSpPr/>
          <p:nvPr/>
        </p:nvSpPr>
        <p:spPr>
          <a:xfrm>
            <a:off x="4389120" y="256032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53" name="Shape 51"/>
          <p:cNvSpPr/>
          <p:nvPr/>
        </p:nvSpPr>
        <p:spPr>
          <a:xfrm>
            <a:off x="3657600" y="2926080"/>
            <a:ext cx="365760" cy="365760"/>
          </a:xfrm>
          <a:prstGeom prst="rect">
            <a:avLst/>
          </a:prstGeom>
          <a:solidFill>
            <a:srgbClr val="0B5CAD"/>
          </a:solidFill>
          <a:ln w="12700">
            <a:solidFill>
              <a:srgbClr val="FFFFFF"/>
            </a:solidFill>
            <a:prstDash val="solid"/>
          </a:ln>
        </p:spPr>
      </p:sp>
      <p:sp>
        <p:nvSpPr>
          <p:cNvPr id="54" name="Text 52"/>
          <p:cNvSpPr/>
          <p:nvPr/>
        </p:nvSpPr>
        <p:spPr>
          <a:xfrm>
            <a:off x="3657600" y="292608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55" name="Shape 53"/>
          <p:cNvSpPr/>
          <p:nvPr/>
        </p:nvSpPr>
        <p:spPr>
          <a:xfrm>
            <a:off x="4023360" y="2926080"/>
            <a:ext cx="365760" cy="365760"/>
          </a:xfrm>
          <a:prstGeom prst="rect">
            <a:avLst/>
          </a:prstGeom>
          <a:solidFill>
            <a:srgbClr val="0B5CAD"/>
          </a:solidFill>
          <a:ln w="12700">
            <a:solidFill>
              <a:srgbClr val="FFFFFF"/>
            </a:solidFill>
            <a:prstDash val="solid"/>
          </a:ln>
        </p:spPr>
      </p:sp>
      <p:sp>
        <p:nvSpPr>
          <p:cNvPr id="56" name="Text 54"/>
          <p:cNvSpPr/>
          <p:nvPr/>
        </p:nvSpPr>
        <p:spPr>
          <a:xfrm>
            <a:off x="4023360" y="292608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a:t>
            </a:r>
            <a:endParaRPr lang="en-US" sz="1100" dirty="0"/>
          </a:p>
        </p:txBody>
      </p:sp>
      <p:sp>
        <p:nvSpPr>
          <p:cNvPr id="57" name="Shape 55"/>
          <p:cNvSpPr/>
          <p:nvPr/>
        </p:nvSpPr>
        <p:spPr>
          <a:xfrm>
            <a:off x="4389120" y="2926080"/>
            <a:ext cx="365760" cy="365760"/>
          </a:xfrm>
          <a:prstGeom prst="rect">
            <a:avLst/>
          </a:prstGeom>
          <a:solidFill>
            <a:srgbClr val="0B5CAD"/>
          </a:solidFill>
          <a:ln w="12700">
            <a:solidFill>
              <a:srgbClr val="FFFFFF"/>
            </a:solidFill>
            <a:prstDash val="solid"/>
          </a:ln>
        </p:spPr>
      </p:sp>
      <p:sp>
        <p:nvSpPr>
          <p:cNvPr id="58" name="Text 56"/>
          <p:cNvSpPr/>
          <p:nvPr/>
        </p:nvSpPr>
        <p:spPr>
          <a:xfrm>
            <a:off x="4389120" y="292608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59" name="Text 57"/>
          <p:cNvSpPr/>
          <p:nvPr/>
        </p:nvSpPr>
        <p:spPr>
          <a:xfrm>
            <a:off x="3657600" y="1901952"/>
            <a:ext cx="1828800" cy="274320"/>
          </a:xfrm>
          <a:prstGeom prst="rect">
            <a:avLst/>
          </a:prstGeom>
          <a:noFill/>
          <a:ln/>
        </p:spPr>
        <p:txBody>
          <a:bodyPr wrap="square" lIns="0" tIns="0" rIns="0" bIns="0" rtlCol="0" anchor="ctr"/>
          <a:lstStyle/>
          <a:p>
            <a:pPr marL="0" indent="0">
              <a:buNone/>
            </a:pPr>
            <a:r>
              <a:rPr lang="en-US" sz="1100" dirty="0">
                <a:solidFill>
                  <a:srgbClr val="5B6470"/>
                </a:solidFill>
                <a:latin typeface="Calibri" pitchFamily="34" charset="0"/>
                <a:ea typeface="Calibri" pitchFamily="34" charset="-122"/>
                <a:cs typeface="Calibri" pitchFamily="34" charset="-120"/>
              </a:rPr>
              <a:t>filter (kernel)</a:t>
            </a:r>
            <a:endParaRPr lang="en-US" sz="1100" dirty="0"/>
          </a:p>
        </p:txBody>
      </p:sp>
      <p:sp>
        <p:nvSpPr>
          <p:cNvPr id="60" name="Text 58"/>
          <p:cNvSpPr/>
          <p:nvPr/>
        </p:nvSpPr>
        <p:spPr>
          <a:xfrm>
            <a:off x="3200400" y="2560320"/>
            <a:ext cx="365760" cy="365760"/>
          </a:xfrm>
          <a:prstGeom prst="rect">
            <a:avLst/>
          </a:prstGeom>
          <a:noFill/>
          <a:ln/>
        </p:spPr>
        <p:txBody>
          <a:bodyPr wrap="square" lIns="0" tIns="0" rIns="0" bIns="0" rtlCol="0" anchor="ctr"/>
          <a:lstStyle/>
          <a:p>
            <a:pPr marL="0" indent="0" algn="ctr">
              <a:buNone/>
            </a:pPr>
            <a:r>
              <a:rPr lang="en-US" sz="2200" b="1" dirty="0">
                <a:solidFill>
                  <a:srgbClr val="5B6470"/>
                </a:solidFill>
                <a:latin typeface="Cambria" pitchFamily="34" charset="0"/>
                <a:ea typeface="Cambria" pitchFamily="34" charset="-122"/>
                <a:cs typeface="Cambria" pitchFamily="34" charset="-120"/>
              </a:rPr>
              <a:t>×</a:t>
            </a:r>
            <a:endParaRPr lang="en-US" sz="2200" dirty="0"/>
          </a:p>
        </p:txBody>
      </p:sp>
      <p:sp>
        <p:nvSpPr>
          <p:cNvPr id="61" name="Shape 59"/>
          <p:cNvSpPr/>
          <p:nvPr/>
        </p:nvSpPr>
        <p:spPr>
          <a:xfrm>
            <a:off x="5029200" y="2697480"/>
            <a:ext cx="731520" cy="0"/>
          </a:xfrm>
          <a:prstGeom prst="line">
            <a:avLst/>
          </a:prstGeom>
          <a:noFill/>
          <a:ln w="25400">
            <a:solidFill>
              <a:srgbClr val="0B5CAD"/>
            </a:solidFill>
            <a:prstDash val="solid"/>
            <a:tailEnd type="triangle"/>
          </a:ln>
        </p:spPr>
      </p:sp>
      <p:sp>
        <p:nvSpPr>
          <p:cNvPr id="62" name="Shape 60"/>
          <p:cNvSpPr/>
          <p:nvPr/>
        </p:nvSpPr>
        <p:spPr>
          <a:xfrm>
            <a:off x="5943600" y="2194560"/>
            <a:ext cx="365760" cy="365760"/>
          </a:xfrm>
          <a:prstGeom prst="rect">
            <a:avLst/>
          </a:prstGeom>
          <a:solidFill>
            <a:srgbClr val="F3E2C4"/>
          </a:solidFill>
          <a:ln w="9525">
            <a:solidFill>
              <a:srgbClr val="E0C48A"/>
            </a:solidFill>
            <a:prstDash val="solid"/>
          </a:ln>
        </p:spPr>
      </p:sp>
      <p:sp>
        <p:nvSpPr>
          <p:cNvPr id="63" name="Shape 61"/>
          <p:cNvSpPr/>
          <p:nvPr/>
        </p:nvSpPr>
        <p:spPr>
          <a:xfrm>
            <a:off x="6309360" y="2194560"/>
            <a:ext cx="365760" cy="365760"/>
          </a:xfrm>
          <a:prstGeom prst="rect">
            <a:avLst/>
          </a:prstGeom>
          <a:solidFill>
            <a:srgbClr val="E8A33D"/>
          </a:solidFill>
          <a:ln w="9525">
            <a:solidFill>
              <a:srgbClr val="E0C48A"/>
            </a:solidFill>
            <a:prstDash val="solid"/>
          </a:ln>
        </p:spPr>
      </p:sp>
      <p:sp>
        <p:nvSpPr>
          <p:cNvPr id="64" name="Shape 62"/>
          <p:cNvSpPr/>
          <p:nvPr/>
        </p:nvSpPr>
        <p:spPr>
          <a:xfrm>
            <a:off x="6675120" y="2194560"/>
            <a:ext cx="365760" cy="365760"/>
          </a:xfrm>
          <a:prstGeom prst="rect">
            <a:avLst/>
          </a:prstGeom>
          <a:solidFill>
            <a:srgbClr val="F3E2C4"/>
          </a:solidFill>
          <a:ln w="9525">
            <a:solidFill>
              <a:srgbClr val="E0C48A"/>
            </a:solidFill>
            <a:prstDash val="solid"/>
          </a:ln>
        </p:spPr>
      </p:sp>
      <p:sp>
        <p:nvSpPr>
          <p:cNvPr id="65" name="Shape 63"/>
          <p:cNvSpPr/>
          <p:nvPr/>
        </p:nvSpPr>
        <p:spPr>
          <a:xfrm>
            <a:off x="5943600" y="2560320"/>
            <a:ext cx="365760" cy="365760"/>
          </a:xfrm>
          <a:prstGeom prst="rect">
            <a:avLst/>
          </a:prstGeom>
          <a:solidFill>
            <a:srgbClr val="F3E2C4"/>
          </a:solidFill>
          <a:ln w="9525">
            <a:solidFill>
              <a:srgbClr val="E0C48A"/>
            </a:solidFill>
            <a:prstDash val="solid"/>
          </a:ln>
        </p:spPr>
      </p:sp>
      <p:sp>
        <p:nvSpPr>
          <p:cNvPr id="66" name="Shape 64"/>
          <p:cNvSpPr/>
          <p:nvPr/>
        </p:nvSpPr>
        <p:spPr>
          <a:xfrm>
            <a:off x="6309360" y="2560320"/>
            <a:ext cx="365760" cy="365760"/>
          </a:xfrm>
          <a:prstGeom prst="rect">
            <a:avLst/>
          </a:prstGeom>
          <a:solidFill>
            <a:srgbClr val="E8A33D"/>
          </a:solidFill>
          <a:ln w="9525">
            <a:solidFill>
              <a:srgbClr val="E0C48A"/>
            </a:solidFill>
            <a:prstDash val="solid"/>
          </a:ln>
        </p:spPr>
      </p:sp>
      <p:sp>
        <p:nvSpPr>
          <p:cNvPr id="67" name="Shape 65"/>
          <p:cNvSpPr/>
          <p:nvPr/>
        </p:nvSpPr>
        <p:spPr>
          <a:xfrm>
            <a:off x="6675120" y="2560320"/>
            <a:ext cx="365760" cy="365760"/>
          </a:xfrm>
          <a:prstGeom prst="rect">
            <a:avLst/>
          </a:prstGeom>
          <a:solidFill>
            <a:srgbClr val="F3E2C4"/>
          </a:solidFill>
          <a:ln w="9525">
            <a:solidFill>
              <a:srgbClr val="E0C48A"/>
            </a:solidFill>
            <a:prstDash val="solid"/>
          </a:ln>
        </p:spPr>
      </p:sp>
      <p:sp>
        <p:nvSpPr>
          <p:cNvPr id="68" name="Shape 66"/>
          <p:cNvSpPr/>
          <p:nvPr/>
        </p:nvSpPr>
        <p:spPr>
          <a:xfrm>
            <a:off x="5943600" y="2926080"/>
            <a:ext cx="365760" cy="365760"/>
          </a:xfrm>
          <a:prstGeom prst="rect">
            <a:avLst/>
          </a:prstGeom>
          <a:solidFill>
            <a:srgbClr val="F3E2C4"/>
          </a:solidFill>
          <a:ln w="9525">
            <a:solidFill>
              <a:srgbClr val="E0C48A"/>
            </a:solidFill>
            <a:prstDash val="solid"/>
          </a:ln>
        </p:spPr>
      </p:sp>
      <p:sp>
        <p:nvSpPr>
          <p:cNvPr id="69" name="Shape 67"/>
          <p:cNvSpPr/>
          <p:nvPr/>
        </p:nvSpPr>
        <p:spPr>
          <a:xfrm>
            <a:off x="6309360" y="2926080"/>
            <a:ext cx="365760" cy="365760"/>
          </a:xfrm>
          <a:prstGeom prst="rect">
            <a:avLst/>
          </a:prstGeom>
          <a:solidFill>
            <a:srgbClr val="E8A33D"/>
          </a:solidFill>
          <a:ln w="9525">
            <a:solidFill>
              <a:srgbClr val="E0C48A"/>
            </a:solidFill>
            <a:prstDash val="solid"/>
          </a:ln>
        </p:spPr>
      </p:sp>
      <p:sp>
        <p:nvSpPr>
          <p:cNvPr id="70" name="Shape 68"/>
          <p:cNvSpPr/>
          <p:nvPr/>
        </p:nvSpPr>
        <p:spPr>
          <a:xfrm>
            <a:off x="6675120" y="2926080"/>
            <a:ext cx="365760" cy="365760"/>
          </a:xfrm>
          <a:prstGeom prst="rect">
            <a:avLst/>
          </a:prstGeom>
          <a:solidFill>
            <a:srgbClr val="F3E2C4"/>
          </a:solidFill>
          <a:ln w="9525">
            <a:solidFill>
              <a:srgbClr val="E0C48A"/>
            </a:solidFill>
            <a:prstDash val="solid"/>
          </a:ln>
        </p:spPr>
      </p:sp>
      <p:sp>
        <p:nvSpPr>
          <p:cNvPr id="71" name="Text 69"/>
          <p:cNvSpPr/>
          <p:nvPr/>
        </p:nvSpPr>
        <p:spPr>
          <a:xfrm>
            <a:off x="5943600" y="1901952"/>
            <a:ext cx="1828800" cy="274320"/>
          </a:xfrm>
          <a:prstGeom prst="rect">
            <a:avLst/>
          </a:prstGeom>
          <a:noFill/>
          <a:ln/>
        </p:spPr>
        <p:txBody>
          <a:bodyPr wrap="square" lIns="0" tIns="0" rIns="0" bIns="0" rtlCol="0" anchor="ctr"/>
          <a:lstStyle/>
          <a:p>
            <a:pPr marL="0" indent="0">
              <a:buNone/>
            </a:pPr>
            <a:r>
              <a:rPr lang="en-US" sz="1100" dirty="0">
                <a:solidFill>
                  <a:srgbClr val="5B6470"/>
                </a:solidFill>
                <a:latin typeface="Calibri" pitchFamily="34" charset="0"/>
                <a:ea typeface="Calibri" pitchFamily="34" charset="-122"/>
                <a:cs typeface="Calibri" pitchFamily="34" charset="-120"/>
              </a:rPr>
              <a:t>feature map</a:t>
            </a:r>
            <a:endParaRPr lang="en-US" sz="1100" dirty="0"/>
          </a:p>
        </p:txBody>
      </p:sp>
      <p:sp>
        <p:nvSpPr>
          <p:cNvPr id="72" name="Shape 70"/>
          <p:cNvSpPr/>
          <p:nvPr/>
        </p:nvSpPr>
        <p:spPr>
          <a:xfrm>
            <a:off x="548640" y="4160520"/>
            <a:ext cx="11091672" cy="1417320"/>
          </a:xfrm>
          <a:prstGeom prst="roundRect">
            <a:avLst>
              <a:gd name="adj" fmla="val 5161"/>
            </a:avLst>
          </a:prstGeom>
          <a:solidFill>
            <a:srgbClr val="EAF2FB"/>
          </a:solidFill>
          <a:ln/>
        </p:spPr>
      </p:sp>
      <p:sp>
        <p:nvSpPr>
          <p:cNvPr id="73" name="Text 71"/>
          <p:cNvSpPr/>
          <p:nvPr/>
        </p:nvSpPr>
        <p:spPr>
          <a:xfrm>
            <a:off x="868680" y="4315968"/>
            <a:ext cx="10424160" cy="1097280"/>
          </a:xfrm>
          <a:prstGeom prst="rect">
            <a:avLst/>
          </a:prstGeom>
          <a:noFill/>
          <a:ln/>
        </p:spPr>
        <p:txBody>
          <a:bodyPr wrap="square" lIns="0" tIns="0" rIns="0" bIns="0" rtlCol="0" anchor="ctr"/>
          <a:lstStyle/>
          <a:p>
            <a:pPr marL="0" indent="0">
              <a:buNone/>
            </a:pPr>
            <a:r>
              <a:rPr lang="en-US" sz="1450" b="1" dirty="0">
                <a:solidFill>
                  <a:srgbClr val="0B5CAD"/>
                </a:solidFill>
                <a:latin typeface="Calibri" pitchFamily="34" charset="0"/>
                <a:ea typeface="Calibri" pitchFamily="34" charset="-122"/>
                <a:cs typeface="Calibri" pitchFamily="34" charset="-120"/>
              </a:rPr>
              <a:t>How it works: </a:t>
            </a:r>
            <a:r>
              <a:rPr lang="en-US" sz="1450" dirty="0">
                <a:solidFill>
                  <a:srgbClr val="1A2733"/>
                </a:solidFill>
                <a:latin typeface="Calibri" pitchFamily="34" charset="0"/>
                <a:ea typeface="Calibri" pitchFamily="34" charset="-122"/>
                <a:cs typeface="Calibri" pitchFamily="34" charset="-120"/>
              </a:rPr>
              <a:t>the filter multiplies its little pattern against each patch and sums the result, sliding across the whole image. Where the patch matches the filter's pattern (say, a vertical edge), the output lights up. </a:t>
            </a:r>
            <a:r>
              <a:rPr lang="en-US" sz="1450" dirty="0">
                <a:solidFill>
                  <a:srgbClr val="5B6470"/>
                </a:solidFill>
                <a:latin typeface="Calibri" pitchFamily="34" charset="0"/>
                <a:ea typeface="Calibri" pitchFamily="34" charset="-122"/>
                <a:cs typeface="Calibri" pitchFamily="34" charset="-120"/>
              </a:rPr>
              <a:t>One filter finds one kind of feature; a CNN learns dozens of filters at once.</a:t>
            </a:r>
            <a:endParaRPr lang="en-US" sz="1450" dirty="0"/>
          </a:p>
        </p:txBody>
      </p:sp>
      <p:sp>
        <p:nvSpPr>
          <p:cNvPr id="74" name="Text 72"/>
          <p:cNvSpPr/>
          <p:nvPr/>
        </p:nvSpPr>
        <p:spPr>
          <a:xfrm>
            <a:off x="548640" y="6473952"/>
            <a:ext cx="11091672" cy="274320"/>
          </a:xfrm>
          <a:prstGeom prst="rect">
            <a:avLst/>
          </a:prstGeom>
          <a:noFill/>
          <a:ln/>
        </p:spPr>
        <p:txBody>
          <a:bodyPr wrap="square" lIns="0" tIns="0" rIns="0" bIns="0" rtlCol="0" anchor="ctr"/>
          <a:lstStyle/>
          <a:p>
            <a:pPr marL="0" indent="0">
              <a:buNone/>
            </a:pPr>
            <a:r>
              <a:rPr lang="en-US" sz="900" dirty="0">
                <a:solidFill>
                  <a:srgbClr val="5B6470"/>
                </a:solidFill>
                <a:latin typeface="Calibri" pitchFamily="34" charset="0"/>
                <a:ea typeface="Calibri" pitchFamily="34" charset="-122"/>
                <a:cs typeface="Calibri" pitchFamily="34" charset="-120"/>
              </a:rPr>
              <a:t>Digital Communication &amp; Emerging Technologies · NCCU ISS 2026 · Day 2  |  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292608"/>
            <a:ext cx="11091672" cy="658368"/>
          </a:xfrm>
          <a:prstGeom prst="rect">
            <a:avLst/>
          </a:prstGeom>
          <a:noFill/>
          <a:ln/>
        </p:spPr>
        <p:txBody>
          <a:bodyPr wrap="square" lIns="0" tIns="0" rIns="0" bIns="0" rtlCol="0" anchor="ctr"/>
          <a:lstStyle/>
          <a:p>
            <a:pPr marL="0" indent="0">
              <a:buNone/>
            </a:pPr>
            <a:r>
              <a:rPr lang="en-US" sz="3100" b="1" dirty="0">
                <a:solidFill>
                  <a:srgbClr val="1A2733"/>
                </a:solidFill>
                <a:latin typeface="Cambria" pitchFamily="34" charset="0"/>
                <a:ea typeface="Cambria" pitchFamily="34" charset="-122"/>
                <a:cs typeface="Cambria" pitchFamily="34" charset="-120"/>
              </a:rPr>
              <a:t>Two knobs on the filter: stride and padding</a:t>
            </a:r>
            <a:endParaRPr lang="en-US" sz="3100" dirty="0"/>
          </a:p>
        </p:txBody>
      </p:sp>
      <p:sp>
        <p:nvSpPr>
          <p:cNvPr id="3" name="Text 1"/>
          <p:cNvSpPr/>
          <p:nvPr/>
        </p:nvSpPr>
        <p:spPr>
          <a:xfrm>
            <a:off x="548640" y="896112"/>
            <a:ext cx="11091672" cy="365760"/>
          </a:xfrm>
          <a:prstGeom prst="rect">
            <a:avLst/>
          </a:prstGeom>
          <a:noFill/>
          <a:ln/>
        </p:spPr>
        <p:txBody>
          <a:bodyPr wrap="square" lIns="0" tIns="0" rIns="0" bIns="0" rtlCol="0" anchor="ctr"/>
          <a:lstStyle/>
          <a:p>
            <a:pPr marL="0" indent="0">
              <a:buNone/>
            </a:pPr>
            <a:r>
              <a:rPr lang="en-US" sz="1500" i="1" dirty="0">
                <a:solidFill>
                  <a:srgbClr val="5B6470"/>
                </a:solidFill>
                <a:latin typeface="Calibri" pitchFamily="34" charset="0"/>
                <a:ea typeface="Calibri" pitchFamily="34" charset="-122"/>
                <a:cs typeface="Calibri" pitchFamily="34" charset="-120"/>
              </a:rPr>
              <a:t>How far it jumps, and how it treats the edges</a:t>
            </a:r>
            <a:endParaRPr lang="en-US" sz="1500" dirty="0"/>
          </a:p>
        </p:txBody>
      </p:sp>
      <p:sp>
        <p:nvSpPr>
          <p:cNvPr id="4" name="Shape 2"/>
          <p:cNvSpPr/>
          <p:nvPr/>
        </p:nvSpPr>
        <p:spPr>
          <a:xfrm>
            <a:off x="548640" y="1691640"/>
            <a:ext cx="5394960" cy="3200400"/>
          </a:xfrm>
          <a:prstGeom prst="roundRect">
            <a:avLst>
              <a:gd name="adj" fmla="val 2286"/>
            </a:avLst>
          </a:prstGeom>
          <a:solidFill>
            <a:srgbClr val="EAF2FB"/>
          </a:solidFill>
          <a:ln/>
        </p:spPr>
      </p:sp>
      <p:sp>
        <p:nvSpPr>
          <p:cNvPr id="5" name="Text 3"/>
          <p:cNvSpPr/>
          <p:nvPr/>
        </p:nvSpPr>
        <p:spPr>
          <a:xfrm>
            <a:off x="822960" y="1874520"/>
            <a:ext cx="4846320" cy="365760"/>
          </a:xfrm>
          <a:prstGeom prst="rect">
            <a:avLst/>
          </a:prstGeom>
          <a:noFill/>
          <a:ln/>
        </p:spPr>
        <p:txBody>
          <a:bodyPr wrap="square" lIns="0" tIns="0" rIns="0" bIns="0" rtlCol="0" anchor="ctr"/>
          <a:lstStyle/>
          <a:p>
            <a:pPr marL="0" indent="0">
              <a:buNone/>
            </a:pPr>
            <a:r>
              <a:rPr lang="en-US" sz="1600" b="1" dirty="0">
                <a:solidFill>
                  <a:srgbClr val="0B5CAD"/>
                </a:solidFill>
                <a:latin typeface="Cambria" pitchFamily="34" charset="0"/>
                <a:ea typeface="Cambria" pitchFamily="34" charset="-122"/>
                <a:cs typeface="Cambria" pitchFamily="34" charset="-120"/>
              </a:rPr>
              <a:t>Stride — the step size</a:t>
            </a:r>
            <a:endParaRPr lang="en-US" sz="1600" dirty="0"/>
          </a:p>
        </p:txBody>
      </p:sp>
      <p:sp>
        <p:nvSpPr>
          <p:cNvPr id="6" name="Text 4"/>
          <p:cNvSpPr/>
          <p:nvPr/>
        </p:nvSpPr>
        <p:spPr>
          <a:xfrm>
            <a:off x="822960" y="2331720"/>
            <a:ext cx="4846320" cy="1463040"/>
          </a:xfrm>
          <a:prstGeom prst="rect">
            <a:avLst/>
          </a:prstGeom>
          <a:noFill/>
          <a:ln/>
        </p:spPr>
        <p:txBody>
          <a:bodyPr wrap="square" lIns="0" tIns="0" rIns="0" bIns="0" rtlCol="0" anchor="ctr"/>
          <a:lstStyle/>
          <a:p>
            <a:pPr marL="0" indent="0">
              <a:buNone/>
            </a:pPr>
            <a:r>
              <a:rPr lang="en-US" sz="1400" dirty="0">
                <a:solidFill>
                  <a:srgbClr val="1A2733"/>
                </a:solidFill>
                <a:latin typeface="Calibri" pitchFamily="34" charset="0"/>
                <a:ea typeface="Calibri" pitchFamily="34" charset="-122"/>
                <a:cs typeface="Calibri" pitchFamily="34" charset="-120"/>
              </a:rPr>
              <a:t>How many pixels the filter jumps each move. Stride 1 looks at every position (detailed, slower). A bigger stride skips ahead, producing a smaller output faster.</a:t>
            </a:r>
            <a:endParaRPr lang="en-US" sz="1400" dirty="0"/>
          </a:p>
        </p:txBody>
      </p:sp>
      <p:sp>
        <p:nvSpPr>
          <p:cNvPr id="7" name="Text 5"/>
          <p:cNvSpPr/>
          <p:nvPr/>
        </p:nvSpPr>
        <p:spPr>
          <a:xfrm>
            <a:off x="822960" y="4251960"/>
            <a:ext cx="4846320" cy="457200"/>
          </a:xfrm>
          <a:prstGeom prst="rect">
            <a:avLst/>
          </a:prstGeom>
          <a:noFill/>
          <a:ln/>
        </p:spPr>
        <p:txBody>
          <a:bodyPr wrap="square" lIns="0" tIns="0" rIns="0" bIns="0" rtlCol="0" anchor="ctr"/>
          <a:lstStyle/>
          <a:p>
            <a:pPr marL="0" indent="0">
              <a:buNone/>
            </a:pPr>
            <a:r>
              <a:rPr lang="en-US" sz="1250" i="1" dirty="0">
                <a:solidFill>
                  <a:srgbClr val="5B6470"/>
                </a:solidFill>
                <a:latin typeface="Calibri" pitchFamily="34" charset="0"/>
                <a:ea typeface="Calibri" pitchFamily="34" charset="-122"/>
                <a:cs typeface="Calibri" pitchFamily="34" charset="-120"/>
              </a:rPr>
              <a:t>Small stride = fine detail; big stride = quick summary.</a:t>
            </a:r>
            <a:endParaRPr lang="en-US" sz="1250" dirty="0"/>
          </a:p>
        </p:txBody>
      </p:sp>
      <p:sp>
        <p:nvSpPr>
          <p:cNvPr id="8" name="Shape 6"/>
          <p:cNvSpPr/>
          <p:nvPr/>
        </p:nvSpPr>
        <p:spPr>
          <a:xfrm>
            <a:off x="6172200" y="1691640"/>
            <a:ext cx="5468112" cy="3200400"/>
          </a:xfrm>
          <a:prstGeom prst="roundRect">
            <a:avLst>
              <a:gd name="adj" fmla="val 2286"/>
            </a:avLst>
          </a:prstGeom>
          <a:solidFill>
            <a:srgbClr val="F5F8FB"/>
          </a:solidFill>
          <a:ln w="12700">
            <a:solidFill>
              <a:srgbClr val="DDE5EC"/>
            </a:solidFill>
            <a:prstDash val="solid"/>
          </a:ln>
        </p:spPr>
      </p:sp>
      <p:sp>
        <p:nvSpPr>
          <p:cNvPr id="9" name="Text 7"/>
          <p:cNvSpPr/>
          <p:nvPr/>
        </p:nvSpPr>
        <p:spPr>
          <a:xfrm>
            <a:off x="6446520" y="1874520"/>
            <a:ext cx="4937760" cy="365760"/>
          </a:xfrm>
          <a:prstGeom prst="rect">
            <a:avLst/>
          </a:prstGeom>
          <a:noFill/>
          <a:ln/>
        </p:spPr>
        <p:txBody>
          <a:bodyPr wrap="square" lIns="0" tIns="0" rIns="0" bIns="0" rtlCol="0" anchor="ctr"/>
          <a:lstStyle/>
          <a:p>
            <a:pPr marL="0" indent="0">
              <a:buNone/>
            </a:pPr>
            <a:r>
              <a:rPr lang="en-US" sz="1600" b="1" dirty="0">
                <a:solidFill>
                  <a:srgbClr val="0B5CAD"/>
                </a:solidFill>
                <a:latin typeface="Cambria" pitchFamily="34" charset="0"/>
                <a:ea typeface="Cambria" pitchFamily="34" charset="-122"/>
                <a:cs typeface="Cambria" pitchFamily="34" charset="-120"/>
              </a:rPr>
              <a:t>Padding — minding the edges</a:t>
            </a:r>
            <a:endParaRPr lang="en-US" sz="1600" dirty="0"/>
          </a:p>
        </p:txBody>
      </p:sp>
      <p:sp>
        <p:nvSpPr>
          <p:cNvPr id="10" name="Text 8"/>
          <p:cNvSpPr/>
          <p:nvPr/>
        </p:nvSpPr>
        <p:spPr>
          <a:xfrm>
            <a:off x="6446520" y="2331720"/>
            <a:ext cx="4937760" cy="1463040"/>
          </a:xfrm>
          <a:prstGeom prst="rect">
            <a:avLst/>
          </a:prstGeom>
          <a:noFill/>
          <a:ln/>
        </p:spPr>
        <p:txBody>
          <a:bodyPr wrap="square" lIns="0" tIns="0" rIns="0" bIns="0" rtlCol="0" anchor="ctr"/>
          <a:lstStyle/>
          <a:p>
            <a:pPr marL="0" indent="0">
              <a:buNone/>
            </a:pPr>
            <a:r>
              <a:rPr lang="en-US" sz="1400" dirty="0">
                <a:solidFill>
                  <a:srgbClr val="1A2733"/>
                </a:solidFill>
                <a:latin typeface="Calibri" pitchFamily="34" charset="0"/>
                <a:ea typeface="Calibri" pitchFamily="34" charset="-122"/>
                <a:cs typeface="Calibri" pitchFamily="34" charset="-120"/>
              </a:rPr>
              <a:t>A filter can't center on the very edge pixels, so images shrink after each layer. Padding adds a thin border of zeros so the filter can reach the edges and the size stays put.</a:t>
            </a:r>
            <a:endParaRPr lang="en-US" sz="1400" dirty="0"/>
          </a:p>
        </p:txBody>
      </p:sp>
      <p:sp>
        <p:nvSpPr>
          <p:cNvPr id="11" name="Text 9"/>
          <p:cNvSpPr/>
          <p:nvPr/>
        </p:nvSpPr>
        <p:spPr>
          <a:xfrm>
            <a:off x="6446520" y="4251960"/>
            <a:ext cx="4937760" cy="457200"/>
          </a:xfrm>
          <a:prstGeom prst="rect">
            <a:avLst/>
          </a:prstGeom>
          <a:noFill/>
          <a:ln/>
        </p:spPr>
        <p:txBody>
          <a:bodyPr wrap="square" lIns="0" tIns="0" rIns="0" bIns="0" rtlCol="0" anchor="ctr"/>
          <a:lstStyle/>
          <a:p>
            <a:pPr marL="0" indent="0">
              <a:buNone/>
            </a:pPr>
            <a:r>
              <a:rPr lang="en-US" sz="1250" i="1" dirty="0">
                <a:solidFill>
                  <a:srgbClr val="5B6470"/>
                </a:solidFill>
                <a:latin typeface="Calibri" pitchFamily="34" charset="0"/>
                <a:ea typeface="Calibri" pitchFamily="34" charset="-122"/>
                <a:cs typeface="Calibri" pitchFamily="34" charset="-120"/>
              </a:rPr>
              <a:t>Padding keeps edge information from being lost.</a:t>
            </a:r>
            <a:endParaRPr lang="en-US" sz="1250" dirty="0"/>
          </a:p>
        </p:txBody>
      </p:sp>
      <p:sp>
        <p:nvSpPr>
          <p:cNvPr id="12" name="Text 10"/>
          <p:cNvSpPr/>
          <p:nvPr/>
        </p:nvSpPr>
        <p:spPr>
          <a:xfrm>
            <a:off x="548640" y="5074920"/>
            <a:ext cx="11064240" cy="457200"/>
          </a:xfrm>
          <a:prstGeom prst="rect">
            <a:avLst/>
          </a:prstGeom>
          <a:noFill/>
          <a:ln/>
        </p:spPr>
        <p:txBody>
          <a:bodyPr wrap="square" lIns="0" tIns="0" rIns="0" bIns="0" rtlCol="0" anchor="ctr"/>
          <a:lstStyle/>
          <a:p>
            <a:pPr marL="0" indent="0">
              <a:buNone/>
            </a:pPr>
            <a:r>
              <a:rPr lang="en-US" sz="1300" i="1" dirty="0">
                <a:solidFill>
                  <a:srgbClr val="0B5CAD"/>
                </a:solidFill>
                <a:latin typeface="Calibri" pitchFamily="34" charset="0"/>
                <a:ea typeface="Calibri" pitchFamily="34" charset="-122"/>
                <a:cs typeface="Calibri" pitchFamily="34" charset="-120"/>
              </a:rPr>
              <a:t>You won't set these by hand today — the notebook does it — but now you'll recognize the words when they appear.</a:t>
            </a:r>
            <a:endParaRPr lang="en-US" sz="1300" dirty="0"/>
          </a:p>
        </p:txBody>
      </p:sp>
      <p:sp>
        <p:nvSpPr>
          <p:cNvPr id="13" name="Text 11"/>
          <p:cNvSpPr/>
          <p:nvPr/>
        </p:nvSpPr>
        <p:spPr>
          <a:xfrm>
            <a:off x="548640" y="6473952"/>
            <a:ext cx="11091672" cy="274320"/>
          </a:xfrm>
          <a:prstGeom prst="rect">
            <a:avLst/>
          </a:prstGeom>
          <a:noFill/>
          <a:ln/>
        </p:spPr>
        <p:txBody>
          <a:bodyPr wrap="square" lIns="0" tIns="0" rIns="0" bIns="0" rtlCol="0" anchor="ctr"/>
          <a:lstStyle/>
          <a:p>
            <a:pPr marL="0" indent="0">
              <a:buNone/>
            </a:pPr>
            <a:r>
              <a:rPr lang="en-US" sz="900" dirty="0">
                <a:solidFill>
                  <a:srgbClr val="5B6470"/>
                </a:solidFill>
                <a:latin typeface="Calibri" pitchFamily="34" charset="0"/>
                <a:ea typeface="Calibri" pitchFamily="34" charset="-122"/>
                <a:cs typeface="Calibri" pitchFamily="34" charset="-120"/>
              </a:rPr>
              <a:t>Digital Communication &amp; Emerging Technologies · NCCU ISS 2026 · Day 2  |  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292608"/>
            <a:ext cx="11091672" cy="658368"/>
          </a:xfrm>
          <a:prstGeom prst="rect">
            <a:avLst/>
          </a:prstGeom>
          <a:noFill/>
          <a:ln/>
        </p:spPr>
        <p:txBody>
          <a:bodyPr wrap="square" lIns="0" tIns="0" rIns="0" bIns="0" rtlCol="0" anchor="ctr"/>
          <a:lstStyle/>
          <a:p>
            <a:pPr marL="0" indent="0">
              <a:buNone/>
            </a:pPr>
            <a:r>
              <a:rPr lang="en-US" sz="3100" b="1" dirty="0">
                <a:solidFill>
                  <a:srgbClr val="1A2733"/>
                </a:solidFill>
                <a:latin typeface="Cambria" pitchFamily="34" charset="0"/>
                <a:ea typeface="Cambria" pitchFamily="34" charset="-122"/>
                <a:cs typeface="Cambria" pitchFamily="34" charset="-120"/>
              </a:rPr>
              <a:t>Stack the layers, and features build up</a:t>
            </a:r>
            <a:endParaRPr lang="en-US" sz="3100" dirty="0"/>
          </a:p>
        </p:txBody>
      </p:sp>
      <p:sp>
        <p:nvSpPr>
          <p:cNvPr id="3" name="Text 1"/>
          <p:cNvSpPr/>
          <p:nvPr/>
        </p:nvSpPr>
        <p:spPr>
          <a:xfrm>
            <a:off x="548640" y="896112"/>
            <a:ext cx="11091672" cy="365760"/>
          </a:xfrm>
          <a:prstGeom prst="rect">
            <a:avLst/>
          </a:prstGeom>
          <a:noFill/>
          <a:ln/>
        </p:spPr>
        <p:txBody>
          <a:bodyPr wrap="square" lIns="0" tIns="0" rIns="0" bIns="0" rtlCol="0" anchor="ctr"/>
          <a:lstStyle/>
          <a:p>
            <a:pPr marL="0" indent="0">
              <a:buNone/>
            </a:pPr>
            <a:r>
              <a:rPr lang="en-US" sz="1500" i="1" dirty="0">
                <a:solidFill>
                  <a:srgbClr val="5B6470"/>
                </a:solidFill>
                <a:latin typeface="Calibri" pitchFamily="34" charset="0"/>
                <a:ea typeface="Calibri" pitchFamily="34" charset="-122"/>
                <a:cs typeface="Calibri" pitchFamily="34" charset="-120"/>
              </a:rPr>
              <a:t>Edges → shapes → objects, learned automatically</a:t>
            </a:r>
            <a:endParaRPr lang="en-US" sz="1500" dirty="0"/>
          </a:p>
        </p:txBody>
      </p:sp>
      <p:sp>
        <p:nvSpPr>
          <p:cNvPr id="4" name="Shape 2"/>
          <p:cNvSpPr/>
          <p:nvPr/>
        </p:nvSpPr>
        <p:spPr>
          <a:xfrm>
            <a:off x="548640" y="1737360"/>
            <a:ext cx="3575304" cy="2651760"/>
          </a:xfrm>
          <a:prstGeom prst="roundRect">
            <a:avLst>
              <a:gd name="adj" fmla="val 2759"/>
            </a:avLst>
          </a:prstGeom>
          <a:solidFill>
            <a:srgbClr val="D3E4F6"/>
          </a:solidFill>
          <a:ln/>
        </p:spPr>
      </p:sp>
      <p:pic>
        <p:nvPicPr>
          <p:cNvPr id="5" name="Image 0" descr="preencoded.png"/>
          <p:cNvPicPr>
            <a:picLocks noChangeAspect="1"/>
          </p:cNvPicPr>
          <p:nvPr/>
        </p:nvPicPr>
        <p:blipFill>
          <a:blip r:embed="rId3"/>
          <a:stretch>
            <a:fillRect/>
          </a:stretch>
        </p:blipFill>
        <p:spPr>
          <a:xfrm>
            <a:off x="822960" y="1965960"/>
            <a:ext cx="457200" cy="457200"/>
          </a:xfrm>
          <a:prstGeom prst="rect">
            <a:avLst/>
          </a:prstGeom>
        </p:spPr>
      </p:pic>
      <p:sp>
        <p:nvSpPr>
          <p:cNvPr id="6" name="Text 3"/>
          <p:cNvSpPr/>
          <p:nvPr/>
        </p:nvSpPr>
        <p:spPr>
          <a:xfrm>
            <a:off x="822960" y="2560320"/>
            <a:ext cx="3017520" cy="1737360"/>
          </a:xfrm>
          <a:prstGeom prst="rect">
            <a:avLst/>
          </a:prstGeom>
          <a:noFill/>
          <a:ln/>
        </p:spPr>
        <p:txBody>
          <a:bodyPr wrap="square" lIns="0" tIns="0" rIns="0" bIns="0" rtlCol="0" anchor="ctr"/>
          <a:lstStyle/>
          <a:p>
            <a:pPr marL="0" indent="0">
              <a:buNone/>
            </a:pPr>
            <a:r>
              <a:rPr lang="en-US" sz="1600" b="1" dirty="0">
                <a:solidFill>
                  <a:srgbClr val="1A2733"/>
                </a:solidFill>
                <a:latin typeface="Calibri" pitchFamily="34" charset="0"/>
                <a:ea typeface="Calibri" pitchFamily="34" charset="-122"/>
                <a:cs typeface="Calibri" pitchFamily="34" charset="-120"/>
              </a:rPr>
              <a:t>Early layers
</a:t>
            </a:r>
            <a:r>
              <a:rPr lang="en-US" sz="1300" dirty="0">
                <a:solidFill>
                  <a:srgbClr val="5B6470"/>
                </a:solidFill>
                <a:latin typeface="Calibri" pitchFamily="34" charset="0"/>
                <a:ea typeface="Calibri" pitchFamily="34" charset="-122"/>
                <a:cs typeface="Calibri" pitchFamily="34" charset="-120"/>
              </a:rPr>
              <a:t>Simple edges and lines — vertical, horizontal, diagonal</a:t>
            </a:r>
            <a:endParaRPr lang="en-US" sz="1600" dirty="0"/>
          </a:p>
        </p:txBody>
      </p:sp>
      <p:sp>
        <p:nvSpPr>
          <p:cNvPr id="7" name="Text 4"/>
          <p:cNvSpPr/>
          <p:nvPr/>
        </p:nvSpPr>
        <p:spPr>
          <a:xfrm>
            <a:off x="4078224" y="2834640"/>
            <a:ext cx="320040" cy="457200"/>
          </a:xfrm>
          <a:prstGeom prst="rect">
            <a:avLst/>
          </a:prstGeom>
          <a:noFill/>
          <a:ln/>
        </p:spPr>
        <p:txBody>
          <a:bodyPr wrap="square" lIns="0" tIns="0" rIns="0" bIns="0" rtlCol="0" anchor="ctr"/>
          <a:lstStyle/>
          <a:p>
            <a:pPr marL="0" indent="0" algn="ctr">
              <a:buNone/>
            </a:pPr>
            <a:r>
              <a:rPr lang="en-US" sz="2000" dirty="0">
                <a:solidFill>
                  <a:srgbClr val="5B6470"/>
                </a:solidFill>
                <a:latin typeface="Calibri" pitchFamily="34" charset="0"/>
                <a:ea typeface="Calibri" pitchFamily="34" charset="-122"/>
                <a:cs typeface="Calibri" pitchFamily="34" charset="-120"/>
              </a:rPr>
              <a:t>→</a:t>
            </a:r>
            <a:endParaRPr lang="en-US" sz="2000" dirty="0"/>
          </a:p>
        </p:txBody>
      </p:sp>
      <p:sp>
        <p:nvSpPr>
          <p:cNvPr id="8" name="Shape 5"/>
          <p:cNvSpPr/>
          <p:nvPr/>
        </p:nvSpPr>
        <p:spPr>
          <a:xfrm>
            <a:off x="4306824" y="1737360"/>
            <a:ext cx="3575304" cy="2651760"/>
          </a:xfrm>
          <a:prstGeom prst="roundRect">
            <a:avLst>
              <a:gd name="adj" fmla="val 2759"/>
            </a:avLst>
          </a:prstGeom>
          <a:solidFill>
            <a:srgbClr val="9DB4C8"/>
          </a:solidFill>
          <a:ln/>
        </p:spPr>
      </p:sp>
      <p:pic>
        <p:nvPicPr>
          <p:cNvPr id="9" name="Image 1" descr="preencoded.png"/>
          <p:cNvPicPr>
            <a:picLocks noChangeAspect="1"/>
          </p:cNvPicPr>
          <p:nvPr/>
        </p:nvPicPr>
        <p:blipFill>
          <a:blip r:embed="rId4"/>
          <a:stretch>
            <a:fillRect/>
          </a:stretch>
        </p:blipFill>
        <p:spPr>
          <a:xfrm>
            <a:off x="4581144" y="1965960"/>
            <a:ext cx="457200" cy="457200"/>
          </a:xfrm>
          <a:prstGeom prst="rect">
            <a:avLst/>
          </a:prstGeom>
        </p:spPr>
      </p:pic>
      <p:sp>
        <p:nvSpPr>
          <p:cNvPr id="10" name="Text 6"/>
          <p:cNvSpPr/>
          <p:nvPr/>
        </p:nvSpPr>
        <p:spPr>
          <a:xfrm>
            <a:off x="4581144" y="2560320"/>
            <a:ext cx="3017520" cy="1737360"/>
          </a:xfrm>
          <a:prstGeom prst="rect">
            <a:avLst/>
          </a:prstGeom>
          <a:noFill/>
          <a:ln/>
        </p:spPr>
        <p:txBody>
          <a:bodyPr wrap="square" lIns="0" tIns="0" rIns="0" bIns="0" rtlCol="0" anchor="ctr"/>
          <a:lstStyle/>
          <a:p>
            <a:pPr marL="0" indent="0">
              <a:buNone/>
            </a:pPr>
            <a:r>
              <a:rPr lang="en-US" sz="1600" b="1" dirty="0">
                <a:solidFill>
                  <a:srgbClr val="1A2733"/>
                </a:solidFill>
                <a:latin typeface="Calibri" pitchFamily="34" charset="0"/>
                <a:ea typeface="Calibri" pitchFamily="34" charset="-122"/>
                <a:cs typeface="Calibri" pitchFamily="34" charset="-120"/>
              </a:rPr>
              <a:t>Middle layers
</a:t>
            </a:r>
            <a:r>
              <a:rPr lang="en-US" sz="1300" dirty="0">
                <a:solidFill>
                  <a:srgbClr val="F3F6FA"/>
                </a:solidFill>
                <a:latin typeface="Calibri" pitchFamily="34" charset="0"/>
                <a:ea typeface="Calibri" pitchFamily="34" charset="-122"/>
                <a:cs typeface="Calibri" pitchFamily="34" charset="-120"/>
              </a:rPr>
              <a:t>Combinations: corners, curves, textures, small parts</a:t>
            </a:r>
            <a:endParaRPr lang="en-US" sz="1600" dirty="0"/>
          </a:p>
        </p:txBody>
      </p:sp>
      <p:sp>
        <p:nvSpPr>
          <p:cNvPr id="11" name="Text 7"/>
          <p:cNvSpPr/>
          <p:nvPr/>
        </p:nvSpPr>
        <p:spPr>
          <a:xfrm>
            <a:off x="7836408" y="2834640"/>
            <a:ext cx="320040" cy="457200"/>
          </a:xfrm>
          <a:prstGeom prst="rect">
            <a:avLst/>
          </a:prstGeom>
          <a:noFill/>
          <a:ln/>
        </p:spPr>
        <p:txBody>
          <a:bodyPr wrap="square" lIns="0" tIns="0" rIns="0" bIns="0" rtlCol="0" anchor="ctr"/>
          <a:lstStyle/>
          <a:p>
            <a:pPr marL="0" indent="0" algn="ctr">
              <a:buNone/>
            </a:pPr>
            <a:r>
              <a:rPr lang="en-US" sz="2000" dirty="0">
                <a:solidFill>
                  <a:srgbClr val="5B6470"/>
                </a:solidFill>
                <a:latin typeface="Calibri" pitchFamily="34" charset="0"/>
                <a:ea typeface="Calibri" pitchFamily="34" charset="-122"/>
                <a:cs typeface="Calibri" pitchFamily="34" charset="-120"/>
              </a:rPr>
              <a:t>→</a:t>
            </a:r>
            <a:endParaRPr lang="en-US" sz="2000" dirty="0"/>
          </a:p>
        </p:txBody>
      </p:sp>
      <p:sp>
        <p:nvSpPr>
          <p:cNvPr id="12" name="Shape 8"/>
          <p:cNvSpPr/>
          <p:nvPr/>
        </p:nvSpPr>
        <p:spPr>
          <a:xfrm>
            <a:off x="8065008" y="1737360"/>
            <a:ext cx="3575304" cy="2651760"/>
          </a:xfrm>
          <a:prstGeom prst="roundRect">
            <a:avLst>
              <a:gd name="adj" fmla="val 2759"/>
            </a:avLst>
          </a:prstGeom>
          <a:solidFill>
            <a:srgbClr val="0B5CAD"/>
          </a:solidFill>
          <a:ln/>
        </p:spPr>
      </p:sp>
      <p:pic>
        <p:nvPicPr>
          <p:cNvPr id="13" name="Image 2" descr="preencoded.png"/>
          <p:cNvPicPr>
            <a:picLocks noChangeAspect="1"/>
          </p:cNvPicPr>
          <p:nvPr/>
        </p:nvPicPr>
        <p:blipFill>
          <a:blip r:embed="rId5"/>
          <a:stretch>
            <a:fillRect/>
          </a:stretch>
        </p:blipFill>
        <p:spPr>
          <a:xfrm>
            <a:off x="8339328" y="1965960"/>
            <a:ext cx="457200" cy="457200"/>
          </a:xfrm>
          <a:prstGeom prst="rect">
            <a:avLst/>
          </a:prstGeom>
        </p:spPr>
      </p:pic>
      <p:sp>
        <p:nvSpPr>
          <p:cNvPr id="14" name="Text 9"/>
          <p:cNvSpPr/>
          <p:nvPr/>
        </p:nvSpPr>
        <p:spPr>
          <a:xfrm>
            <a:off x="8339328" y="2560320"/>
            <a:ext cx="3017520" cy="17373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Deep layers
</a:t>
            </a:r>
            <a:r>
              <a:rPr lang="en-US" sz="1300" dirty="0">
                <a:solidFill>
                  <a:srgbClr val="D8E6F7"/>
                </a:solidFill>
                <a:latin typeface="Calibri" pitchFamily="34" charset="0"/>
                <a:ea typeface="Calibri" pitchFamily="34" charset="-122"/>
                <a:cs typeface="Calibri" pitchFamily="34" charset="-120"/>
              </a:rPr>
              <a:t>Whole-object parts: a sleeve, a collar, a shoe sole</a:t>
            </a:r>
            <a:endParaRPr lang="en-US" sz="1600" dirty="0"/>
          </a:p>
        </p:txBody>
      </p:sp>
      <p:sp>
        <p:nvSpPr>
          <p:cNvPr id="15" name="Text 10"/>
          <p:cNvSpPr/>
          <p:nvPr/>
        </p:nvSpPr>
        <p:spPr>
          <a:xfrm>
            <a:off x="548640" y="4709160"/>
            <a:ext cx="11064240" cy="822960"/>
          </a:xfrm>
          <a:prstGeom prst="rect">
            <a:avLst/>
          </a:prstGeom>
          <a:noFill/>
          <a:ln/>
        </p:spPr>
        <p:txBody>
          <a:bodyPr wrap="square" lIns="0" tIns="0" rIns="0" bIns="0" rtlCol="0" anchor="ctr"/>
          <a:lstStyle/>
          <a:p>
            <a:pPr marL="0" indent="0">
              <a:buNone/>
            </a:pPr>
            <a:r>
              <a:rPr lang="en-US" sz="1500" b="1" dirty="0">
                <a:solidFill>
                  <a:srgbClr val="0B5CAD"/>
                </a:solidFill>
                <a:latin typeface="Calibri" pitchFamily="34" charset="0"/>
                <a:ea typeface="Calibri" pitchFamily="34" charset="-122"/>
                <a:cs typeface="Calibri" pitchFamily="34" charset="-120"/>
              </a:rPr>
              <a:t>Nobody programs “sleeve.” </a:t>
            </a:r>
            <a:r>
              <a:rPr lang="en-US" sz="1500" dirty="0">
                <a:solidFill>
                  <a:srgbClr val="1A2733"/>
                </a:solidFill>
                <a:latin typeface="Calibri" pitchFamily="34" charset="0"/>
                <a:ea typeface="Calibri" pitchFamily="34" charset="-122"/>
                <a:cs typeface="Calibri" pitchFamily="34" charset="-120"/>
              </a:rPr>
              <a:t>The network discovers this hierarchy on its own, just from labeled examples and the downhill-loss process. That is the whole magic of deep learning.</a:t>
            </a:r>
            <a:endParaRPr lang="en-US" sz="1500" dirty="0"/>
          </a:p>
        </p:txBody>
      </p:sp>
      <p:sp>
        <p:nvSpPr>
          <p:cNvPr id="16" name="Text 11"/>
          <p:cNvSpPr/>
          <p:nvPr/>
        </p:nvSpPr>
        <p:spPr>
          <a:xfrm>
            <a:off x="548640" y="6473952"/>
            <a:ext cx="11091672" cy="274320"/>
          </a:xfrm>
          <a:prstGeom prst="rect">
            <a:avLst/>
          </a:prstGeom>
          <a:noFill/>
          <a:ln/>
        </p:spPr>
        <p:txBody>
          <a:bodyPr wrap="square" lIns="0" tIns="0" rIns="0" bIns="0" rtlCol="0" anchor="ctr"/>
          <a:lstStyle/>
          <a:p>
            <a:pPr marL="0" indent="0">
              <a:buNone/>
            </a:pPr>
            <a:r>
              <a:rPr lang="en-US" sz="900" dirty="0">
                <a:solidFill>
                  <a:srgbClr val="5B6470"/>
                </a:solidFill>
                <a:latin typeface="Calibri" pitchFamily="34" charset="0"/>
                <a:ea typeface="Calibri" pitchFamily="34" charset="-122"/>
                <a:cs typeface="Calibri" pitchFamily="34" charset="-120"/>
              </a:rPr>
              <a:t>Digital Communication &amp; Emerging Technologies · NCCU ISS 2026 · Day 2  |  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292608"/>
            <a:ext cx="11091672" cy="658368"/>
          </a:xfrm>
          <a:prstGeom prst="rect">
            <a:avLst/>
          </a:prstGeom>
          <a:noFill/>
          <a:ln/>
        </p:spPr>
        <p:txBody>
          <a:bodyPr wrap="square" lIns="0" tIns="0" rIns="0" bIns="0" rtlCol="0" anchor="ctr"/>
          <a:lstStyle/>
          <a:p>
            <a:pPr marL="0" indent="0">
              <a:buNone/>
            </a:pPr>
            <a:r>
              <a:rPr lang="en-US" sz="3100" b="1" dirty="0">
                <a:solidFill>
                  <a:srgbClr val="1A2733"/>
                </a:solidFill>
                <a:latin typeface="Cambria" pitchFamily="34" charset="0"/>
                <a:ea typeface="Cambria" pitchFamily="34" charset="-122"/>
                <a:cs typeface="Cambria" pitchFamily="34" charset="-120"/>
              </a:rPr>
              <a:t>Pooling: shrink, and keep what matters</a:t>
            </a:r>
            <a:endParaRPr lang="en-US" sz="3100" dirty="0"/>
          </a:p>
        </p:txBody>
      </p:sp>
      <p:sp>
        <p:nvSpPr>
          <p:cNvPr id="3" name="Text 1"/>
          <p:cNvSpPr/>
          <p:nvPr/>
        </p:nvSpPr>
        <p:spPr>
          <a:xfrm>
            <a:off x="548640" y="896112"/>
            <a:ext cx="11091672" cy="365760"/>
          </a:xfrm>
          <a:prstGeom prst="rect">
            <a:avLst/>
          </a:prstGeom>
          <a:noFill/>
          <a:ln/>
        </p:spPr>
        <p:txBody>
          <a:bodyPr wrap="square" lIns="0" tIns="0" rIns="0" bIns="0" rtlCol="0" anchor="ctr"/>
          <a:lstStyle/>
          <a:p>
            <a:pPr marL="0" indent="0">
              <a:buNone/>
            </a:pPr>
            <a:r>
              <a:rPr lang="en-US" sz="1500" i="1" dirty="0">
                <a:solidFill>
                  <a:srgbClr val="5B6470"/>
                </a:solidFill>
                <a:latin typeface="Calibri" pitchFamily="34" charset="0"/>
                <a:ea typeface="Calibri" pitchFamily="34" charset="-122"/>
                <a:cs typeface="Calibri" pitchFamily="34" charset="-120"/>
              </a:rPr>
              <a:t>Summarize each little region by its strongest signal</a:t>
            </a:r>
            <a:endParaRPr lang="en-US" sz="1500" dirty="0"/>
          </a:p>
        </p:txBody>
      </p:sp>
      <p:sp>
        <p:nvSpPr>
          <p:cNvPr id="4" name="Shape 2"/>
          <p:cNvSpPr/>
          <p:nvPr/>
        </p:nvSpPr>
        <p:spPr>
          <a:xfrm>
            <a:off x="822960" y="1920240"/>
            <a:ext cx="457200" cy="457200"/>
          </a:xfrm>
          <a:prstGeom prst="rect">
            <a:avLst/>
          </a:prstGeom>
          <a:solidFill>
            <a:srgbClr val="D3E4F6"/>
          </a:solidFill>
          <a:ln w="9525">
            <a:solidFill>
              <a:srgbClr val="DDE5EC"/>
            </a:solidFill>
            <a:prstDash val="solid"/>
          </a:ln>
        </p:spPr>
      </p:sp>
      <p:sp>
        <p:nvSpPr>
          <p:cNvPr id="5" name="Text 3"/>
          <p:cNvSpPr/>
          <p:nvPr/>
        </p:nvSpPr>
        <p:spPr>
          <a:xfrm>
            <a:off x="822960" y="1920240"/>
            <a:ext cx="457200" cy="457200"/>
          </a:xfrm>
          <a:prstGeom prst="rect">
            <a:avLst/>
          </a:prstGeom>
          <a:noFill/>
          <a:ln/>
        </p:spPr>
        <p:txBody>
          <a:bodyPr wrap="square" lIns="0" tIns="0" rIns="0" bIns="0" rtlCol="0" anchor="ctr"/>
          <a:lstStyle/>
          <a:p>
            <a:pPr marL="0" indent="0" algn="ctr">
              <a:buNone/>
            </a:pPr>
            <a:r>
              <a:rPr lang="en-US" sz="1200" dirty="0">
                <a:solidFill>
                  <a:srgbClr val="1A2733"/>
                </a:solidFill>
                <a:latin typeface="Calibri" pitchFamily="34" charset="0"/>
                <a:ea typeface="Calibri" pitchFamily="34" charset="-122"/>
                <a:cs typeface="Calibri" pitchFamily="34" charset="-120"/>
              </a:rPr>
              <a:t>1</a:t>
            </a:r>
            <a:endParaRPr lang="en-US" sz="1200" dirty="0"/>
          </a:p>
        </p:txBody>
      </p:sp>
      <p:sp>
        <p:nvSpPr>
          <p:cNvPr id="6" name="Shape 4"/>
          <p:cNvSpPr/>
          <p:nvPr/>
        </p:nvSpPr>
        <p:spPr>
          <a:xfrm>
            <a:off x="1280160" y="1920240"/>
            <a:ext cx="457200" cy="457200"/>
          </a:xfrm>
          <a:prstGeom prst="rect">
            <a:avLst/>
          </a:prstGeom>
          <a:solidFill>
            <a:srgbClr val="D3E4F6"/>
          </a:solidFill>
          <a:ln w="9525">
            <a:solidFill>
              <a:srgbClr val="DDE5EC"/>
            </a:solidFill>
            <a:prstDash val="solid"/>
          </a:ln>
        </p:spPr>
      </p:sp>
      <p:sp>
        <p:nvSpPr>
          <p:cNvPr id="7" name="Text 5"/>
          <p:cNvSpPr/>
          <p:nvPr/>
        </p:nvSpPr>
        <p:spPr>
          <a:xfrm>
            <a:off x="1280160" y="1920240"/>
            <a:ext cx="457200" cy="457200"/>
          </a:xfrm>
          <a:prstGeom prst="rect">
            <a:avLst/>
          </a:prstGeom>
          <a:noFill/>
          <a:ln/>
        </p:spPr>
        <p:txBody>
          <a:bodyPr wrap="square" lIns="0" tIns="0" rIns="0" bIns="0" rtlCol="0" anchor="ctr"/>
          <a:lstStyle/>
          <a:p>
            <a:pPr marL="0" indent="0" algn="ctr">
              <a:buNone/>
            </a:pPr>
            <a:r>
              <a:rPr lang="en-US" sz="1200" dirty="0">
                <a:solidFill>
                  <a:srgbClr val="1A2733"/>
                </a:solidFill>
                <a:latin typeface="Calibri" pitchFamily="34" charset="0"/>
                <a:ea typeface="Calibri" pitchFamily="34" charset="-122"/>
                <a:cs typeface="Calibri" pitchFamily="34" charset="-120"/>
              </a:rPr>
              <a:t>3</a:t>
            </a:r>
            <a:endParaRPr lang="en-US" sz="1200" dirty="0"/>
          </a:p>
        </p:txBody>
      </p:sp>
      <p:sp>
        <p:nvSpPr>
          <p:cNvPr id="8" name="Shape 6"/>
          <p:cNvSpPr/>
          <p:nvPr/>
        </p:nvSpPr>
        <p:spPr>
          <a:xfrm>
            <a:off x="1737360" y="1920240"/>
            <a:ext cx="457200" cy="457200"/>
          </a:xfrm>
          <a:prstGeom prst="rect">
            <a:avLst/>
          </a:prstGeom>
          <a:solidFill>
            <a:srgbClr val="EAF2FB"/>
          </a:solidFill>
          <a:ln w="9525">
            <a:solidFill>
              <a:srgbClr val="DDE5EC"/>
            </a:solidFill>
            <a:prstDash val="solid"/>
          </a:ln>
        </p:spPr>
      </p:sp>
      <p:sp>
        <p:nvSpPr>
          <p:cNvPr id="9" name="Text 7"/>
          <p:cNvSpPr/>
          <p:nvPr/>
        </p:nvSpPr>
        <p:spPr>
          <a:xfrm>
            <a:off x="1737360" y="1920240"/>
            <a:ext cx="457200" cy="457200"/>
          </a:xfrm>
          <a:prstGeom prst="rect">
            <a:avLst/>
          </a:prstGeom>
          <a:noFill/>
          <a:ln/>
        </p:spPr>
        <p:txBody>
          <a:bodyPr wrap="square" lIns="0" tIns="0" rIns="0" bIns="0" rtlCol="0" anchor="ctr"/>
          <a:lstStyle/>
          <a:p>
            <a:pPr marL="0" indent="0" algn="ctr">
              <a:buNone/>
            </a:pPr>
            <a:r>
              <a:rPr lang="en-US" sz="1200" dirty="0">
                <a:solidFill>
                  <a:srgbClr val="1A2733"/>
                </a:solidFill>
                <a:latin typeface="Calibri" pitchFamily="34" charset="0"/>
                <a:ea typeface="Calibri" pitchFamily="34" charset="-122"/>
                <a:cs typeface="Calibri" pitchFamily="34" charset="-120"/>
              </a:rPr>
              <a:t>2</a:t>
            </a:r>
            <a:endParaRPr lang="en-US" sz="1200" dirty="0"/>
          </a:p>
        </p:txBody>
      </p:sp>
      <p:sp>
        <p:nvSpPr>
          <p:cNvPr id="10" name="Shape 8"/>
          <p:cNvSpPr/>
          <p:nvPr/>
        </p:nvSpPr>
        <p:spPr>
          <a:xfrm>
            <a:off x="2194560" y="1920240"/>
            <a:ext cx="457200" cy="457200"/>
          </a:xfrm>
          <a:prstGeom prst="rect">
            <a:avLst/>
          </a:prstGeom>
          <a:solidFill>
            <a:srgbClr val="EAF2FB"/>
          </a:solidFill>
          <a:ln w="9525">
            <a:solidFill>
              <a:srgbClr val="DDE5EC"/>
            </a:solidFill>
            <a:prstDash val="solid"/>
          </a:ln>
        </p:spPr>
      </p:sp>
      <p:sp>
        <p:nvSpPr>
          <p:cNvPr id="11" name="Text 9"/>
          <p:cNvSpPr/>
          <p:nvPr/>
        </p:nvSpPr>
        <p:spPr>
          <a:xfrm>
            <a:off x="2194560" y="1920240"/>
            <a:ext cx="457200" cy="457200"/>
          </a:xfrm>
          <a:prstGeom prst="rect">
            <a:avLst/>
          </a:prstGeom>
          <a:noFill/>
          <a:ln/>
        </p:spPr>
        <p:txBody>
          <a:bodyPr wrap="square" lIns="0" tIns="0" rIns="0" bIns="0" rtlCol="0" anchor="ctr"/>
          <a:lstStyle/>
          <a:p>
            <a:pPr marL="0" indent="0" algn="ctr">
              <a:buNone/>
            </a:pPr>
            <a:r>
              <a:rPr lang="en-US" sz="1200" dirty="0">
                <a:solidFill>
                  <a:srgbClr val="1A2733"/>
                </a:solidFill>
                <a:latin typeface="Calibri" pitchFamily="34" charset="0"/>
                <a:ea typeface="Calibri" pitchFamily="34" charset="-122"/>
                <a:cs typeface="Calibri" pitchFamily="34" charset="-120"/>
              </a:rPr>
              <a:t>4</a:t>
            </a:r>
            <a:endParaRPr lang="en-US" sz="1200" dirty="0"/>
          </a:p>
        </p:txBody>
      </p:sp>
      <p:sp>
        <p:nvSpPr>
          <p:cNvPr id="12" name="Shape 10"/>
          <p:cNvSpPr/>
          <p:nvPr/>
        </p:nvSpPr>
        <p:spPr>
          <a:xfrm>
            <a:off x="822960" y="2377440"/>
            <a:ext cx="457200" cy="457200"/>
          </a:xfrm>
          <a:prstGeom prst="rect">
            <a:avLst/>
          </a:prstGeom>
          <a:solidFill>
            <a:srgbClr val="D3E4F6"/>
          </a:solidFill>
          <a:ln w="9525">
            <a:solidFill>
              <a:srgbClr val="DDE5EC"/>
            </a:solidFill>
            <a:prstDash val="solid"/>
          </a:ln>
        </p:spPr>
      </p:sp>
      <p:sp>
        <p:nvSpPr>
          <p:cNvPr id="13" name="Text 11"/>
          <p:cNvSpPr/>
          <p:nvPr/>
        </p:nvSpPr>
        <p:spPr>
          <a:xfrm>
            <a:off x="822960" y="2377440"/>
            <a:ext cx="457200" cy="457200"/>
          </a:xfrm>
          <a:prstGeom prst="rect">
            <a:avLst/>
          </a:prstGeom>
          <a:noFill/>
          <a:ln/>
        </p:spPr>
        <p:txBody>
          <a:bodyPr wrap="square" lIns="0" tIns="0" rIns="0" bIns="0" rtlCol="0" anchor="ctr"/>
          <a:lstStyle/>
          <a:p>
            <a:pPr marL="0" indent="0" algn="ctr">
              <a:buNone/>
            </a:pPr>
            <a:r>
              <a:rPr lang="en-US" sz="1200" dirty="0">
                <a:solidFill>
                  <a:srgbClr val="1A2733"/>
                </a:solidFill>
                <a:latin typeface="Calibri" pitchFamily="34" charset="0"/>
                <a:ea typeface="Calibri" pitchFamily="34" charset="-122"/>
                <a:cs typeface="Calibri" pitchFamily="34" charset="-120"/>
              </a:rPr>
              <a:t>5</a:t>
            </a:r>
            <a:endParaRPr lang="en-US" sz="1200" dirty="0"/>
          </a:p>
        </p:txBody>
      </p:sp>
      <p:sp>
        <p:nvSpPr>
          <p:cNvPr id="14" name="Shape 12"/>
          <p:cNvSpPr/>
          <p:nvPr/>
        </p:nvSpPr>
        <p:spPr>
          <a:xfrm>
            <a:off x="1280160" y="2377440"/>
            <a:ext cx="457200" cy="457200"/>
          </a:xfrm>
          <a:prstGeom prst="rect">
            <a:avLst/>
          </a:prstGeom>
          <a:solidFill>
            <a:srgbClr val="D3E4F6"/>
          </a:solidFill>
          <a:ln w="9525">
            <a:solidFill>
              <a:srgbClr val="DDE5EC"/>
            </a:solidFill>
            <a:prstDash val="solid"/>
          </a:ln>
        </p:spPr>
      </p:sp>
      <p:sp>
        <p:nvSpPr>
          <p:cNvPr id="15" name="Text 13"/>
          <p:cNvSpPr/>
          <p:nvPr/>
        </p:nvSpPr>
        <p:spPr>
          <a:xfrm>
            <a:off x="1280160" y="2377440"/>
            <a:ext cx="457200" cy="457200"/>
          </a:xfrm>
          <a:prstGeom prst="rect">
            <a:avLst/>
          </a:prstGeom>
          <a:noFill/>
          <a:ln/>
        </p:spPr>
        <p:txBody>
          <a:bodyPr wrap="square" lIns="0" tIns="0" rIns="0" bIns="0" rtlCol="0" anchor="ctr"/>
          <a:lstStyle/>
          <a:p>
            <a:pPr marL="0" indent="0" algn="ctr">
              <a:buNone/>
            </a:pPr>
            <a:r>
              <a:rPr lang="en-US" sz="1200" dirty="0">
                <a:solidFill>
                  <a:srgbClr val="1A2733"/>
                </a:solidFill>
                <a:latin typeface="Calibri" pitchFamily="34" charset="0"/>
                <a:ea typeface="Calibri" pitchFamily="34" charset="-122"/>
                <a:cs typeface="Calibri" pitchFamily="34" charset="-120"/>
              </a:rPr>
              <a:t>6</a:t>
            </a:r>
            <a:endParaRPr lang="en-US" sz="1200" dirty="0"/>
          </a:p>
        </p:txBody>
      </p:sp>
      <p:sp>
        <p:nvSpPr>
          <p:cNvPr id="16" name="Shape 14"/>
          <p:cNvSpPr/>
          <p:nvPr/>
        </p:nvSpPr>
        <p:spPr>
          <a:xfrm>
            <a:off x="1737360" y="2377440"/>
            <a:ext cx="457200" cy="457200"/>
          </a:xfrm>
          <a:prstGeom prst="rect">
            <a:avLst/>
          </a:prstGeom>
          <a:solidFill>
            <a:srgbClr val="EAF2FB"/>
          </a:solidFill>
          <a:ln w="9525">
            <a:solidFill>
              <a:srgbClr val="DDE5EC"/>
            </a:solidFill>
            <a:prstDash val="solid"/>
          </a:ln>
        </p:spPr>
      </p:sp>
      <p:sp>
        <p:nvSpPr>
          <p:cNvPr id="17" name="Text 15"/>
          <p:cNvSpPr/>
          <p:nvPr/>
        </p:nvSpPr>
        <p:spPr>
          <a:xfrm>
            <a:off x="1737360" y="2377440"/>
            <a:ext cx="457200" cy="457200"/>
          </a:xfrm>
          <a:prstGeom prst="rect">
            <a:avLst/>
          </a:prstGeom>
          <a:noFill/>
          <a:ln/>
        </p:spPr>
        <p:txBody>
          <a:bodyPr wrap="square" lIns="0" tIns="0" rIns="0" bIns="0" rtlCol="0" anchor="ctr"/>
          <a:lstStyle/>
          <a:p>
            <a:pPr marL="0" indent="0" algn="ctr">
              <a:buNone/>
            </a:pPr>
            <a:r>
              <a:rPr lang="en-US" sz="1200" dirty="0">
                <a:solidFill>
                  <a:srgbClr val="1A2733"/>
                </a:solidFill>
                <a:latin typeface="Calibri" pitchFamily="34" charset="0"/>
                <a:ea typeface="Calibri" pitchFamily="34" charset="-122"/>
                <a:cs typeface="Calibri" pitchFamily="34" charset="-120"/>
              </a:rPr>
              <a:t>1</a:t>
            </a:r>
            <a:endParaRPr lang="en-US" sz="1200" dirty="0"/>
          </a:p>
        </p:txBody>
      </p:sp>
      <p:sp>
        <p:nvSpPr>
          <p:cNvPr id="18" name="Shape 16"/>
          <p:cNvSpPr/>
          <p:nvPr/>
        </p:nvSpPr>
        <p:spPr>
          <a:xfrm>
            <a:off x="2194560" y="2377440"/>
            <a:ext cx="457200" cy="457200"/>
          </a:xfrm>
          <a:prstGeom prst="rect">
            <a:avLst/>
          </a:prstGeom>
          <a:solidFill>
            <a:srgbClr val="EAF2FB"/>
          </a:solidFill>
          <a:ln w="9525">
            <a:solidFill>
              <a:srgbClr val="DDE5EC"/>
            </a:solidFill>
            <a:prstDash val="solid"/>
          </a:ln>
        </p:spPr>
      </p:sp>
      <p:sp>
        <p:nvSpPr>
          <p:cNvPr id="19" name="Text 17"/>
          <p:cNvSpPr/>
          <p:nvPr/>
        </p:nvSpPr>
        <p:spPr>
          <a:xfrm>
            <a:off x="2194560" y="2377440"/>
            <a:ext cx="457200" cy="457200"/>
          </a:xfrm>
          <a:prstGeom prst="rect">
            <a:avLst/>
          </a:prstGeom>
          <a:noFill/>
          <a:ln/>
        </p:spPr>
        <p:txBody>
          <a:bodyPr wrap="square" lIns="0" tIns="0" rIns="0" bIns="0" rtlCol="0" anchor="ctr"/>
          <a:lstStyle/>
          <a:p>
            <a:pPr marL="0" indent="0" algn="ctr">
              <a:buNone/>
            </a:pPr>
            <a:r>
              <a:rPr lang="en-US" sz="1200" dirty="0">
                <a:solidFill>
                  <a:srgbClr val="1A2733"/>
                </a:solidFill>
                <a:latin typeface="Calibri" pitchFamily="34" charset="0"/>
                <a:ea typeface="Calibri" pitchFamily="34" charset="-122"/>
                <a:cs typeface="Calibri" pitchFamily="34" charset="-120"/>
              </a:rPr>
              <a:t>2</a:t>
            </a:r>
            <a:endParaRPr lang="en-US" sz="1200" dirty="0"/>
          </a:p>
        </p:txBody>
      </p:sp>
      <p:sp>
        <p:nvSpPr>
          <p:cNvPr id="20" name="Shape 18"/>
          <p:cNvSpPr/>
          <p:nvPr/>
        </p:nvSpPr>
        <p:spPr>
          <a:xfrm>
            <a:off x="822960" y="2834640"/>
            <a:ext cx="457200" cy="457200"/>
          </a:xfrm>
          <a:prstGeom prst="rect">
            <a:avLst/>
          </a:prstGeom>
          <a:solidFill>
            <a:srgbClr val="F3E2C4"/>
          </a:solidFill>
          <a:ln w="9525">
            <a:solidFill>
              <a:srgbClr val="DDE5EC"/>
            </a:solidFill>
            <a:prstDash val="solid"/>
          </a:ln>
        </p:spPr>
      </p:sp>
      <p:sp>
        <p:nvSpPr>
          <p:cNvPr id="21" name="Text 19"/>
          <p:cNvSpPr/>
          <p:nvPr/>
        </p:nvSpPr>
        <p:spPr>
          <a:xfrm>
            <a:off x="822960" y="2834640"/>
            <a:ext cx="457200" cy="457200"/>
          </a:xfrm>
          <a:prstGeom prst="rect">
            <a:avLst/>
          </a:prstGeom>
          <a:noFill/>
          <a:ln/>
        </p:spPr>
        <p:txBody>
          <a:bodyPr wrap="square" lIns="0" tIns="0" rIns="0" bIns="0" rtlCol="0" anchor="ctr"/>
          <a:lstStyle/>
          <a:p>
            <a:pPr marL="0" indent="0" algn="ctr">
              <a:buNone/>
            </a:pPr>
            <a:r>
              <a:rPr lang="en-US" sz="1200" dirty="0">
                <a:solidFill>
                  <a:srgbClr val="1A2733"/>
                </a:solidFill>
                <a:latin typeface="Calibri" pitchFamily="34" charset="0"/>
                <a:ea typeface="Calibri" pitchFamily="34" charset="-122"/>
                <a:cs typeface="Calibri" pitchFamily="34" charset="-120"/>
              </a:rPr>
              <a:t>3</a:t>
            </a:r>
            <a:endParaRPr lang="en-US" sz="1200" dirty="0"/>
          </a:p>
        </p:txBody>
      </p:sp>
      <p:sp>
        <p:nvSpPr>
          <p:cNvPr id="22" name="Shape 20"/>
          <p:cNvSpPr/>
          <p:nvPr/>
        </p:nvSpPr>
        <p:spPr>
          <a:xfrm>
            <a:off x="1280160" y="2834640"/>
            <a:ext cx="457200" cy="457200"/>
          </a:xfrm>
          <a:prstGeom prst="rect">
            <a:avLst/>
          </a:prstGeom>
          <a:solidFill>
            <a:srgbClr val="F3E2C4"/>
          </a:solidFill>
          <a:ln w="9525">
            <a:solidFill>
              <a:srgbClr val="DDE5EC"/>
            </a:solidFill>
            <a:prstDash val="solid"/>
          </a:ln>
        </p:spPr>
      </p:sp>
      <p:sp>
        <p:nvSpPr>
          <p:cNvPr id="23" name="Text 21"/>
          <p:cNvSpPr/>
          <p:nvPr/>
        </p:nvSpPr>
        <p:spPr>
          <a:xfrm>
            <a:off x="1280160" y="2834640"/>
            <a:ext cx="457200" cy="457200"/>
          </a:xfrm>
          <a:prstGeom prst="rect">
            <a:avLst/>
          </a:prstGeom>
          <a:noFill/>
          <a:ln/>
        </p:spPr>
        <p:txBody>
          <a:bodyPr wrap="square" lIns="0" tIns="0" rIns="0" bIns="0" rtlCol="0" anchor="ctr"/>
          <a:lstStyle/>
          <a:p>
            <a:pPr marL="0" indent="0" algn="ctr">
              <a:buNone/>
            </a:pPr>
            <a:r>
              <a:rPr lang="en-US" sz="1200" dirty="0">
                <a:solidFill>
                  <a:srgbClr val="1A2733"/>
                </a:solidFill>
                <a:latin typeface="Calibri" pitchFamily="34" charset="0"/>
                <a:ea typeface="Calibri" pitchFamily="34" charset="-122"/>
                <a:cs typeface="Calibri" pitchFamily="34" charset="-120"/>
              </a:rPr>
              <a:t>2</a:t>
            </a:r>
            <a:endParaRPr lang="en-US" sz="1200" dirty="0"/>
          </a:p>
        </p:txBody>
      </p:sp>
      <p:sp>
        <p:nvSpPr>
          <p:cNvPr id="24" name="Shape 22"/>
          <p:cNvSpPr/>
          <p:nvPr/>
        </p:nvSpPr>
        <p:spPr>
          <a:xfrm>
            <a:off x="1737360" y="2834640"/>
            <a:ext cx="457200" cy="457200"/>
          </a:xfrm>
          <a:prstGeom prst="rect">
            <a:avLst/>
          </a:prstGeom>
          <a:solidFill>
            <a:srgbClr val="E7F1E9"/>
          </a:solidFill>
          <a:ln w="9525">
            <a:solidFill>
              <a:srgbClr val="DDE5EC"/>
            </a:solidFill>
            <a:prstDash val="solid"/>
          </a:ln>
        </p:spPr>
      </p:sp>
      <p:sp>
        <p:nvSpPr>
          <p:cNvPr id="25" name="Text 23"/>
          <p:cNvSpPr/>
          <p:nvPr/>
        </p:nvSpPr>
        <p:spPr>
          <a:xfrm>
            <a:off x="1737360" y="2834640"/>
            <a:ext cx="457200" cy="457200"/>
          </a:xfrm>
          <a:prstGeom prst="rect">
            <a:avLst/>
          </a:prstGeom>
          <a:noFill/>
          <a:ln/>
        </p:spPr>
        <p:txBody>
          <a:bodyPr wrap="square" lIns="0" tIns="0" rIns="0" bIns="0" rtlCol="0" anchor="ctr"/>
          <a:lstStyle/>
          <a:p>
            <a:pPr marL="0" indent="0" algn="ctr">
              <a:buNone/>
            </a:pPr>
            <a:r>
              <a:rPr lang="en-US" sz="1200" dirty="0">
                <a:solidFill>
                  <a:srgbClr val="1A2733"/>
                </a:solidFill>
                <a:latin typeface="Calibri" pitchFamily="34" charset="0"/>
                <a:ea typeface="Calibri" pitchFamily="34" charset="-122"/>
                <a:cs typeface="Calibri" pitchFamily="34" charset="-120"/>
              </a:rPr>
              <a:t>7</a:t>
            </a:r>
            <a:endParaRPr lang="en-US" sz="1200" dirty="0"/>
          </a:p>
        </p:txBody>
      </p:sp>
      <p:sp>
        <p:nvSpPr>
          <p:cNvPr id="26" name="Shape 24"/>
          <p:cNvSpPr/>
          <p:nvPr/>
        </p:nvSpPr>
        <p:spPr>
          <a:xfrm>
            <a:off x="2194560" y="2834640"/>
            <a:ext cx="457200" cy="457200"/>
          </a:xfrm>
          <a:prstGeom prst="rect">
            <a:avLst/>
          </a:prstGeom>
          <a:solidFill>
            <a:srgbClr val="E7F1E9"/>
          </a:solidFill>
          <a:ln w="9525">
            <a:solidFill>
              <a:srgbClr val="DDE5EC"/>
            </a:solidFill>
            <a:prstDash val="solid"/>
          </a:ln>
        </p:spPr>
      </p:sp>
      <p:sp>
        <p:nvSpPr>
          <p:cNvPr id="27" name="Text 25"/>
          <p:cNvSpPr/>
          <p:nvPr/>
        </p:nvSpPr>
        <p:spPr>
          <a:xfrm>
            <a:off x="2194560" y="2834640"/>
            <a:ext cx="457200" cy="457200"/>
          </a:xfrm>
          <a:prstGeom prst="rect">
            <a:avLst/>
          </a:prstGeom>
          <a:noFill/>
          <a:ln/>
        </p:spPr>
        <p:txBody>
          <a:bodyPr wrap="square" lIns="0" tIns="0" rIns="0" bIns="0" rtlCol="0" anchor="ctr"/>
          <a:lstStyle/>
          <a:p>
            <a:pPr marL="0" indent="0" algn="ctr">
              <a:buNone/>
            </a:pPr>
            <a:r>
              <a:rPr lang="en-US" sz="1200" dirty="0">
                <a:solidFill>
                  <a:srgbClr val="1A2733"/>
                </a:solidFill>
                <a:latin typeface="Calibri" pitchFamily="34" charset="0"/>
                <a:ea typeface="Calibri" pitchFamily="34" charset="-122"/>
                <a:cs typeface="Calibri" pitchFamily="34" charset="-120"/>
              </a:rPr>
              <a:t>8</a:t>
            </a:r>
            <a:endParaRPr lang="en-US" sz="1200" dirty="0"/>
          </a:p>
        </p:txBody>
      </p:sp>
      <p:sp>
        <p:nvSpPr>
          <p:cNvPr id="28" name="Shape 26"/>
          <p:cNvSpPr/>
          <p:nvPr/>
        </p:nvSpPr>
        <p:spPr>
          <a:xfrm>
            <a:off x="822960" y="3291840"/>
            <a:ext cx="457200" cy="457200"/>
          </a:xfrm>
          <a:prstGeom prst="rect">
            <a:avLst/>
          </a:prstGeom>
          <a:solidFill>
            <a:srgbClr val="F3E2C4"/>
          </a:solidFill>
          <a:ln w="9525">
            <a:solidFill>
              <a:srgbClr val="DDE5EC"/>
            </a:solidFill>
            <a:prstDash val="solid"/>
          </a:ln>
        </p:spPr>
      </p:sp>
      <p:sp>
        <p:nvSpPr>
          <p:cNvPr id="29" name="Text 27"/>
          <p:cNvSpPr/>
          <p:nvPr/>
        </p:nvSpPr>
        <p:spPr>
          <a:xfrm>
            <a:off x="822960" y="3291840"/>
            <a:ext cx="457200" cy="457200"/>
          </a:xfrm>
          <a:prstGeom prst="rect">
            <a:avLst/>
          </a:prstGeom>
          <a:noFill/>
          <a:ln/>
        </p:spPr>
        <p:txBody>
          <a:bodyPr wrap="square" lIns="0" tIns="0" rIns="0" bIns="0" rtlCol="0" anchor="ctr"/>
          <a:lstStyle/>
          <a:p>
            <a:pPr marL="0" indent="0" algn="ctr">
              <a:buNone/>
            </a:pPr>
            <a:r>
              <a:rPr lang="en-US" sz="1200" dirty="0">
                <a:solidFill>
                  <a:srgbClr val="1A2733"/>
                </a:solidFill>
                <a:latin typeface="Calibri" pitchFamily="34" charset="0"/>
                <a:ea typeface="Calibri" pitchFamily="34" charset="-122"/>
                <a:cs typeface="Calibri" pitchFamily="34" charset="-120"/>
              </a:rPr>
              <a:t>1</a:t>
            </a:r>
            <a:endParaRPr lang="en-US" sz="1200" dirty="0"/>
          </a:p>
        </p:txBody>
      </p:sp>
      <p:sp>
        <p:nvSpPr>
          <p:cNvPr id="30" name="Shape 28"/>
          <p:cNvSpPr/>
          <p:nvPr/>
        </p:nvSpPr>
        <p:spPr>
          <a:xfrm>
            <a:off x="1280160" y="3291840"/>
            <a:ext cx="457200" cy="457200"/>
          </a:xfrm>
          <a:prstGeom prst="rect">
            <a:avLst/>
          </a:prstGeom>
          <a:solidFill>
            <a:srgbClr val="F3E2C4"/>
          </a:solidFill>
          <a:ln w="9525">
            <a:solidFill>
              <a:srgbClr val="DDE5EC"/>
            </a:solidFill>
            <a:prstDash val="solid"/>
          </a:ln>
        </p:spPr>
      </p:sp>
      <p:sp>
        <p:nvSpPr>
          <p:cNvPr id="31" name="Text 29"/>
          <p:cNvSpPr/>
          <p:nvPr/>
        </p:nvSpPr>
        <p:spPr>
          <a:xfrm>
            <a:off x="1280160" y="3291840"/>
            <a:ext cx="457200" cy="457200"/>
          </a:xfrm>
          <a:prstGeom prst="rect">
            <a:avLst/>
          </a:prstGeom>
          <a:noFill/>
          <a:ln/>
        </p:spPr>
        <p:txBody>
          <a:bodyPr wrap="square" lIns="0" tIns="0" rIns="0" bIns="0" rtlCol="0" anchor="ctr"/>
          <a:lstStyle/>
          <a:p>
            <a:pPr marL="0" indent="0" algn="ctr">
              <a:buNone/>
            </a:pPr>
            <a:r>
              <a:rPr lang="en-US" sz="1200" dirty="0">
                <a:solidFill>
                  <a:srgbClr val="1A2733"/>
                </a:solidFill>
                <a:latin typeface="Calibri" pitchFamily="34" charset="0"/>
                <a:ea typeface="Calibri" pitchFamily="34" charset="-122"/>
                <a:cs typeface="Calibri" pitchFamily="34" charset="-120"/>
              </a:rPr>
              <a:t>0</a:t>
            </a:r>
            <a:endParaRPr lang="en-US" sz="1200" dirty="0"/>
          </a:p>
        </p:txBody>
      </p:sp>
      <p:sp>
        <p:nvSpPr>
          <p:cNvPr id="32" name="Shape 30"/>
          <p:cNvSpPr/>
          <p:nvPr/>
        </p:nvSpPr>
        <p:spPr>
          <a:xfrm>
            <a:off x="1737360" y="3291840"/>
            <a:ext cx="457200" cy="457200"/>
          </a:xfrm>
          <a:prstGeom prst="rect">
            <a:avLst/>
          </a:prstGeom>
          <a:solidFill>
            <a:srgbClr val="E7F1E9"/>
          </a:solidFill>
          <a:ln w="9525">
            <a:solidFill>
              <a:srgbClr val="DDE5EC"/>
            </a:solidFill>
            <a:prstDash val="solid"/>
          </a:ln>
        </p:spPr>
      </p:sp>
      <p:sp>
        <p:nvSpPr>
          <p:cNvPr id="33" name="Text 31"/>
          <p:cNvSpPr/>
          <p:nvPr/>
        </p:nvSpPr>
        <p:spPr>
          <a:xfrm>
            <a:off x="1737360" y="3291840"/>
            <a:ext cx="457200" cy="457200"/>
          </a:xfrm>
          <a:prstGeom prst="rect">
            <a:avLst/>
          </a:prstGeom>
          <a:noFill/>
          <a:ln/>
        </p:spPr>
        <p:txBody>
          <a:bodyPr wrap="square" lIns="0" tIns="0" rIns="0" bIns="0" rtlCol="0" anchor="ctr"/>
          <a:lstStyle/>
          <a:p>
            <a:pPr marL="0" indent="0" algn="ctr">
              <a:buNone/>
            </a:pPr>
            <a:r>
              <a:rPr lang="en-US" sz="1200" dirty="0">
                <a:solidFill>
                  <a:srgbClr val="1A2733"/>
                </a:solidFill>
                <a:latin typeface="Calibri" pitchFamily="34" charset="0"/>
                <a:ea typeface="Calibri" pitchFamily="34" charset="-122"/>
                <a:cs typeface="Calibri" pitchFamily="34" charset="-120"/>
              </a:rPr>
              <a:t>4</a:t>
            </a:r>
            <a:endParaRPr lang="en-US" sz="1200" dirty="0"/>
          </a:p>
        </p:txBody>
      </p:sp>
      <p:sp>
        <p:nvSpPr>
          <p:cNvPr id="34" name="Shape 32"/>
          <p:cNvSpPr/>
          <p:nvPr/>
        </p:nvSpPr>
        <p:spPr>
          <a:xfrm>
            <a:off x="2194560" y="3291840"/>
            <a:ext cx="457200" cy="457200"/>
          </a:xfrm>
          <a:prstGeom prst="rect">
            <a:avLst/>
          </a:prstGeom>
          <a:solidFill>
            <a:srgbClr val="E7F1E9"/>
          </a:solidFill>
          <a:ln w="9525">
            <a:solidFill>
              <a:srgbClr val="DDE5EC"/>
            </a:solidFill>
            <a:prstDash val="solid"/>
          </a:ln>
        </p:spPr>
      </p:sp>
      <p:sp>
        <p:nvSpPr>
          <p:cNvPr id="35" name="Text 33"/>
          <p:cNvSpPr/>
          <p:nvPr/>
        </p:nvSpPr>
        <p:spPr>
          <a:xfrm>
            <a:off x="2194560" y="3291840"/>
            <a:ext cx="457200" cy="457200"/>
          </a:xfrm>
          <a:prstGeom prst="rect">
            <a:avLst/>
          </a:prstGeom>
          <a:noFill/>
          <a:ln/>
        </p:spPr>
        <p:txBody>
          <a:bodyPr wrap="square" lIns="0" tIns="0" rIns="0" bIns="0" rtlCol="0" anchor="ctr"/>
          <a:lstStyle/>
          <a:p>
            <a:pPr marL="0" indent="0" algn="ctr">
              <a:buNone/>
            </a:pPr>
            <a:r>
              <a:rPr lang="en-US" sz="1200" dirty="0">
                <a:solidFill>
                  <a:srgbClr val="1A2733"/>
                </a:solidFill>
                <a:latin typeface="Calibri" pitchFamily="34" charset="0"/>
                <a:ea typeface="Calibri" pitchFamily="34" charset="-122"/>
                <a:cs typeface="Calibri" pitchFamily="34" charset="-120"/>
              </a:rPr>
              <a:t>3</a:t>
            </a:r>
            <a:endParaRPr lang="en-US" sz="1200" dirty="0"/>
          </a:p>
        </p:txBody>
      </p:sp>
      <p:sp>
        <p:nvSpPr>
          <p:cNvPr id="36" name="Text 34"/>
          <p:cNvSpPr/>
          <p:nvPr/>
        </p:nvSpPr>
        <p:spPr>
          <a:xfrm>
            <a:off x="822960" y="1627632"/>
            <a:ext cx="1828800" cy="274320"/>
          </a:xfrm>
          <a:prstGeom prst="rect">
            <a:avLst/>
          </a:prstGeom>
          <a:noFill/>
          <a:ln/>
        </p:spPr>
        <p:txBody>
          <a:bodyPr wrap="square" lIns="0" tIns="0" rIns="0" bIns="0" rtlCol="0" anchor="ctr"/>
          <a:lstStyle/>
          <a:p>
            <a:pPr marL="0" indent="0">
              <a:buNone/>
            </a:pPr>
            <a:r>
              <a:rPr lang="en-US" sz="1100" dirty="0">
                <a:solidFill>
                  <a:srgbClr val="5B6470"/>
                </a:solidFill>
                <a:latin typeface="Calibri" pitchFamily="34" charset="0"/>
                <a:ea typeface="Calibri" pitchFamily="34" charset="-122"/>
                <a:cs typeface="Calibri" pitchFamily="34" charset="-120"/>
              </a:rPr>
              <a:t>4×4 region</a:t>
            </a:r>
            <a:endParaRPr lang="en-US" sz="1100" dirty="0"/>
          </a:p>
        </p:txBody>
      </p:sp>
      <p:sp>
        <p:nvSpPr>
          <p:cNvPr id="37" name="Shape 35"/>
          <p:cNvSpPr/>
          <p:nvPr/>
        </p:nvSpPr>
        <p:spPr>
          <a:xfrm>
            <a:off x="2834640" y="2377440"/>
            <a:ext cx="822960" cy="0"/>
          </a:xfrm>
          <a:prstGeom prst="line">
            <a:avLst/>
          </a:prstGeom>
          <a:noFill/>
          <a:ln w="25400">
            <a:solidFill>
              <a:srgbClr val="0B5CAD"/>
            </a:solidFill>
            <a:prstDash val="solid"/>
            <a:tailEnd type="triangle"/>
          </a:ln>
        </p:spPr>
      </p:sp>
      <p:sp>
        <p:nvSpPr>
          <p:cNvPr id="38" name="Text 36"/>
          <p:cNvSpPr/>
          <p:nvPr/>
        </p:nvSpPr>
        <p:spPr>
          <a:xfrm>
            <a:off x="2788920" y="2423160"/>
            <a:ext cx="914400" cy="548640"/>
          </a:xfrm>
          <a:prstGeom prst="rect">
            <a:avLst/>
          </a:prstGeom>
          <a:noFill/>
          <a:ln/>
        </p:spPr>
        <p:txBody>
          <a:bodyPr wrap="square" lIns="0" tIns="0" rIns="0" bIns="0" rtlCol="0" anchor="ctr"/>
          <a:lstStyle/>
          <a:p>
            <a:pPr marL="0" indent="0" algn="ctr">
              <a:buNone/>
            </a:pPr>
            <a:r>
              <a:rPr lang="en-US" sz="900" dirty="0">
                <a:solidFill>
                  <a:srgbClr val="5B6470"/>
                </a:solidFill>
                <a:latin typeface="Calibri" pitchFamily="34" charset="0"/>
                <a:ea typeface="Calibri" pitchFamily="34" charset="-122"/>
                <a:cs typeface="Calibri" pitchFamily="34" charset="-120"/>
              </a:rPr>
              <a:t>keep the</a:t>
            </a:r>
            <a:endParaRPr lang="en-US" sz="900" dirty="0"/>
          </a:p>
          <a:p>
            <a:pPr marL="0" indent="0" algn="ctr">
              <a:buNone/>
            </a:pPr>
            <a:r>
              <a:rPr lang="en-US" sz="900" dirty="0">
                <a:solidFill>
                  <a:srgbClr val="5B6470"/>
                </a:solidFill>
                <a:latin typeface="Calibri" pitchFamily="34" charset="0"/>
                <a:ea typeface="Calibri" pitchFamily="34" charset="-122"/>
                <a:cs typeface="Calibri" pitchFamily="34" charset="-120"/>
              </a:rPr>
              <a:t>max</a:t>
            </a:r>
            <a:endParaRPr lang="en-US" sz="900" dirty="0"/>
          </a:p>
        </p:txBody>
      </p:sp>
      <p:sp>
        <p:nvSpPr>
          <p:cNvPr id="39" name="Shape 37"/>
          <p:cNvSpPr/>
          <p:nvPr/>
        </p:nvSpPr>
        <p:spPr>
          <a:xfrm>
            <a:off x="3886200" y="2148840"/>
            <a:ext cx="457200" cy="457200"/>
          </a:xfrm>
          <a:prstGeom prst="rect">
            <a:avLst/>
          </a:prstGeom>
          <a:solidFill>
            <a:srgbClr val="E8A33D"/>
          </a:solidFill>
          <a:ln w="12700">
            <a:solidFill>
              <a:srgbClr val="FFFFFF"/>
            </a:solidFill>
            <a:prstDash val="solid"/>
          </a:ln>
        </p:spPr>
      </p:sp>
      <p:sp>
        <p:nvSpPr>
          <p:cNvPr id="40" name="Text 38"/>
          <p:cNvSpPr/>
          <p:nvPr/>
        </p:nvSpPr>
        <p:spPr>
          <a:xfrm>
            <a:off x="3886200" y="214884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1" name="Shape 39"/>
          <p:cNvSpPr/>
          <p:nvPr/>
        </p:nvSpPr>
        <p:spPr>
          <a:xfrm>
            <a:off x="4343400" y="2148840"/>
            <a:ext cx="457200" cy="457200"/>
          </a:xfrm>
          <a:prstGeom prst="rect">
            <a:avLst/>
          </a:prstGeom>
          <a:solidFill>
            <a:srgbClr val="E8A33D"/>
          </a:solidFill>
          <a:ln w="12700">
            <a:solidFill>
              <a:srgbClr val="FFFFFF"/>
            </a:solidFill>
            <a:prstDash val="solid"/>
          </a:ln>
        </p:spPr>
      </p:sp>
      <p:sp>
        <p:nvSpPr>
          <p:cNvPr id="42" name="Text 40"/>
          <p:cNvSpPr/>
          <p:nvPr/>
        </p:nvSpPr>
        <p:spPr>
          <a:xfrm>
            <a:off x="4343400" y="214884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43" name="Shape 41"/>
          <p:cNvSpPr/>
          <p:nvPr/>
        </p:nvSpPr>
        <p:spPr>
          <a:xfrm>
            <a:off x="3886200" y="2606040"/>
            <a:ext cx="457200" cy="457200"/>
          </a:xfrm>
          <a:prstGeom prst="rect">
            <a:avLst/>
          </a:prstGeom>
          <a:solidFill>
            <a:srgbClr val="E8A33D"/>
          </a:solidFill>
          <a:ln w="12700">
            <a:solidFill>
              <a:srgbClr val="FFFFFF"/>
            </a:solidFill>
            <a:prstDash val="solid"/>
          </a:ln>
        </p:spPr>
      </p:sp>
      <p:sp>
        <p:nvSpPr>
          <p:cNvPr id="44" name="Text 42"/>
          <p:cNvSpPr/>
          <p:nvPr/>
        </p:nvSpPr>
        <p:spPr>
          <a:xfrm>
            <a:off x="3886200" y="260604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45" name="Shape 43"/>
          <p:cNvSpPr/>
          <p:nvPr/>
        </p:nvSpPr>
        <p:spPr>
          <a:xfrm>
            <a:off x="4343400" y="2606040"/>
            <a:ext cx="457200" cy="457200"/>
          </a:xfrm>
          <a:prstGeom prst="rect">
            <a:avLst/>
          </a:prstGeom>
          <a:solidFill>
            <a:srgbClr val="E8A33D"/>
          </a:solidFill>
          <a:ln w="12700">
            <a:solidFill>
              <a:srgbClr val="FFFFFF"/>
            </a:solidFill>
            <a:prstDash val="solid"/>
          </a:ln>
        </p:spPr>
      </p:sp>
      <p:sp>
        <p:nvSpPr>
          <p:cNvPr id="46" name="Text 44"/>
          <p:cNvSpPr/>
          <p:nvPr/>
        </p:nvSpPr>
        <p:spPr>
          <a:xfrm>
            <a:off x="4343400" y="260604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7" name="Text 45"/>
          <p:cNvSpPr/>
          <p:nvPr/>
        </p:nvSpPr>
        <p:spPr>
          <a:xfrm>
            <a:off x="3886200" y="1627632"/>
            <a:ext cx="1828800" cy="274320"/>
          </a:xfrm>
          <a:prstGeom prst="rect">
            <a:avLst/>
          </a:prstGeom>
          <a:noFill/>
          <a:ln/>
        </p:spPr>
        <p:txBody>
          <a:bodyPr wrap="square" lIns="0" tIns="0" rIns="0" bIns="0" rtlCol="0" anchor="ctr"/>
          <a:lstStyle/>
          <a:p>
            <a:pPr marL="0" indent="0">
              <a:buNone/>
            </a:pPr>
            <a:r>
              <a:rPr lang="en-US" sz="1100" dirty="0">
                <a:solidFill>
                  <a:srgbClr val="5B6470"/>
                </a:solidFill>
                <a:latin typeface="Calibri" pitchFamily="34" charset="0"/>
                <a:ea typeface="Calibri" pitchFamily="34" charset="-122"/>
                <a:cs typeface="Calibri" pitchFamily="34" charset="-120"/>
              </a:rPr>
              <a:t>2×2 summary</a:t>
            </a:r>
            <a:endParaRPr lang="en-US" sz="1100" dirty="0"/>
          </a:p>
        </p:txBody>
      </p:sp>
      <p:sp>
        <p:nvSpPr>
          <p:cNvPr id="48" name="Shape 46"/>
          <p:cNvSpPr/>
          <p:nvPr/>
        </p:nvSpPr>
        <p:spPr>
          <a:xfrm>
            <a:off x="7040880" y="1828800"/>
            <a:ext cx="4599432" cy="2194560"/>
          </a:xfrm>
          <a:prstGeom prst="roundRect">
            <a:avLst>
              <a:gd name="adj" fmla="val 3333"/>
            </a:avLst>
          </a:prstGeom>
          <a:solidFill>
            <a:srgbClr val="EAF2FB"/>
          </a:solidFill>
          <a:ln/>
        </p:spPr>
      </p:sp>
      <p:sp>
        <p:nvSpPr>
          <p:cNvPr id="49" name="Text 47"/>
          <p:cNvSpPr/>
          <p:nvPr/>
        </p:nvSpPr>
        <p:spPr>
          <a:xfrm>
            <a:off x="7315200" y="2011680"/>
            <a:ext cx="4069080" cy="1874520"/>
          </a:xfrm>
          <a:prstGeom prst="rect">
            <a:avLst/>
          </a:prstGeom>
          <a:noFill/>
          <a:ln/>
        </p:spPr>
        <p:txBody>
          <a:bodyPr wrap="square" lIns="0" tIns="0" rIns="0" bIns="0" rtlCol="0" anchor="t"/>
          <a:lstStyle/>
          <a:p>
            <a:pPr marL="0" indent="0">
              <a:buNone/>
            </a:pPr>
            <a:r>
              <a:rPr lang="en-US" sz="1400" b="1" dirty="0">
                <a:solidFill>
                  <a:srgbClr val="0B5CAD"/>
                </a:solidFill>
                <a:latin typeface="Calibri" pitchFamily="34" charset="0"/>
                <a:ea typeface="Calibri" pitchFamily="34" charset="-122"/>
                <a:cs typeface="Calibri" pitchFamily="34" charset="-120"/>
              </a:rPr>
              <a:t>Max pooling </a:t>
            </a:r>
            <a:r>
              <a:rPr lang="en-US" sz="1400" dirty="0">
                <a:solidFill>
                  <a:srgbClr val="1A2733"/>
                </a:solidFill>
                <a:latin typeface="Calibri" pitchFamily="34" charset="0"/>
                <a:ea typeface="Calibri" pitchFamily="34" charset="-122"/>
                <a:cs typeface="Calibri" pitchFamily="34" charset="-120"/>
              </a:rPr>
              <a:t>takes the largest value in each small block. The image gets smaller and cheaper to process, and the network becomes more tolerant of tiny shifts — a feature counts whether it's a pixel left or right.</a:t>
            </a:r>
            <a:endParaRPr lang="en-US" sz="1400" dirty="0"/>
          </a:p>
        </p:txBody>
      </p:sp>
      <p:sp>
        <p:nvSpPr>
          <p:cNvPr id="50" name="Text 48"/>
          <p:cNvSpPr/>
          <p:nvPr/>
        </p:nvSpPr>
        <p:spPr>
          <a:xfrm>
            <a:off x="548640" y="4892040"/>
            <a:ext cx="11064240" cy="457200"/>
          </a:xfrm>
          <a:prstGeom prst="rect">
            <a:avLst/>
          </a:prstGeom>
          <a:noFill/>
          <a:ln/>
        </p:spPr>
        <p:txBody>
          <a:bodyPr wrap="square" lIns="0" tIns="0" rIns="0" bIns="0" rtlCol="0" anchor="ctr"/>
          <a:lstStyle/>
          <a:p>
            <a:pPr marL="0" indent="0">
              <a:buNone/>
            </a:pPr>
            <a:r>
              <a:rPr lang="en-US" sz="1350" i="1" dirty="0">
                <a:solidFill>
                  <a:srgbClr val="0B5CAD"/>
                </a:solidFill>
                <a:latin typeface="Calibri" pitchFamily="34" charset="0"/>
                <a:ea typeface="Calibri" pitchFamily="34" charset="-122"/>
                <a:cs typeface="Calibri" pitchFamily="34" charset="-120"/>
              </a:rPr>
              <a:t>Fewer numbers to handle, and the important signals survive. That's the whole point of pooling.</a:t>
            </a:r>
            <a:endParaRPr lang="en-US" sz="1350" dirty="0"/>
          </a:p>
        </p:txBody>
      </p:sp>
      <p:sp>
        <p:nvSpPr>
          <p:cNvPr id="51" name="Text 49"/>
          <p:cNvSpPr/>
          <p:nvPr/>
        </p:nvSpPr>
        <p:spPr>
          <a:xfrm>
            <a:off x="548640" y="6473952"/>
            <a:ext cx="11091672" cy="274320"/>
          </a:xfrm>
          <a:prstGeom prst="rect">
            <a:avLst/>
          </a:prstGeom>
          <a:noFill/>
          <a:ln/>
        </p:spPr>
        <p:txBody>
          <a:bodyPr wrap="square" lIns="0" tIns="0" rIns="0" bIns="0" rtlCol="0" anchor="ctr"/>
          <a:lstStyle/>
          <a:p>
            <a:pPr marL="0" indent="0">
              <a:buNone/>
            </a:pPr>
            <a:r>
              <a:rPr lang="en-US" sz="900" dirty="0">
                <a:solidFill>
                  <a:srgbClr val="5B6470"/>
                </a:solidFill>
                <a:latin typeface="Calibri" pitchFamily="34" charset="0"/>
                <a:ea typeface="Calibri" pitchFamily="34" charset="-122"/>
                <a:cs typeface="Calibri" pitchFamily="34" charset="-120"/>
              </a:rPr>
              <a:t>Digital Communication &amp; Emerging Technologies · NCCU ISS 2026 · Day 2  |  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292608"/>
            <a:ext cx="11091672" cy="658368"/>
          </a:xfrm>
          <a:prstGeom prst="rect">
            <a:avLst/>
          </a:prstGeom>
          <a:noFill/>
          <a:ln/>
        </p:spPr>
        <p:txBody>
          <a:bodyPr wrap="square" lIns="0" tIns="0" rIns="0" bIns="0" rtlCol="0" anchor="ctr"/>
          <a:lstStyle/>
          <a:p>
            <a:pPr marL="0" indent="0">
              <a:buNone/>
            </a:pPr>
            <a:r>
              <a:rPr lang="en-US" sz="3100" b="1" dirty="0">
                <a:solidFill>
                  <a:srgbClr val="1A2733"/>
                </a:solidFill>
                <a:latin typeface="Cambria" pitchFamily="34" charset="0"/>
                <a:ea typeface="Cambria" pitchFamily="34" charset="-122"/>
                <a:cs typeface="Cambria" pitchFamily="34" charset="-120"/>
              </a:rPr>
              <a:t>Dropout: don't let neurons get lazy</a:t>
            </a:r>
            <a:endParaRPr lang="en-US" sz="3100" dirty="0"/>
          </a:p>
        </p:txBody>
      </p:sp>
      <p:sp>
        <p:nvSpPr>
          <p:cNvPr id="3" name="Text 1"/>
          <p:cNvSpPr/>
          <p:nvPr/>
        </p:nvSpPr>
        <p:spPr>
          <a:xfrm>
            <a:off x="548640" y="896112"/>
            <a:ext cx="11091672" cy="365760"/>
          </a:xfrm>
          <a:prstGeom prst="rect">
            <a:avLst/>
          </a:prstGeom>
          <a:noFill/>
          <a:ln/>
        </p:spPr>
        <p:txBody>
          <a:bodyPr wrap="square" lIns="0" tIns="0" rIns="0" bIns="0" rtlCol="0" anchor="ctr"/>
          <a:lstStyle/>
          <a:p>
            <a:pPr marL="0" indent="0">
              <a:buNone/>
            </a:pPr>
            <a:r>
              <a:rPr lang="en-US" sz="1500" i="1" dirty="0">
                <a:solidFill>
                  <a:srgbClr val="5B6470"/>
                </a:solidFill>
                <a:latin typeface="Calibri" pitchFamily="34" charset="0"/>
                <a:ea typeface="Calibri" pitchFamily="34" charset="-122"/>
                <a:cs typeface="Calibri" pitchFamily="34" charset="-120"/>
              </a:rPr>
              <a:t>Randomly switch some off during training so no single one dominates</a:t>
            </a:r>
            <a:endParaRPr lang="en-US" sz="1500" dirty="0"/>
          </a:p>
        </p:txBody>
      </p:sp>
      <p:sp>
        <p:nvSpPr>
          <p:cNvPr id="4" name="Shape 2"/>
          <p:cNvSpPr/>
          <p:nvPr/>
        </p:nvSpPr>
        <p:spPr>
          <a:xfrm>
            <a:off x="548640" y="1645920"/>
            <a:ext cx="5394960" cy="3474720"/>
          </a:xfrm>
          <a:prstGeom prst="roundRect">
            <a:avLst>
              <a:gd name="adj" fmla="val 2105"/>
            </a:avLst>
          </a:prstGeom>
          <a:solidFill>
            <a:srgbClr val="F5F8FB"/>
          </a:solidFill>
          <a:ln w="12700">
            <a:solidFill>
              <a:srgbClr val="DDE5EC"/>
            </a:solidFill>
            <a:prstDash val="solid"/>
          </a:ln>
        </p:spPr>
      </p:sp>
      <p:sp>
        <p:nvSpPr>
          <p:cNvPr id="5" name="Text 3"/>
          <p:cNvSpPr/>
          <p:nvPr/>
        </p:nvSpPr>
        <p:spPr>
          <a:xfrm>
            <a:off x="822960" y="1828800"/>
            <a:ext cx="4846320" cy="365760"/>
          </a:xfrm>
          <a:prstGeom prst="rect">
            <a:avLst/>
          </a:prstGeom>
          <a:noFill/>
          <a:ln/>
        </p:spPr>
        <p:txBody>
          <a:bodyPr wrap="square" lIns="0" tIns="0" rIns="0" bIns="0" rtlCol="0" anchor="ctr"/>
          <a:lstStyle/>
          <a:p>
            <a:pPr marL="0" indent="0">
              <a:buNone/>
            </a:pPr>
            <a:r>
              <a:rPr lang="en-US" sz="1600" b="1" dirty="0">
                <a:solidFill>
                  <a:srgbClr val="1A2733"/>
                </a:solidFill>
                <a:latin typeface="Cambria" pitchFamily="34" charset="0"/>
                <a:ea typeface="Cambria" pitchFamily="34" charset="-122"/>
                <a:cs typeface="Cambria" pitchFamily="34" charset="-120"/>
              </a:rPr>
              <a:t>How it works</a:t>
            </a:r>
            <a:endParaRPr lang="en-US" sz="1600" dirty="0"/>
          </a:p>
        </p:txBody>
      </p:sp>
      <p:sp>
        <p:nvSpPr>
          <p:cNvPr id="6" name="Text 4"/>
          <p:cNvSpPr/>
          <p:nvPr/>
        </p:nvSpPr>
        <p:spPr>
          <a:xfrm>
            <a:off x="822960" y="2286000"/>
            <a:ext cx="4846320" cy="1828800"/>
          </a:xfrm>
          <a:prstGeom prst="rect">
            <a:avLst/>
          </a:prstGeom>
          <a:noFill/>
          <a:ln/>
        </p:spPr>
        <p:txBody>
          <a:bodyPr wrap="square" lIns="0" tIns="0" rIns="0" bIns="0" rtlCol="0" anchor="ctr"/>
          <a:lstStyle/>
          <a:p>
            <a:pPr marL="0" indent="0">
              <a:buNone/>
            </a:pPr>
            <a:r>
              <a:rPr lang="en-US" sz="1400" dirty="0">
                <a:solidFill>
                  <a:srgbClr val="5B6470"/>
                </a:solidFill>
                <a:latin typeface="Calibri" pitchFamily="34" charset="0"/>
                <a:ea typeface="Calibri" pitchFamily="34" charset="-122"/>
                <a:cs typeface="Calibri" pitchFamily="34" charset="-120"/>
              </a:rPr>
              <a:t>On each training round, temporarily ignore a random fraction of neurons (say 20%). The network must find several independent ways to recognize a shirt, instead of leaning on one “star” neuron.</a:t>
            </a:r>
            <a:endParaRPr lang="en-US" sz="1400" dirty="0"/>
          </a:p>
        </p:txBody>
      </p:sp>
      <p:sp>
        <p:nvSpPr>
          <p:cNvPr id="7" name="Shape 5"/>
          <p:cNvSpPr/>
          <p:nvPr/>
        </p:nvSpPr>
        <p:spPr>
          <a:xfrm>
            <a:off x="6172200" y="1645920"/>
            <a:ext cx="5468112" cy="3474720"/>
          </a:xfrm>
          <a:prstGeom prst="roundRect">
            <a:avLst>
              <a:gd name="adj" fmla="val 2105"/>
            </a:avLst>
          </a:prstGeom>
          <a:solidFill>
            <a:srgbClr val="EAF2FB"/>
          </a:solidFill>
          <a:ln/>
        </p:spPr>
      </p:sp>
      <p:sp>
        <p:nvSpPr>
          <p:cNvPr id="8" name="Text 6"/>
          <p:cNvSpPr/>
          <p:nvPr/>
        </p:nvSpPr>
        <p:spPr>
          <a:xfrm>
            <a:off x="6446520" y="1828800"/>
            <a:ext cx="4937760" cy="365760"/>
          </a:xfrm>
          <a:prstGeom prst="rect">
            <a:avLst/>
          </a:prstGeom>
          <a:noFill/>
          <a:ln/>
        </p:spPr>
        <p:txBody>
          <a:bodyPr wrap="square" lIns="0" tIns="0" rIns="0" bIns="0" rtlCol="0" anchor="ctr"/>
          <a:lstStyle/>
          <a:p>
            <a:pPr marL="0" indent="0">
              <a:buNone/>
            </a:pPr>
            <a:r>
              <a:rPr lang="en-US" sz="1600" b="1" dirty="0">
                <a:solidFill>
                  <a:srgbClr val="0B5CAD"/>
                </a:solidFill>
                <a:latin typeface="Cambria" pitchFamily="34" charset="0"/>
                <a:ea typeface="Cambria" pitchFamily="34" charset="-122"/>
                <a:cs typeface="Cambria" pitchFamily="34" charset="-120"/>
              </a:rPr>
              <a:t>The analogy</a:t>
            </a:r>
            <a:endParaRPr lang="en-US" sz="1600" dirty="0"/>
          </a:p>
        </p:txBody>
      </p:sp>
      <p:sp>
        <p:nvSpPr>
          <p:cNvPr id="9" name="Text 7"/>
          <p:cNvSpPr/>
          <p:nvPr/>
        </p:nvSpPr>
        <p:spPr>
          <a:xfrm>
            <a:off x="6446520" y="2286000"/>
            <a:ext cx="4937760" cy="2560320"/>
          </a:xfrm>
          <a:prstGeom prst="rect">
            <a:avLst/>
          </a:prstGeom>
          <a:noFill/>
          <a:ln/>
        </p:spPr>
        <p:txBody>
          <a:bodyPr wrap="square" lIns="0" tIns="0" rIns="0" bIns="0" rtlCol="0" anchor="ctr"/>
          <a:lstStyle/>
          <a:p>
            <a:pPr marL="0" indent="0">
              <a:buNone/>
            </a:pPr>
            <a:r>
              <a:rPr lang="en-US" sz="1400" dirty="0">
                <a:solidFill>
                  <a:srgbClr val="1A2733"/>
                </a:solidFill>
                <a:latin typeface="Calibri" pitchFamily="34" charset="0"/>
                <a:ea typeface="Calibri" pitchFamily="34" charset="-122"/>
                <a:cs typeface="Calibri" pitchFamily="34" charset="-120"/>
              </a:rPr>
              <a:t>A team where random members are out sick each day learns to share knowledge, so no one person is a single point of failure.
</a:t>
            </a:r>
            <a:r>
              <a:rPr lang="en-US" sz="1400" dirty="0">
                <a:solidFill>
                  <a:srgbClr val="5B6470"/>
                </a:solidFill>
                <a:latin typeface="Calibri" pitchFamily="34" charset="0"/>
                <a:ea typeface="Calibri" pitchFamily="34" charset="-122"/>
                <a:cs typeface="Calibri" pitchFamily="34" charset="-120"/>
              </a:rPr>
              <a:t>The result: a more robust network that generalizes better to new images. Another anti-overfitting tool.</a:t>
            </a:r>
            <a:endParaRPr lang="en-US" sz="1400" dirty="0"/>
          </a:p>
        </p:txBody>
      </p:sp>
      <p:sp>
        <p:nvSpPr>
          <p:cNvPr id="10" name="Text 8"/>
          <p:cNvSpPr/>
          <p:nvPr/>
        </p:nvSpPr>
        <p:spPr>
          <a:xfrm>
            <a:off x="548640" y="6473952"/>
            <a:ext cx="11091672" cy="274320"/>
          </a:xfrm>
          <a:prstGeom prst="rect">
            <a:avLst/>
          </a:prstGeom>
          <a:noFill/>
          <a:ln/>
        </p:spPr>
        <p:txBody>
          <a:bodyPr wrap="square" lIns="0" tIns="0" rIns="0" bIns="0" rtlCol="0" anchor="ctr"/>
          <a:lstStyle/>
          <a:p>
            <a:pPr marL="0" indent="0">
              <a:buNone/>
            </a:pPr>
            <a:r>
              <a:rPr lang="en-US" sz="900" dirty="0">
                <a:solidFill>
                  <a:srgbClr val="5B6470"/>
                </a:solidFill>
                <a:latin typeface="Calibri" pitchFamily="34" charset="0"/>
                <a:ea typeface="Calibri" pitchFamily="34" charset="-122"/>
                <a:cs typeface="Calibri" pitchFamily="34" charset="-120"/>
              </a:rPr>
              <a:t>Digital Communication &amp; Emerging Technologies · NCCU ISS 2026 · Day 2  |  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292608"/>
            <a:ext cx="11091672" cy="658368"/>
          </a:xfrm>
          <a:prstGeom prst="rect">
            <a:avLst/>
          </a:prstGeom>
          <a:noFill/>
          <a:ln/>
        </p:spPr>
        <p:txBody>
          <a:bodyPr wrap="square" lIns="0" tIns="0" rIns="0" bIns="0" rtlCol="0" anchor="ctr"/>
          <a:lstStyle/>
          <a:p>
            <a:pPr marL="0" indent="0">
              <a:buNone/>
            </a:pPr>
            <a:r>
              <a:rPr lang="en-US" sz="3100" b="1" dirty="0">
                <a:solidFill>
                  <a:srgbClr val="1A2733"/>
                </a:solidFill>
                <a:latin typeface="Cambria" pitchFamily="34" charset="0"/>
                <a:ea typeface="Cambria" pitchFamily="34" charset="-122"/>
                <a:cs typeface="Cambria" pitchFamily="34" charset="-120"/>
              </a:rPr>
              <a:t>A full CNN, end to end</a:t>
            </a:r>
            <a:endParaRPr lang="en-US" sz="3100" dirty="0"/>
          </a:p>
        </p:txBody>
      </p:sp>
      <p:sp>
        <p:nvSpPr>
          <p:cNvPr id="3" name="Text 1"/>
          <p:cNvSpPr/>
          <p:nvPr/>
        </p:nvSpPr>
        <p:spPr>
          <a:xfrm>
            <a:off x="548640" y="896112"/>
            <a:ext cx="11091672" cy="365760"/>
          </a:xfrm>
          <a:prstGeom prst="rect">
            <a:avLst/>
          </a:prstGeom>
          <a:noFill/>
          <a:ln/>
        </p:spPr>
        <p:txBody>
          <a:bodyPr wrap="square" lIns="0" tIns="0" rIns="0" bIns="0" rtlCol="0" anchor="ctr"/>
          <a:lstStyle/>
          <a:p>
            <a:pPr marL="0" indent="0">
              <a:buNone/>
            </a:pPr>
            <a:r>
              <a:rPr lang="en-US" sz="1500" i="1" dirty="0">
                <a:solidFill>
                  <a:srgbClr val="5B6470"/>
                </a:solidFill>
                <a:latin typeface="Calibri" pitchFamily="34" charset="0"/>
                <a:ea typeface="Calibri" pitchFamily="34" charset="-122"/>
                <a:cs typeface="Calibri" pitchFamily="34" charset="-120"/>
              </a:rPr>
              <a:t>Convolution and pooling repeat, then a decision is made</a:t>
            </a:r>
            <a:endParaRPr lang="en-US" sz="1500" dirty="0"/>
          </a:p>
        </p:txBody>
      </p:sp>
      <p:sp>
        <p:nvSpPr>
          <p:cNvPr id="4" name="Shape 2"/>
          <p:cNvSpPr/>
          <p:nvPr/>
        </p:nvSpPr>
        <p:spPr>
          <a:xfrm>
            <a:off x="548640" y="1920240"/>
            <a:ext cx="1737360" cy="2011680"/>
          </a:xfrm>
          <a:prstGeom prst="roundRect">
            <a:avLst>
              <a:gd name="adj" fmla="val 3684"/>
            </a:avLst>
          </a:prstGeom>
          <a:solidFill>
            <a:srgbClr val="F5F8FB"/>
          </a:solidFill>
          <a:ln w="12700">
            <a:solidFill>
              <a:srgbClr val="DDE5EC"/>
            </a:solidFill>
            <a:prstDash val="solid"/>
          </a:ln>
        </p:spPr>
      </p:sp>
      <p:sp>
        <p:nvSpPr>
          <p:cNvPr id="5" name="Text 3"/>
          <p:cNvSpPr/>
          <p:nvPr/>
        </p:nvSpPr>
        <p:spPr>
          <a:xfrm>
            <a:off x="548640" y="2084832"/>
            <a:ext cx="1737360" cy="457200"/>
          </a:xfrm>
          <a:prstGeom prst="rect">
            <a:avLst/>
          </a:prstGeom>
          <a:noFill/>
          <a:ln/>
        </p:spPr>
        <p:txBody>
          <a:bodyPr wrap="square" lIns="0" tIns="0" rIns="0" bIns="0" rtlCol="0" anchor="ctr"/>
          <a:lstStyle/>
          <a:p>
            <a:pPr marL="0" indent="0" algn="ctr">
              <a:buNone/>
            </a:pPr>
            <a:r>
              <a:rPr lang="en-US" sz="1400" b="1" dirty="0">
                <a:solidFill>
                  <a:srgbClr val="1A2733"/>
                </a:solidFill>
                <a:latin typeface="Cambria" pitchFamily="34" charset="0"/>
                <a:ea typeface="Cambria" pitchFamily="34" charset="-122"/>
                <a:cs typeface="Cambria" pitchFamily="34" charset="-120"/>
              </a:rPr>
              <a:t>Input</a:t>
            </a:r>
            <a:endParaRPr lang="en-US" sz="1400" dirty="0"/>
          </a:p>
        </p:txBody>
      </p:sp>
      <p:sp>
        <p:nvSpPr>
          <p:cNvPr id="6" name="Text 4"/>
          <p:cNvSpPr/>
          <p:nvPr/>
        </p:nvSpPr>
        <p:spPr>
          <a:xfrm>
            <a:off x="640080" y="2606040"/>
            <a:ext cx="1554480" cy="1188720"/>
          </a:xfrm>
          <a:prstGeom prst="rect">
            <a:avLst/>
          </a:prstGeom>
          <a:noFill/>
          <a:ln/>
        </p:spPr>
        <p:txBody>
          <a:bodyPr wrap="square" lIns="0" tIns="0" rIns="0" bIns="0" rtlCol="0" anchor="t"/>
          <a:lstStyle/>
          <a:p>
            <a:pPr marL="0" indent="0" algn="ctr">
              <a:buNone/>
            </a:pPr>
            <a:r>
              <a:rPr lang="en-US" sz="1150" dirty="0">
                <a:solidFill>
                  <a:srgbClr val="5B6470"/>
                </a:solidFill>
                <a:latin typeface="Calibri" pitchFamily="34" charset="0"/>
                <a:ea typeface="Calibri" pitchFamily="34" charset="-122"/>
                <a:cs typeface="Calibri" pitchFamily="34" charset="-120"/>
              </a:rPr>
              <a:t>28×28</a:t>
            </a:r>
            <a:endParaRPr lang="en-US" sz="1150" dirty="0"/>
          </a:p>
          <a:p>
            <a:pPr marL="0" indent="0" algn="ctr">
              <a:buNone/>
            </a:pPr>
            <a:r>
              <a:rPr lang="en-US" sz="1150" dirty="0">
                <a:solidFill>
                  <a:srgbClr val="5B6470"/>
                </a:solidFill>
                <a:latin typeface="Calibri" pitchFamily="34" charset="0"/>
                <a:ea typeface="Calibri" pitchFamily="34" charset="-122"/>
                <a:cs typeface="Calibri" pitchFamily="34" charset="-120"/>
              </a:rPr>
              <a:t>image</a:t>
            </a:r>
            <a:endParaRPr lang="en-US" sz="1150" dirty="0"/>
          </a:p>
        </p:txBody>
      </p:sp>
      <p:sp>
        <p:nvSpPr>
          <p:cNvPr id="7" name="Text 5"/>
          <p:cNvSpPr/>
          <p:nvPr/>
        </p:nvSpPr>
        <p:spPr>
          <a:xfrm>
            <a:off x="2267712" y="2697480"/>
            <a:ext cx="256032" cy="365760"/>
          </a:xfrm>
          <a:prstGeom prst="rect">
            <a:avLst/>
          </a:prstGeom>
          <a:noFill/>
          <a:ln/>
        </p:spPr>
        <p:txBody>
          <a:bodyPr wrap="square" lIns="0" tIns="0" rIns="0" bIns="0" rtlCol="0" anchor="ctr"/>
          <a:lstStyle/>
          <a:p>
            <a:pPr marL="0" indent="0" algn="ctr">
              <a:buNone/>
            </a:pPr>
            <a:r>
              <a:rPr lang="en-US" sz="1500" dirty="0">
                <a:solidFill>
                  <a:srgbClr val="5B6470"/>
                </a:solidFill>
                <a:latin typeface="Calibri" pitchFamily="34" charset="0"/>
                <a:ea typeface="Calibri" pitchFamily="34" charset="-122"/>
                <a:cs typeface="Calibri" pitchFamily="34" charset="-120"/>
              </a:rPr>
              <a:t>→</a:t>
            </a:r>
            <a:endParaRPr lang="en-US" sz="1500" dirty="0"/>
          </a:p>
        </p:txBody>
      </p:sp>
      <p:sp>
        <p:nvSpPr>
          <p:cNvPr id="8" name="Shape 6"/>
          <p:cNvSpPr/>
          <p:nvPr/>
        </p:nvSpPr>
        <p:spPr>
          <a:xfrm>
            <a:off x="2414016" y="1920240"/>
            <a:ext cx="1737360" cy="2011680"/>
          </a:xfrm>
          <a:prstGeom prst="roundRect">
            <a:avLst>
              <a:gd name="adj" fmla="val 3684"/>
            </a:avLst>
          </a:prstGeom>
          <a:solidFill>
            <a:srgbClr val="EAF2FB"/>
          </a:solidFill>
          <a:ln w="12700">
            <a:solidFill>
              <a:srgbClr val="DDE5EC"/>
            </a:solidFill>
            <a:prstDash val="solid"/>
          </a:ln>
        </p:spPr>
      </p:sp>
      <p:sp>
        <p:nvSpPr>
          <p:cNvPr id="9" name="Text 7"/>
          <p:cNvSpPr/>
          <p:nvPr/>
        </p:nvSpPr>
        <p:spPr>
          <a:xfrm>
            <a:off x="2414016" y="2084832"/>
            <a:ext cx="1737360" cy="457200"/>
          </a:xfrm>
          <a:prstGeom prst="rect">
            <a:avLst/>
          </a:prstGeom>
          <a:noFill/>
          <a:ln/>
        </p:spPr>
        <p:txBody>
          <a:bodyPr wrap="square" lIns="0" tIns="0" rIns="0" bIns="0" rtlCol="0" anchor="ctr"/>
          <a:lstStyle/>
          <a:p>
            <a:pPr marL="0" indent="0" algn="ctr">
              <a:buNone/>
            </a:pPr>
            <a:r>
              <a:rPr lang="en-US" sz="1400" b="1" dirty="0">
                <a:solidFill>
                  <a:srgbClr val="0B5CAD"/>
                </a:solidFill>
                <a:latin typeface="Cambria" pitchFamily="34" charset="0"/>
                <a:ea typeface="Cambria" pitchFamily="34" charset="-122"/>
                <a:cs typeface="Cambria" pitchFamily="34" charset="-120"/>
              </a:rPr>
              <a:t>Conv</a:t>
            </a:r>
            <a:endParaRPr lang="en-US" sz="1400" dirty="0"/>
          </a:p>
        </p:txBody>
      </p:sp>
      <p:sp>
        <p:nvSpPr>
          <p:cNvPr id="10" name="Text 8"/>
          <p:cNvSpPr/>
          <p:nvPr/>
        </p:nvSpPr>
        <p:spPr>
          <a:xfrm>
            <a:off x="2505456" y="2606040"/>
            <a:ext cx="1554480" cy="1188720"/>
          </a:xfrm>
          <a:prstGeom prst="rect">
            <a:avLst/>
          </a:prstGeom>
          <a:noFill/>
          <a:ln/>
        </p:spPr>
        <p:txBody>
          <a:bodyPr wrap="square" lIns="0" tIns="0" rIns="0" bIns="0" rtlCol="0" anchor="t"/>
          <a:lstStyle/>
          <a:p>
            <a:pPr marL="0" indent="0" algn="ctr">
              <a:buNone/>
            </a:pPr>
            <a:r>
              <a:rPr lang="en-US" sz="1150" dirty="0">
                <a:solidFill>
                  <a:srgbClr val="5B6470"/>
                </a:solidFill>
                <a:latin typeface="Calibri" pitchFamily="34" charset="0"/>
                <a:ea typeface="Calibri" pitchFamily="34" charset="-122"/>
                <a:cs typeface="Calibri" pitchFamily="34" charset="-120"/>
              </a:rPr>
              <a:t>find</a:t>
            </a:r>
            <a:endParaRPr lang="en-US" sz="1150" dirty="0"/>
          </a:p>
          <a:p>
            <a:pPr marL="0" indent="0" algn="ctr">
              <a:buNone/>
            </a:pPr>
            <a:r>
              <a:rPr lang="en-US" sz="1150" dirty="0">
                <a:solidFill>
                  <a:srgbClr val="5B6470"/>
                </a:solidFill>
                <a:latin typeface="Calibri" pitchFamily="34" charset="0"/>
                <a:ea typeface="Calibri" pitchFamily="34" charset="-122"/>
                <a:cs typeface="Calibri" pitchFamily="34" charset="-120"/>
              </a:rPr>
              <a:t>features</a:t>
            </a:r>
            <a:endParaRPr lang="en-US" sz="1150" dirty="0"/>
          </a:p>
        </p:txBody>
      </p:sp>
      <p:sp>
        <p:nvSpPr>
          <p:cNvPr id="11" name="Text 9"/>
          <p:cNvSpPr/>
          <p:nvPr/>
        </p:nvSpPr>
        <p:spPr>
          <a:xfrm>
            <a:off x="4133088" y="2697480"/>
            <a:ext cx="256032" cy="365760"/>
          </a:xfrm>
          <a:prstGeom prst="rect">
            <a:avLst/>
          </a:prstGeom>
          <a:noFill/>
          <a:ln/>
        </p:spPr>
        <p:txBody>
          <a:bodyPr wrap="square" lIns="0" tIns="0" rIns="0" bIns="0" rtlCol="0" anchor="ctr"/>
          <a:lstStyle/>
          <a:p>
            <a:pPr marL="0" indent="0" algn="ctr">
              <a:buNone/>
            </a:pPr>
            <a:r>
              <a:rPr lang="en-US" sz="1500" dirty="0">
                <a:solidFill>
                  <a:srgbClr val="5B6470"/>
                </a:solidFill>
                <a:latin typeface="Calibri" pitchFamily="34" charset="0"/>
                <a:ea typeface="Calibri" pitchFamily="34" charset="-122"/>
                <a:cs typeface="Calibri" pitchFamily="34" charset="-120"/>
              </a:rPr>
              <a:t>→</a:t>
            </a:r>
            <a:endParaRPr lang="en-US" sz="1500" dirty="0"/>
          </a:p>
        </p:txBody>
      </p:sp>
      <p:sp>
        <p:nvSpPr>
          <p:cNvPr id="12" name="Shape 10"/>
          <p:cNvSpPr/>
          <p:nvPr/>
        </p:nvSpPr>
        <p:spPr>
          <a:xfrm>
            <a:off x="4279392" y="1920240"/>
            <a:ext cx="1737360" cy="2011680"/>
          </a:xfrm>
          <a:prstGeom prst="roundRect">
            <a:avLst>
              <a:gd name="adj" fmla="val 3684"/>
            </a:avLst>
          </a:prstGeom>
          <a:solidFill>
            <a:srgbClr val="EAF2FB"/>
          </a:solidFill>
          <a:ln w="12700">
            <a:solidFill>
              <a:srgbClr val="DDE5EC"/>
            </a:solidFill>
            <a:prstDash val="solid"/>
          </a:ln>
        </p:spPr>
      </p:sp>
      <p:sp>
        <p:nvSpPr>
          <p:cNvPr id="13" name="Text 11"/>
          <p:cNvSpPr/>
          <p:nvPr/>
        </p:nvSpPr>
        <p:spPr>
          <a:xfrm>
            <a:off x="4279392" y="2084832"/>
            <a:ext cx="1737360" cy="457200"/>
          </a:xfrm>
          <a:prstGeom prst="rect">
            <a:avLst/>
          </a:prstGeom>
          <a:noFill/>
          <a:ln/>
        </p:spPr>
        <p:txBody>
          <a:bodyPr wrap="square" lIns="0" tIns="0" rIns="0" bIns="0" rtlCol="0" anchor="ctr"/>
          <a:lstStyle/>
          <a:p>
            <a:pPr marL="0" indent="0" algn="ctr">
              <a:buNone/>
            </a:pPr>
            <a:r>
              <a:rPr lang="en-US" sz="1400" b="1" dirty="0">
                <a:solidFill>
                  <a:srgbClr val="0B5CAD"/>
                </a:solidFill>
                <a:latin typeface="Cambria" pitchFamily="34" charset="0"/>
                <a:ea typeface="Cambria" pitchFamily="34" charset="-122"/>
                <a:cs typeface="Cambria" pitchFamily="34" charset="-120"/>
              </a:rPr>
              <a:t>Pool</a:t>
            </a:r>
            <a:endParaRPr lang="en-US" sz="1400" dirty="0"/>
          </a:p>
        </p:txBody>
      </p:sp>
      <p:sp>
        <p:nvSpPr>
          <p:cNvPr id="14" name="Text 12"/>
          <p:cNvSpPr/>
          <p:nvPr/>
        </p:nvSpPr>
        <p:spPr>
          <a:xfrm>
            <a:off x="4370832" y="2606040"/>
            <a:ext cx="1554480" cy="1188720"/>
          </a:xfrm>
          <a:prstGeom prst="rect">
            <a:avLst/>
          </a:prstGeom>
          <a:noFill/>
          <a:ln/>
        </p:spPr>
        <p:txBody>
          <a:bodyPr wrap="square" lIns="0" tIns="0" rIns="0" bIns="0" rtlCol="0" anchor="t"/>
          <a:lstStyle/>
          <a:p>
            <a:pPr marL="0" indent="0" algn="ctr">
              <a:buNone/>
            </a:pPr>
            <a:r>
              <a:rPr lang="en-US" sz="1150" dirty="0">
                <a:solidFill>
                  <a:srgbClr val="5B6470"/>
                </a:solidFill>
                <a:latin typeface="Calibri" pitchFamily="34" charset="0"/>
                <a:ea typeface="Calibri" pitchFamily="34" charset="-122"/>
                <a:cs typeface="Calibri" pitchFamily="34" charset="-120"/>
              </a:rPr>
              <a:t>shrink,</a:t>
            </a:r>
            <a:endParaRPr lang="en-US" sz="1150" dirty="0"/>
          </a:p>
          <a:p>
            <a:pPr marL="0" indent="0" algn="ctr">
              <a:buNone/>
            </a:pPr>
            <a:r>
              <a:rPr lang="en-US" sz="1150" dirty="0">
                <a:solidFill>
                  <a:srgbClr val="5B6470"/>
                </a:solidFill>
                <a:latin typeface="Calibri" pitchFamily="34" charset="0"/>
                <a:ea typeface="Calibri" pitchFamily="34" charset="-122"/>
                <a:cs typeface="Calibri" pitchFamily="34" charset="-120"/>
              </a:rPr>
              <a:t>keep the</a:t>
            </a:r>
            <a:endParaRPr lang="en-US" sz="1150" dirty="0"/>
          </a:p>
          <a:p>
            <a:pPr marL="0" indent="0" algn="ctr">
              <a:buNone/>
            </a:pPr>
            <a:r>
              <a:rPr lang="en-US" sz="1150" dirty="0">
                <a:solidFill>
                  <a:srgbClr val="5B6470"/>
                </a:solidFill>
                <a:latin typeface="Calibri" pitchFamily="34" charset="0"/>
                <a:ea typeface="Calibri" pitchFamily="34" charset="-122"/>
                <a:cs typeface="Calibri" pitchFamily="34" charset="-120"/>
              </a:rPr>
              <a:t>strongest</a:t>
            </a:r>
            <a:endParaRPr lang="en-US" sz="1150" dirty="0"/>
          </a:p>
        </p:txBody>
      </p:sp>
      <p:sp>
        <p:nvSpPr>
          <p:cNvPr id="15" name="Text 13"/>
          <p:cNvSpPr/>
          <p:nvPr/>
        </p:nvSpPr>
        <p:spPr>
          <a:xfrm>
            <a:off x="5998464" y="2697480"/>
            <a:ext cx="256032" cy="365760"/>
          </a:xfrm>
          <a:prstGeom prst="rect">
            <a:avLst/>
          </a:prstGeom>
          <a:noFill/>
          <a:ln/>
        </p:spPr>
        <p:txBody>
          <a:bodyPr wrap="square" lIns="0" tIns="0" rIns="0" bIns="0" rtlCol="0" anchor="ctr"/>
          <a:lstStyle/>
          <a:p>
            <a:pPr marL="0" indent="0" algn="ctr">
              <a:buNone/>
            </a:pPr>
            <a:r>
              <a:rPr lang="en-US" sz="1500" dirty="0">
                <a:solidFill>
                  <a:srgbClr val="5B6470"/>
                </a:solidFill>
                <a:latin typeface="Calibri" pitchFamily="34" charset="0"/>
                <a:ea typeface="Calibri" pitchFamily="34" charset="-122"/>
                <a:cs typeface="Calibri" pitchFamily="34" charset="-120"/>
              </a:rPr>
              <a:t>→</a:t>
            </a:r>
            <a:endParaRPr lang="en-US" sz="1500" dirty="0"/>
          </a:p>
        </p:txBody>
      </p:sp>
      <p:sp>
        <p:nvSpPr>
          <p:cNvPr id="16" name="Shape 14"/>
          <p:cNvSpPr/>
          <p:nvPr/>
        </p:nvSpPr>
        <p:spPr>
          <a:xfrm>
            <a:off x="6144768" y="1920240"/>
            <a:ext cx="1737360" cy="2011680"/>
          </a:xfrm>
          <a:prstGeom prst="roundRect">
            <a:avLst>
              <a:gd name="adj" fmla="val 3684"/>
            </a:avLst>
          </a:prstGeom>
          <a:solidFill>
            <a:srgbClr val="EAF2FB"/>
          </a:solidFill>
          <a:ln w="12700">
            <a:solidFill>
              <a:srgbClr val="DDE5EC"/>
            </a:solidFill>
            <a:prstDash val="solid"/>
          </a:ln>
        </p:spPr>
      </p:sp>
      <p:sp>
        <p:nvSpPr>
          <p:cNvPr id="17" name="Text 15"/>
          <p:cNvSpPr/>
          <p:nvPr/>
        </p:nvSpPr>
        <p:spPr>
          <a:xfrm>
            <a:off x="6144768" y="2084832"/>
            <a:ext cx="1737360" cy="457200"/>
          </a:xfrm>
          <a:prstGeom prst="rect">
            <a:avLst/>
          </a:prstGeom>
          <a:noFill/>
          <a:ln/>
        </p:spPr>
        <p:txBody>
          <a:bodyPr wrap="square" lIns="0" tIns="0" rIns="0" bIns="0" rtlCol="0" anchor="ctr"/>
          <a:lstStyle/>
          <a:p>
            <a:pPr marL="0" indent="0" algn="ctr">
              <a:buNone/>
            </a:pPr>
            <a:r>
              <a:rPr lang="en-US" sz="1400" b="1" dirty="0">
                <a:solidFill>
                  <a:srgbClr val="0B5CAD"/>
                </a:solidFill>
                <a:latin typeface="Cambria" pitchFamily="34" charset="0"/>
                <a:ea typeface="Cambria" pitchFamily="34" charset="-122"/>
                <a:cs typeface="Cambria" pitchFamily="34" charset="-120"/>
              </a:rPr>
              <a:t>Conv</a:t>
            </a:r>
            <a:endParaRPr lang="en-US" sz="1400" dirty="0"/>
          </a:p>
        </p:txBody>
      </p:sp>
      <p:sp>
        <p:nvSpPr>
          <p:cNvPr id="18" name="Text 16"/>
          <p:cNvSpPr/>
          <p:nvPr/>
        </p:nvSpPr>
        <p:spPr>
          <a:xfrm>
            <a:off x="6236208" y="2606040"/>
            <a:ext cx="1554480" cy="1188720"/>
          </a:xfrm>
          <a:prstGeom prst="rect">
            <a:avLst/>
          </a:prstGeom>
          <a:noFill/>
          <a:ln/>
        </p:spPr>
        <p:txBody>
          <a:bodyPr wrap="square" lIns="0" tIns="0" rIns="0" bIns="0" rtlCol="0" anchor="t"/>
          <a:lstStyle/>
          <a:p>
            <a:pPr marL="0" indent="0" algn="ctr">
              <a:buNone/>
            </a:pPr>
            <a:r>
              <a:rPr lang="en-US" sz="1150" dirty="0">
                <a:solidFill>
                  <a:srgbClr val="5B6470"/>
                </a:solidFill>
                <a:latin typeface="Calibri" pitchFamily="34" charset="0"/>
                <a:ea typeface="Calibri" pitchFamily="34" charset="-122"/>
                <a:cs typeface="Calibri" pitchFamily="34" charset="-120"/>
              </a:rPr>
              <a:t>find</a:t>
            </a:r>
            <a:endParaRPr lang="en-US" sz="1150" dirty="0"/>
          </a:p>
          <a:p>
            <a:pPr marL="0" indent="0" algn="ctr">
              <a:buNone/>
            </a:pPr>
            <a:r>
              <a:rPr lang="en-US" sz="1150" dirty="0">
                <a:solidFill>
                  <a:srgbClr val="5B6470"/>
                </a:solidFill>
                <a:latin typeface="Calibri" pitchFamily="34" charset="0"/>
                <a:ea typeface="Calibri" pitchFamily="34" charset="-122"/>
                <a:cs typeface="Calibri" pitchFamily="34" charset="-120"/>
              </a:rPr>
              <a:t>bigger</a:t>
            </a:r>
            <a:endParaRPr lang="en-US" sz="1150" dirty="0"/>
          </a:p>
          <a:p>
            <a:pPr marL="0" indent="0" algn="ctr">
              <a:buNone/>
            </a:pPr>
            <a:r>
              <a:rPr lang="en-US" sz="1150" dirty="0">
                <a:solidFill>
                  <a:srgbClr val="5B6470"/>
                </a:solidFill>
                <a:latin typeface="Calibri" pitchFamily="34" charset="0"/>
                <a:ea typeface="Calibri" pitchFamily="34" charset="-122"/>
                <a:cs typeface="Calibri" pitchFamily="34" charset="-120"/>
              </a:rPr>
              <a:t>features</a:t>
            </a:r>
            <a:endParaRPr lang="en-US" sz="1150" dirty="0"/>
          </a:p>
        </p:txBody>
      </p:sp>
      <p:sp>
        <p:nvSpPr>
          <p:cNvPr id="19" name="Text 17"/>
          <p:cNvSpPr/>
          <p:nvPr/>
        </p:nvSpPr>
        <p:spPr>
          <a:xfrm>
            <a:off x="7863840" y="2697480"/>
            <a:ext cx="256032" cy="365760"/>
          </a:xfrm>
          <a:prstGeom prst="rect">
            <a:avLst/>
          </a:prstGeom>
          <a:noFill/>
          <a:ln/>
        </p:spPr>
        <p:txBody>
          <a:bodyPr wrap="square" lIns="0" tIns="0" rIns="0" bIns="0" rtlCol="0" anchor="ctr"/>
          <a:lstStyle/>
          <a:p>
            <a:pPr marL="0" indent="0" algn="ctr">
              <a:buNone/>
            </a:pPr>
            <a:r>
              <a:rPr lang="en-US" sz="1500" dirty="0">
                <a:solidFill>
                  <a:srgbClr val="5B6470"/>
                </a:solidFill>
                <a:latin typeface="Calibri" pitchFamily="34" charset="0"/>
                <a:ea typeface="Calibri" pitchFamily="34" charset="-122"/>
                <a:cs typeface="Calibri" pitchFamily="34" charset="-120"/>
              </a:rPr>
              <a:t>→</a:t>
            </a:r>
            <a:endParaRPr lang="en-US" sz="1500" dirty="0"/>
          </a:p>
        </p:txBody>
      </p:sp>
      <p:sp>
        <p:nvSpPr>
          <p:cNvPr id="20" name="Shape 18"/>
          <p:cNvSpPr/>
          <p:nvPr/>
        </p:nvSpPr>
        <p:spPr>
          <a:xfrm>
            <a:off x="8010144" y="1920240"/>
            <a:ext cx="1737360" cy="2011680"/>
          </a:xfrm>
          <a:prstGeom prst="roundRect">
            <a:avLst>
              <a:gd name="adj" fmla="val 3684"/>
            </a:avLst>
          </a:prstGeom>
          <a:solidFill>
            <a:srgbClr val="EAF2FB"/>
          </a:solidFill>
          <a:ln w="12700">
            <a:solidFill>
              <a:srgbClr val="DDE5EC"/>
            </a:solidFill>
            <a:prstDash val="solid"/>
          </a:ln>
        </p:spPr>
      </p:sp>
      <p:sp>
        <p:nvSpPr>
          <p:cNvPr id="21" name="Text 19"/>
          <p:cNvSpPr/>
          <p:nvPr/>
        </p:nvSpPr>
        <p:spPr>
          <a:xfrm>
            <a:off x="8010144" y="2084832"/>
            <a:ext cx="1737360" cy="457200"/>
          </a:xfrm>
          <a:prstGeom prst="rect">
            <a:avLst/>
          </a:prstGeom>
          <a:noFill/>
          <a:ln/>
        </p:spPr>
        <p:txBody>
          <a:bodyPr wrap="square" lIns="0" tIns="0" rIns="0" bIns="0" rtlCol="0" anchor="ctr"/>
          <a:lstStyle/>
          <a:p>
            <a:pPr marL="0" indent="0" algn="ctr">
              <a:buNone/>
            </a:pPr>
            <a:r>
              <a:rPr lang="en-US" sz="1400" b="1" dirty="0">
                <a:solidFill>
                  <a:srgbClr val="0B5CAD"/>
                </a:solidFill>
                <a:latin typeface="Cambria" pitchFamily="34" charset="0"/>
                <a:ea typeface="Cambria" pitchFamily="34" charset="-122"/>
                <a:cs typeface="Cambria" pitchFamily="34" charset="-120"/>
              </a:rPr>
              <a:t>Pool</a:t>
            </a:r>
            <a:endParaRPr lang="en-US" sz="1400" dirty="0"/>
          </a:p>
        </p:txBody>
      </p:sp>
      <p:sp>
        <p:nvSpPr>
          <p:cNvPr id="22" name="Text 20"/>
          <p:cNvSpPr/>
          <p:nvPr/>
        </p:nvSpPr>
        <p:spPr>
          <a:xfrm>
            <a:off x="8101584" y="2606040"/>
            <a:ext cx="1554480" cy="1188720"/>
          </a:xfrm>
          <a:prstGeom prst="rect">
            <a:avLst/>
          </a:prstGeom>
          <a:noFill/>
          <a:ln/>
        </p:spPr>
        <p:txBody>
          <a:bodyPr wrap="square" lIns="0" tIns="0" rIns="0" bIns="0" rtlCol="0" anchor="t"/>
          <a:lstStyle/>
          <a:p>
            <a:pPr marL="0" indent="0" algn="ctr">
              <a:buNone/>
            </a:pPr>
            <a:r>
              <a:rPr lang="en-US" sz="1150" dirty="0">
                <a:solidFill>
                  <a:srgbClr val="5B6470"/>
                </a:solidFill>
                <a:latin typeface="Calibri" pitchFamily="34" charset="0"/>
                <a:ea typeface="Calibri" pitchFamily="34" charset="-122"/>
                <a:cs typeface="Calibri" pitchFamily="34" charset="-120"/>
              </a:rPr>
              <a:t>shrink</a:t>
            </a:r>
            <a:endParaRPr lang="en-US" sz="1150" dirty="0"/>
          </a:p>
          <a:p>
            <a:pPr marL="0" indent="0" algn="ctr">
              <a:buNone/>
            </a:pPr>
            <a:r>
              <a:rPr lang="en-US" sz="1150" dirty="0">
                <a:solidFill>
                  <a:srgbClr val="5B6470"/>
                </a:solidFill>
                <a:latin typeface="Calibri" pitchFamily="34" charset="0"/>
                <a:ea typeface="Calibri" pitchFamily="34" charset="-122"/>
                <a:cs typeface="Calibri" pitchFamily="34" charset="-120"/>
              </a:rPr>
              <a:t>again</a:t>
            </a:r>
            <a:endParaRPr lang="en-US" sz="1150" dirty="0"/>
          </a:p>
        </p:txBody>
      </p:sp>
      <p:sp>
        <p:nvSpPr>
          <p:cNvPr id="23" name="Text 21"/>
          <p:cNvSpPr/>
          <p:nvPr/>
        </p:nvSpPr>
        <p:spPr>
          <a:xfrm>
            <a:off x="9729216" y="2697480"/>
            <a:ext cx="256032" cy="365760"/>
          </a:xfrm>
          <a:prstGeom prst="rect">
            <a:avLst/>
          </a:prstGeom>
          <a:noFill/>
          <a:ln/>
        </p:spPr>
        <p:txBody>
          <a:bodyPr wrap="square" lIns="0" tIns="0" rIns="0" bIns="0" rtlCol="0" anchor="ctr"/>
          <a:lstStyle/>
          <a:p>
            <a:pPr marL="0" indent="0" algn="ctr">
              <a:buNone/>
            </a:pPr>
            <a:r>
              <a:rPr lang="en-US" sz="1500" dirty="0">
                <a:solidFill>
                  <a:srgbClr val="5B6470"/>
                </a:solidFill>
                <a:latin typeface="Calibri" pitchFamily="34" charset="0"/>
                <a:ea typeface="Calibri" pitchFamily="34" charset="-122"/>
                <a:cs typeface="Calibri" pitchFamily="34" charset="-120"/>
              </a:rPr>
              <a:t>→</a:t>
            </a:r>
            <a:endParaRPr lang="en-US" sz="1500" dirty="0"/>
          </a:p>
        </p:txBody>
      </p:sp>
      <p:sp>
        <p:nvSpPr>
          <p:cNvPr id="24" name="Shape 22"/>
          <p:cNvSpPr/>
          <p:nvPr/>
        </p:nvSpPr>
        <p:spPr>
          <a:xfrm>
            <a:off x="9875520" y="1920240"/>
            <a:ext cx="1737360" cy="2011680"/>
          </a:xfrm>
          <a:prstGeom prst="roundRect">
            <a:avLst>
              <a:gd name="adj" fmla="val 3684"/>
            </a:avLst>
          </a:prstGeom>
          <a:solidFill>
            <a:srgbClr val="0B5CAD"/>
          </a:solidFill>
          <a:ln/>
        </p:spPr>
      </p:sp>
      <p:sp>
        <p:nvSpPr>
          <p:cNvPr id="25" name="Text 23"/>
          <p:cNvSpPr/>
          <p:nvPr/>
        </p:nvSpPr>
        <p:spPr>
          <a:xfrm>
            <a:off x="9875520" y="2084832"/>
            <a:ext cx="173736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Flatten</a:t>
            </a:r>
            <a:endParaRPr lang="en-US" sz="1400" dirty="0"/>
          </a:p>
          <a:p>
            <a:pPr marL="0" indent="0" algn="ctr">
              <a:buNone/>
            </a:pPr>
            <a:r>
              <a:rPr lang="en-US" sz="1400" b="1" dirty="0">
                <a:solidFill>
                  <a:srgbClr val="FFFFFF"/>
                </a:solidFill>
                <a:latin typeface="Cambria" pitchFamily="34" charset="0"/>
                <a:ea typeface="Cambria" pitchFamily="34" charset="-122"/>
                <a:cs typeface="Cambria" pitchFamily="34" charset="-120"/>
              </a:rPr>
              <a:t>+ decide</a:t>
            </a:r>
            <a:endParaRPr lang="en-US" sz="1400" dirty="0"/>
          </a:p>
        </p:txBody>
      </p:sp>
      <p:sp>
        <p:nvSpPr>
          <p:cNvPr id="26" name="Text 24"/>
          <p:cNvSpPr/>
          <p:nvPr/>
        </p:nvSpPr>
        <p:spPr>
          <a:xfrm>
            <a:off x="9966960" y="2606040"/>
            <a:ext cx="1554480" cy="1188720"/>
          </a:xfrm>
          <a:prstGeom prst="rect">
            <a:avLst/>
          </a:prstGeom>
          <a:noFill/>
          <a:ln/>
        </p:spPr>
        <p:txBody>
          <a:bodyPr wrap="square" lIns="0" tIns="0" rIns="0" bIns="0" rtlCol="0" anchor="t"/>
          <a:lstStyle/>
          <a:p>
            <a:pPr marL="0" indent="0" algn="ctr">
              <a:buNone/>
            </a:pPr>
            <a:r>
              <a:rPr lang="en-US" sz="1150" dirty="0">
                <a:solidFill>
                  <a:srgbClr val="D8E6F7"/>
                </a:solidFill>
                <a:latin typeface="Calibri" pitchFamily="34" charset="0"/>
                <a:ea typeface="Calibri" pitchFamily="34" charset="-122"/>
                <a:cs typeface="Calibri" pitchFamily="34" charset="-120"/>
              </a:rPr>
              <a:t>10 class</a:t>
            </a:r>
            <a:endParaRPr lang="en-US" sz="1150" dirty="0"/>
          </a:p>
          <a:p>
            <a:pPr marL="0" indent="0" algn="ctr">
              <a:buNone/>
            </a:pPr>
            <a:r>
              <a:rPr lang="en-US" sz="1150" dirty="0">
                <a:solidFill>
                  <a:srgbClr val="D8E6F7"/>
                </a:solidFill>
                <a:latin typeface="Calibri" pitchFamily="34" charset="0"/>
                <a:ea typeface="Calibri" pitchFamily="34" charset="-122"/>
                <a:cs typeface="Calibri" pitchFamily="34" charset="-120"/>
              </a:rPr>
              <a:t>scores</a:t>
            </a:r>
            <a:endParaRPr lang="en-US" sz="1150" dirty="0"/>
          </a:p>
        </p:txBody>
      </p:sp>
      <p:sp>
        <p:nvSpPr>
          <p:cNvPr id="27" name="Text 25"/>
          <p:cNvSpPr/>
          <p:nvPr/>
        </p:nvSpPr>
        <p:spPr>
          <a:xfrm>
            <a:off x="548640" y="4343400"/>
            <a:ext cx="11064240" cy="1097280"/>
          </a:xfrm>
          <a:prstGeom prst="rect">
            <a:avLst/>
          </a:prstGeom>
          <a:noFill/>
          <a:ln/>
        </p:spPr>
        <p:txBody>
          <a:bodyPr wrap="square" lIns="0" tIns="0" rIns="0" bIns="0" rtlCol="0" anchor="ctr"/>
          <a:lstStyle/>
          <a:p>
            <a:pPr marL="0" indent="0">
              <a:buNone/>
            </a:pPr>
            <a:r>
              <a:rPr lang="en-US" sz="1450" b="1" dirty="0">
                <a:solidFill>
                  <a:srgbClr val="0B5CAD"/>
                </a:solidFill>
                <a:latin typeface="Calibri" pitchFamily="34" charset="0"/>
                <a:ea typeface="Calibri" pitchFamily="34" charset="-122"/>
                <a:cs typeface="Calibri" pitchFamily="34" charset="-120"/>
              </a:rPr>
              <a:t>Pooling </a:t>
            </a:r>
            <a:r>
              <a:rPr lang="en-US" sz="1450" dirty="0">
                <a:solidFill>
                  <a:srgbClr val="1A2733"/>
                </a:solidFill>
                <a:latin typeface="Calibri" pitchFamily="34" charset="0"/>
                <a:ea typeface="Calibri" pitchFamily="34" charset="-122"/>
                <a:cs typeface="Calibri" pitchFamily="34" charset="-120"/>
              </a:rPr>
              <a:t>keeps the strongest signal in each little region — it makes the network smaller and more tolerant of small shifts. </a:t>
            </a:r>
            <a:r>
              <a:rPr lang="en-US" sz="1450" dirty="0">
                <a:solidFill>
                  <a:srgbClr val="5B6470"/>
                </a:solidFill>
                <a:latin typeface="Calibri" pitchFamily="34" charset="0"/>
                <a:ea typeface="Calibri" pitchFamily="34" charset="-122"/>
                <a:cs typeface="Calibri" pitchFamily="34" charset="-120"/>
              </a:rPr>
              <a:t>After a few rounds, the flattened features feed a final layer that outputs a score for each of the 10 classes; the highest score wins.</a:t>
            </a:r>
            <a:endParaRPr lang="en-US" sz="1450" dirty="0"/>
          </a:p>
        </p:txBody>
      </p:sp>
      <p:sp>
        <p:nvSpPr>
          <p:cNvPr id="28" name="Text 26"/>
          <p:cNvSpPr/>
          <p:nvPr/>
        </p:nvSpPr>
        <p:spPr>
          <a:xfrm>
            <a:off x="548640" y="6473952"/>
            <a:ext cx="11091672" cy="274320"/>
          </a:xfrm>
          <a:prstGeom prst="rect">
            <a:avLst/>
          </a:prstGeom>
          <a:noFill/>
          <a:ln/>
        </p:spPr>
        <p:txBody>
          <a:bodyPr wrap="square" lIns="0" tIns="0" rIns="0" bIns="0" rtlCol="0" anchor="ctr"/>
          <a:lstStyle/>
          <a:p>
            <a:pPr marL="0" indent="0">
              <a:buNone/>
            </a:pPr>
            <a:r>
              <a:rPr lang="en-US" sz="900" dirty="0">
                <a:solidFill>
                  <a:srgbClr val="5B6470"/>
                </a:solidFill>
                <a:latin typeface="Calibri" pitchFamily="34" charset="0"/>
                <a:ea typeface="Calibri" pitchFamily="34" charset="-122"/>
                <a:cs typeface="Calibri" pitchFamily="34" charset="-120"/>
              </a:rPr>
              <a:t>Digital Communication &amp; Emerging Technologies · NCCU ISS 2026 · Day 2  |  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292608"/>
            <a:ext cx="11091672" cy="658368"/>
          </a:xfrm>
          <a:prstGeom prst="rect">
            <a:avLst/>
          </a:prstGeom>
          <a:noFill/>
          <a:ln/>
        </p:spPr>
        <p:txBody>
          <a:bodyPr wrap="square" lIns="0" tIns="0" rIns="0" bIns="0" rtlCol="0" anchor="ctr"/>
          <a:lstStyle/>
          <a:p>
            <a:pPr marL="0" indent="0">
              <a:buNone/>
            </a:pPr>
            <a:r>
              <a:rPr lang="en-US" sz="3100" b="1" dirty="0">
                <a:solidFill>
                  <a:srgbClr val="1A2733"/>
                </a:solidFill>
                <a:latin typeface="Cambria" pitchFamily="34" charset="0"/>
                <a:ea typeface="Cambria" pitchFamily="34" charset="-122"/>
                <a:cs typeface="Cambria" pitchFamily="34" charset="-120"/>
              </a:rPr>
              <a:t>How we got here</a:t>
            </a:r>
            <a:endParaRPr lang="en-US" sz="3100" dirty="0"/>
          </a:p>
        </p:txBody>
      </p:sp>
      <p:sp>
        <p:nvSpPr>
          <p:cNvPr id="3" name="Text 1"/>
          <p:cNvSpPr/>
          <p:nvPr/>
        </p:nvSpPr>
        <p:spPr>
          <a:xfrm>
            <a:off x="548640" y="896112"/>
            <a:ext cx="11091672" cy="365760"/>
          </a:xfrm>
          <a:prstGeom prst="rect">
            <a:avLst/>
          </a:prstGeom>
          <a:noFill/>
          <a:ln/>
        </p:spPr>
        <p:txBody>
          <a:bodyPr wrap="square" lIns="0" tIns="0" rIns="0" bIns="0" rtlCol="0" anchor="ctr"/>
          <a:lstStyle/>
          <a:p>
            <a:pPr marL="0" indent="0">
              <a:buNone/>
            </a:pPr>
            <a:r>
              <a:rPr lang="en-US" sz="1500" i="1" dirty="0">
                <a:solidFill>
                  <a:srgbClr val="5B6470"/>
                </a:solidFill>
                <a:latin typeface="Calibri" pitchFamily="34" charset="0"/>
                <a:ea typeface="Calibri" pitchFamily="34" charset="-122"/>
                <a:cs typeface="Calibri" pitchFamily="34" charset="-120"/>
              </a:rPr>
              <a:t>Vision drove the deep-learning explosion</a:t>
            </a:r>
            <a:endParaRPr lang="en-US" sz="1500" dirty="0"/>
          </a:p>
        </p:txBody>
      </p:sp>
      <p:sp>
        <p:nvSpPr>
          <p:cNvPr id="4" name="Shape 2"/>
          <p:cNvSpPr/>
          <p:nvPr/>
        </p:nvSpPr>
        <p:spPr>
          <a:xfrm>
            <a:off x="1097280" y="2743200"/>
            <a:ext cx="9966960" cy="0"/>
          </a:xfrm>
          <a:prstGeom prst="line">
            <a:avLst/>
          </a:prstGeom>
          <a:noFill/>
          <a:ln w="31750">
            <a:solidFill>
              <a:srgbClr val="0B5CAD"/>
            </a:solidFill>
            <a:prstDash val="solid"/>
          </a:ln>
        </p:spPr>
      </p:sp>
      <p:sp>
        <p:nvSpPr>
          <p:cNvPr id="5" name="Shape 3"/>
          <p:cNvSpPr/>
          <p:nvPr/>
        </p:nvSpPr>
        <p:spPr>
          <a:xfrm>
            <a:off x="2251710" y="2651760"/>
            <a:ext cx="182880" cy="182880"/>
          </a:xfrm>
          <a:prstGeom prst="ellipse">
            <a:avLst/>
          </a:prstGeom>
          <a:solidFill>
            <a:srgbClr val="0B5CAD"/>
          </a:solidFill>
          <a:ln/>
        </p:spPr>
      </p:sp>
      <p:sp>
        <p:nvSpPr>
          <p:cNvPr id="6" name="Text 4"/>
          <p:cNvSpPr/>
          <p:nvPr/>
        </p:nvSpPr>
        <p:spPr>
          <a:xfrm>
            <a:off x="1200150" y="1234440"/>
            <a:ext cx="2286000" cy="1371600"/>
          </a:xfrm>
          <a:prstGeom prst="rect">
            <a:avLst/>
          </a:prstGeom>
          <a:noFill/>
          <a:ln/>
        </p:spPr>
        <p:txBody>
          <a:bodyPr wrap="square" lIns="0" tIns="0" rIns="0" bIns="0" rtlCol="0" anchor="ctr"/>
          <a:lstStyle/>
          <a:p>
            <a:pPr marL="0" indent="0" algn="ctr">
              <a:buNone/>
            </a:pPr>
            <a:r>
              <a:rPr lang="en-US" sz="1600" b="1" dirty="0">
                <a:solidFill>
                  <a:srgbClr val="0B5CAD"/>
                </a:solidFill>
                <a:latin typeface="Calibri" pitchFamily="34" charset="0"/>
                <a:ea typeface="Calibri" pitchFamily="34" charset="-122"/>
                <a:cs typeface="Calibri" pitchFamily="34" charset="-120"/>
              </a:rPr>
              <a:t>1998
</a:t>
            </a:r>
            <a:r>
              <a:rPr lang="en-US" sz="1350" b="1" dirty="0">
                <a:solidFill>
                  <a:srgbClr val="1A2733"/>
                </a:solidFill>
                <a:latin typeface="Calibri" pitchFamily="34" charset="0"/>
                <a:ea typeface="Calibri" pitchFamily="34" charset="-122"/>
                <a:cs typeface="Calibri" pitchFamily="34" charset="-120"/>
              </a:rPr>
              <a:t>LeNet
</a:t>
            </a:r>
            <a:r>
              <a:rPr lang="en-US" sz="1150" dirty="0">
                <a:solidFill>
                  <a:srgbClr val="5B6470"/>
                </a:solidFill>
                <a:latin typeface="Calibri" pitchFamily="34" charset="0"/>
                <a:ea typeface="Calibri" pitchFamily="34" charset="-122"/>
                <a:cs typeface="Calibri" pitchFamily="34" charset="-120"/>
              </a:rPr>
              <a:t>CNNs read handwritten digits on checks</a:t>
            </a:r>
            <a:endParaRPr lang="en-US" sz="1600" dirty="0"/>
          </a:p>
        </p:txBody>
      </p:sp>
      <p:sp>
        <p:nvSpPr>
          <p:cNvPr id="7" name="Shape 5"/>
          <p:cNvSpPr/>
          <p:nvPr/>
        </p:nvSpPr>
        <p:spPr>
          <a:xfrm>
            <a:off x="4743450" y="2651760"/>
            <a:ext cx="182880" cy="182880"/>
          </a:xfrm>
          <a:prstGeom prst="ellipse">
            <a:avLst/>
          </a:prstGeom>
          <a:solidFill>
            <a:srgbClr val="E8A33D"/>
          </a:solidFill>
          <a:ln/>
        </p:spPr>
      </p:sp>
      <p:sp>
        <p:nvSpPr>
          <p:cNvPr id="8" name="Text 6"/>
          <p:cNvSpPr/>
          <p:nvPr/>
        </p:nvSpPr>
        <p:spPr>
          <a:xfrm>
            <a:off x="3691890" y="3063240"/>
            <a:ext cx="2286000" cy="1371600"/>
          </a:xfrm>
          <a:prstGeom prst="rect">
            <a:avLst/>
          </a:prstGeom>
          <a:noFill/>
          <a:ln/>
        </p:spPr>
        <p:txBody>
          <a:bodyPr wrap="square" lIns="0" tIns="0" rIns="0" bIns="0" rtlCol="0" anchor="ctr"/>
          <a:lstStyle/>
          <a:p>
            <a:pPr marL="0" indent="0" algn="ctr">
              <a:buNone/>
            </a:pPr>
            <a:r>
              <a:rPr lang="en-US" sz="1600" b="1" dirty="0">
                <a:solidFill>
                  <a:srgbClr val="B87614"/>
                </a:solidFill>
                <a:latin typeface="Calibri" pitchFamily="34" charset="0"/>
                <a:ea typeface="Calibri" pitchFamily="34" charset="-122"/>
                <a:cs typeface="Calibri" pitchFamily="34" charset="-120"/>
              </a:rPr>
              <a:t>2012
</a:t>
            </a:r>
            <a:r>
              <a:rPr lang="en-US" sz="1350" b="1" dirty="0">
                <a:solidFill>
                  <a:srgbClr val="1A2733"/>
                </a:solidFill>
                <a:latin typeface="Calibri" pitchFamily="34" charset="0"/>
                <a:ea typeface="Calibri" pitchFamily="34" charset="-122"/>
                <a:cs typeface="Calibri" pitchFamily="34" charset="-120"/>
              </a:rPr>
              <a:t>AlexNet
</a:t>
            </a:r>
            <a:r>
              <a:rPr lang="en-US" sz="1150" dirty="0">
                <a:solidFill>
                  <a:srgbClr val="5B6470"/>
                </a:solidFill>
                <a:latin typeface="Calibri" pitchFamily="34" charset="0"/>
                <a:ea typeface="Calibri" pitchFamily="34" charset="-122"/>
                <a:cs typeface="Calibri" pitchFamily="34" charset="-120"/>
              </a:rPr>
              <a:t>deep CNN wins ImageNet — the big bang</a:t>
            </a:r>
            <a:endParaRPr lang="en-US" sz="1600" dirty="0"/>
          </a:p>
        </p:txBody>
      </p:sp>
      <p:sp>
        <p:nvSpPr>
          <p:cNvPr id="9" name="Shape 7"/>
          <p:cNvSpPr/>
          <p:nvPr/>
        </p:nvSpPr>
        <p:spPr>
          <a:xfrm>
            <a:off x="7235190" y="2651760"/>
            <a:ext cx="182880" cy="182880"/>
          </a:xfrm>
          <a:prstGeom prst="ellipse">
            <a:avLst/>
          </a:prstGeom>
          <a:solidFill>
            <a:srgbClr val="0B5CAD"/>
          </a:solidFill>
          <a:ln/>
        </p:spPr>
      </p:sp>
      <p:sp>
        <p:nvSpPr>
          <p:cNvPr id="10" name="Text 8"/>
          <p:cNvSpPr/>
          <p:nvPr/>
        </p:nvSpPr>
        <p:spPr>
          <a:xfrm>
            <a:off x="6183630" y="1234440"/>
            <a:ext cx="2286000" cy="1371600"/>
          </a:xfrm>
          <a:prstGeom prst="rect">
            <a:avLst/>
          </a:prstGeom>
          <a:noFill/>
          <a:ln/>
        </p:spPr>
        <p:txBody>
          <a:bodyPr wrap="square" lIns="0" tIns="0" rIns="0" bIns="0" rtlCol="0" anchor="ctr"/>
          <a:lstStyle/>
          <a:p>
            <a:pPr marL="0" indent="0" algn="ctr">
              <a:buNone/>
            </a:pPr>
            <a:r>
              <a:rPr lang="en-US" sz="1600" b="1" dirty="0">
                <a:solidFill>
                  <a:srgbClr val="0B5CAD"/>
                </a:solidFill>
                <a:latin typeface="Calibri" pitchFamily="34" charset="0"/>
                <a:ea typeface="Calibri" pitchFamily="34" charset="-122"/>
                <a:cs typeface="Calibri" pitchFamily="34" charset="-120"/>
              </a:rPr>
              <a:t>2015
</a:t>
            </a:r>
            <a:r>
              <a:rPr lang="en-US" sz="1350" b="1" dirty="0">
                <a:solidFill>
                  <a:srgbClr val="1A2733"/>
                </a:solidFill>
                <a:latin typeface="Calibri" pitchFamily="34" charset="0"/>
                <a:ea typeface="Calibri" pitchFamily="34" charset="-122"/>
                <a:cs typeface="Calibri" pitchFamily="34" charset="-120"/>
              </a:rPr>
              <a:t>ResNet
</a:t>
            </a:r>
            <a:r>
              <a:rPr lang="en-US" sz="1150" dirty="0">
                <a:solidFill>
                  <a:srgbClr val="5B6470"/>
                </a:solidFill>
                <a:latin typeface="Calibri" pitchFamily="34" charset="0"/>
                <a:ea typeface="Calibri" pitchFamily="34" charset="-122"/>
                <a:cs typeface="Calibri" pitchFamily="34" charset="-120"/>
              </a:rPr>
              <a:t>networks go very deep; beat humans on ImageNet</a:t>
            </a:r>
            <a:endParaRPr lang="en-US" sz="1600" dirty="0"/>
          </a:p>
        </p:txBody>
      </p:sp>
      <p:sp>
        <p:nvSpPr>
          <p:cNvPr id="11" name="Shape 9"/>
          <p:cNvSpPr/>
          <p:nvPr/>
        </p:nvSpPr>
        <p:spPr>
          <a:xfrm>
            <a:off x="9726930" y="2651760"/>
            <a:ext cx="182880" cy="182880"/>
          </a:xfrm>
          <a:prstGeom prst="ellipse">
            <a:avLst/>
          </a:prstGeom>
          <a:solidFill>
            <a:srgbClr val="2E7D5B"/>
          </a:solidFill>
          <a:ln/>
        </p:spPr>
      </p:sp>
      <p:sp>
        <p:nvSpPr>
          <p:cNvPr id="12" name="Text 10"/>
          <p:cNvSpPr/>
          <p:nvPr/>
        </p:nvSpPr>
        <p:spPr>
          <a:xfrm>
            <a:off x="8675370" y="3063240"/>
            <a:ext cx="2286000" cy="1371600"/>
          </a:xfrm>
          <a:prstGeom prst="rect">
            <a:avLst/>
          </a:prstGeom>
          <a:noFill/>
          <a:ln/>
        </p:spPr>
        <p:txBody>
          <a:bodyPr wrap="square" lIns="0" tIns="0" rIns="0" bIns="0" rtlCol="0" anchor="ctr"/>
          <a:lstStyle/>
          <a:p>
            <a:pPr marL="0" indent="0" algn="ctr">
              <a:buNone/>
            </a:pPr>
            <a:r>
              <a:rPr lang="en-US" sz="1600" b="1" dirty="0">
                <a:solidFill>
                  <a:srgbClr val="2E7D5B"/>
                </a:solidFill>
                <a:latin typeface="Calibri" pitchFamily="34" charset="0"/>
                <a:ea typeface="Calibri" pitchFamily="34" charset="-122"/>
                <a:cs typeface="Calibri" pitchFamily="34" charset="-120"/>
              </a:rPr>
              <a:t>2020s
</a:t>
            </a:r>
            <a:r>
              <a:rPr lang="en-US" sz="1350" b="1" dirty="0">
                <a:solidFill>
                  <a:srgbClr val="1A2733"/>
                </a:solidFill>
                <a:latin typeface="Calibri" pitchFamily="34" charset="0"/>
                <a:ea typeface="Calibri" pitchFamily="34" charset="-122"/>
                <a:cs typeface="Calibri" pitchFamily="34" charset="-120"/>
              </a:rPr>
              <a:t>Vision everywhere
</a:t>
            </a:r>
            <a:r>
              <a:rPr lang="en-US" sz="1150" dirty="0">
                <a:solidFill>
                  <a:srgbClr val="5B6470"/>
                </a:solidFill>
                <a:latin typeface="Calibri" pitchFamily="34" charset="0"/>
                <a:ea typeface="Calibri" pitchFamily="34" charset="-122"/>
                <a:cs typeface="Calibri" pitchFamily="34" charset="-120"/>
              </a:rPr>
              <a:t>phones, cars, medicine, and generative image AI</a:t>
            </a:r>
            <a:endParaRPr lang="en-US" sz="1600" dirty="0"/>
          </a:p>
        </p:txBody>
      </p:sp>
      <p:sp>
        <p:nvSpPr>
          <p:cNvPr id="13" name="Text 11"/>
          <p:cNvSpPr/>
          <p:nvPr/>
        </p:nvSpPr>
        <p:spPr>
          <a:xfrm>
            <a:off x="548640" y="5394960"/>
            <a:ext cx="11064240" cy="548640"/>
          </a:xfrm>
          <a:prstGeom prst="rect">
            <a:avLst/>
          </a:prstGeom>
          <a:noFill/>
          <a:ln/>
        </p:spPr>
        <p:txBody>
          <a:bodyPr wrap="square" lIns="0" tIns="0" rIns="0" bIns="0" rtlCol="0" anchor="ctr"/>
          <a:lstStyle/>
          <a:p>
            <a:pPr marL="0" indent="0">
              <a:buNone/>
            </a:pPr>
            <a:r>
              <a:rPr lang="en-US" sz="1400" i="1" dirty="0">
                <a:solidFill>
                  <a:srgbClr val="0B5CAD"/>
                </a:solidFill>
                <a:latin typeface="Calibri" pitchFamily="34" charset="0"/>
                <a:ea typeface="Calibri" pitchFamily="34" charset="-122"/>
                <a:cs typeface="Calibri" pitchFamily="34" charset="-120"/>
              </a:rPr>
              <a:t>Notice: the 2012 AlexNet moment (today's paper) is the hinge. After it, deep learning went from academic curiosity to the engine behind the AI you use now.</a:t>
            </a:r>
            <a:endParaRPr lang="en-US" sz="1400" dirty="0"/>
          </a:p>
        </p:txBody>
      </p:sp>
      <p:sp>
        <p:nvSpPr>
          <p:cNvPr id="14" name="Text 12"/>
          <p:cNvSpPr/>
          <p:nvPr/>
        </p:nvSpPr>
        <p:spPr>
          <a:xfrm>
            <a:off x="548640" y="6473952"/>
            <a:ext cx="11091672" cy="274320"/>
          </a:xfrm>
          <a:prstGeom prst="rect">
            <a:avLst/>
          </a:prstGeom>
          <a:noFill/>
          <a:ln/>
        </p:spPr>
        <p:txBody>
          <a:bodyPr wrap="square" lIns="0" tIns="0" rIns="0" bIns="0" rtlCol="0" anchor="ctr"/>
          <a:lstStyle/>
          <a:p>
            <a:pPr marL="0" indent="0">
              <a:buNone/>
            </a:pPr>
            <a:r>
              <a:rPr lang="en-US" sz="900" dirty="0">
                <a:solidFill>
                  <a:srgbClr val="5B6470"/>
                </a:solidFill>
                <a:latin typeface="Calibri" pitchFamily="34" charset="0"/>
                <a:ea typeface="Calibri" pitchFamily="34" charset="-122"/>
                <a:cs typeface="Calibri" pitchFamily="34" charset="-120"/>
              </a:rPr>
              <a:t>Digital Communication &amp; Emerging Technologies · NCCU ISS 2026 · Day 2  |  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48640" y="292608"/>
            <a:ext cx="11091672" cy="658368"/>
          </a:xfrm>
          <a:prstGeom prst="rect">
            <a:avLst/>
          </a:prstGeom>
          <a:noFill/>
          <a:ln/>
        </p:spPr>
        <p:txBody>
          <a:bodyPr wrap="square" lIns="0" tIns="0" rIns="0" bIns="0" rtlCol="0" anchor="ctr"/>
          <a:lstStyle/>
          <a:p>
            <a:pPr marL="0" indent="0">
              <a:buNone/>
            </a:pPr>
            <a:r>
              <a:rPr lang="en-US" sz="3100" b="1" dirty="0">
                <a:solidFill>
                  <a:srgbClr val="1A2733"/>
                </a:solidFill>
                <a:latin typeface="Cambria" pitchFamily="34" charset="0"/>
                <a:ea typeface="Cambria" pitchFamily="34" charset="-122"/>
                <a:cs typeface="Cambria" pitchFamily="34" charset="-120"/>
              </a:rPr>
              <a:t>Where computers “see” today</a:t>
            </a:r>
            <a:endParaRPr lang="en-US" sz="3100" dirty="0"/>
          </a:p>
        </p:txBody>
      </p:sp>
      <p:sp>
        <p:nvSpPr>
          <p:cNvPr id="3" name="Text 1"/>
          <p:cNvSpPr/>
          <p:nvPr/>
        </p:nvSpPr>
        <p:spPr>
          <a:xfrm>
            <a:off x="548640" y="896112"/>
            <a:ext cx="11091672" cy="365760"/>
          </a:xfrm>
          <a:prstGeom prst="rect">
            <a:avLst/>
          </a:prstGeom>
          <a:noFill/>
          <a:ln/>
        </p:spPr>
        <p:txBody>
          <a:bodyPr wrap="square" lIns="0" tIns="0" rIns="0" bIns="0" rtlCol="0" anchor="ctr"/>
          <a:lstStyle/>
          <a:p>
            <a:pPr marL="0" indent="0">
              <a:buNone/>
            </a:pPr>
            <a:r>
              <a:rPr lang="en-US" sz="1500" i="1" dirty="0">
                <a:solidFill>
                  <a:srgbClr val="5B6470"/>
                </a:solidFill>
                <a:latin typeface="Calibri" pitchFamily="34" charset="0"/>
                <a:ea typeface="Calibri" pitchFamily="34" charset="-122"/>
                <a:cs typeface="Calibri" pitchFamily="34" charset="-120"/>
              </a:rPr>
              <a:t>The same CNN idea, everywhere</a:t>
            </a:r>
            <a:endParaRPr lang="en-US" sz="1500" dirty="0"/>
          </a:p>
        </p:txBody>
      </p:sp>
      <p:sp>
        <p:nvSpPr>
          <p:cNvPr id="4" name="Shape 2"/>
          <p:cNvSpPr/>
          <p:nvPr/>
        </p:nvSpPr>
        <p:spPr>
          <a:xfrm>
            <a:off x="548640" y="1737360"/>
            <a:ext cx="5394960" cy="1691640"/>
          </a:xfrm>
          <a:prstGeom prst="roundRect">
            <a:avLst>
              <a:gd name="adj" fmla="val 4324"/>
            </a:avLst>
          </a:prstGeom>
          <a:solidFill>
            <a:srgbClr val="F5F8FB"/>
          </a:solidFill>
          <a:ln w="12700">
            <a:solidFill>
              <a:srgbClr val="DDE5EC"/>
            </a:solidFill>
            <a:prstDash val="solid"/>
          </a:ln>
        </p:spPr>
      </p:sp>
      <p:pic>
        <p:nvPicPr>
          <p:cNvPr id="5" name="Image 0" descr="preencoded.png"/>
          <p:cNvPicPr>
            <a:picLocks noChangeAspect="1"/>
          </p:cNvPicPr>
          <p:nvPr/>
        </p:nvPicPr>
        <p:blipFill>
          <a:blip r:embed="rId3"/>
          <a:stretch>
            <a:fillRect/>
          </a:stretch>
        </p:blipFill>
        <p:spPr>
          <a:xfrm>
            <a:off x="822960" y="2011680"/>
            <a:ext cx="457200" cy="457200"/>
          </a:xfrm>
          <a:prstGeom prst="rect">
            <a:avLst/>
          </a:prstGeom>
        </p:spPr>
      </p:pic>
      <p:sp>
        <p:nvSpPr>
          <p:cNvPr id="6" name="Text 3"/>
          <p:cNvSpPr/>
          <p:nvPr/>
        </p:nvSpPr>
        <p:spPr>
          <a:xfrm>
            <a:off x="1463040" y="1920240"/>
            <a:ext cx="4297680" cy="1371600"/>
          </a:xfrm>
          <a:prstGeom prst="rect">
            <a:avLst/>
          </a:prstGeom>
          <a:noFill/>
          <a:ln/>
        </p:spPr>
        <p:txBody>
          <a:bodyPr wrap="square" lIns="0" tIns="0" rIns="0" bIns="0" rtlCol="0" anchor="ctr"/>
          <a:lstStyle/>
          <a:p>
            <a:pPr marL="0" indent="0">
              <a:buNone/>
            </a:pPr>
            <a:r>
              <a:rPr lang="en-US" sz="1600" b="1" dirty="0">
                <a:solidFill>
                  <a:srgbClr val="0B5CAD"/>
                </a:solidFill>
                <a:latin typeface="Calibri" pitchFamily="34" charset="0"/>
                <a:ea typeface="Calibri" pitchFamily="34" charset="-122"/>
                <a:cs typeface="Calibri" pitchFamily="34" charset="-120"/>
              </a:rPr>
              <a:t>Medicine
</a:t>
            </a:r>
            <a:r>
              <a:rPr lang="en-US" sz="1300" dirty="0">
                <a:solidFill>
                  <a:srgbClr val="1A2733"/>
                </a:solidFill>
                <a:latin typeface="Calibri" pitchFamily="34" charset="0"/>
                <a:ea typeface="Calibri" pitchFamily="34" charset="-122"/>
                <a:cs typeface="Calibri" pitchFamily="34" charset="-120"/>
              </a:rPr>
              <a:t>Reading X-rays, spotting tumors, screening for eye disease</a:t>
            </a:r>
            <a:endParaRPr lang="en-US" sz="1600" dirty="0"/>
          </a:p>
        </p:txBody>
      </p:sp>
      <p:sp>
        <p:nvSpPr>
          <p:cNvPr id="7" name="Shape 4"/>
          <p:cNvSpPr/>
          <p:nvPr/>
        </p:nvSpPr>
        <p:spPr>
          <a:xfrm>
            <a:off x="6153912" y="1737360"/>
            <a:ext cx="5394960" cy="1691640"/>
          </a:xfrm>
          <a:prstGeom prst="roundRect">
            <a:avLst>
              <a:gd name="adj" fmla="val 4324"/>
            </a:avLst>
          </a:prstGeom>
          <a:solidFill>
            <a:srgbClr val="F5F8FB"/>
          </a:solidFill>
          <a:ln w="12700">
            <a:solidFill>
              <a:srgbClr val="DDE5EC"/>
            </a:solidFill>
            <a:prstDash val="solid"/>
          </a:ln>
        </p:spPr>
      </p:sp>
      <p:pic>
        <p:nvPicPr>
          <p:cNvPr id="8" name="Image 1" descr="preencoded.png"/>
          <p:cNvPicPr>
            <a:picLocks noChangeAspect="1"/>
          </p:cNvPicPr>
          <p:nvPr/>
        </p:nvPicPr>
        <p:blipFill>
          <a:blip r:embed="rId4"/>
          <a:stretch>
            <a:fillRect/>
          </a:stretch>
        </p:blipFill>
        <p:spPr>
          <a:xfrm>
            <a:off x="6428232" y="2011680"/>
            <a:ext cx="457200" cy="457200"/>
          </a:xfrm>
          <a:prstGeom prst="rect">
            <a:avLst/>
          </a:prstGeom>
        </p:spPr>
      </p:pic>
      <p:sp>
        <p:nvSpPr>
          <p:cNvPr id="9" name="Text 5"/>
          <p:cNvSpPr/>
          <p:nvPr/>
        </p:nvSpPr>
        <p:spPr>
          <a:xfrm>
            <a:off x="7068312" y="1920240"/>
            <a:ext cx="4297680" cy="1371600"/>
          </a:xfrm>
          <a:prstGeom prst="rect">
            <a:avLst/>
          </a:prstGeom>
          <a:noFill/>
          <a:ln/>
        </p:spPr>
        <p:txBody>
          <a:bodyPr wrap="square" lIns="0" tIns="0" rIns="0" bIns="0" rtlCol="0" anchor="ctr"/>
          <a:lstStyle/>
          <a:p>
            <a:pPr marL="0" indent="0">
              <a:buNone/>
            </a:pPr>
            <a:r>
              <a:rPr lang="en-US" sz="1600" b="1" dirty="0">
                <a:solidFill>
                  <a:srgbClr val="0B5CAD"/>
                </a:solidFill>
                <a:latin typeface="Calibri" pitchFamily="34" charset="0"/>
                <a:ea typeface="Calibri" pitchFamily="34" charset="-122"/>
                <a:cs typeface="Calibri" pitchFamily="34" charset="-120"/>
              </a:rPr>
              <a:t>Self-driving cars
</a:t>
            </a:r>
            <a:r>
              <a:rPr lang="en-US" sz="1300" dirty="0">
                <a:solidFill>
                  <a:srgbClr val="1A2733"/>
                </a:solidFill>
                <a:latin typeface="Calibri" pitchFamily="34" charset="0"/>
                <a:ea typeface="Calibri" pitchFamily="34" charset="-122"/>
                <a:cs typeface="Calibri" pitchFamily="34" charset="-120"/>
              </a:rPr>
              <a:t>Recognizing lanes, pedestrians, signs, and other cars in real time</a:t>
            </a:r>
            <a:endParaRPr lang="en-US" sz="1600" dirty="0"/>
          </a:p>
        </p:txBody>
      </p:sp>
      <p:sp>
        <p:nvSpPr>
          <p:cNvPr id="10" name="Shape 6"/>
          <p:cNvSpPr/>
          <p:nvPr/>
        </p:nvSpPr>
        <p:spPr>
          <a:xfrm>
            <a:off x="548640" y="3611880"/>
            <a:ext cx="5394960" cy="1691640"/>
          </a:xfrm>
          <a:prstGeom prst="roundRect">
            <a:avLst>
              <a:gd name="adj" fmla="val 4324"/>
            </a:avLst>
          </a:prstGeom>
          <a:solidFill>
            <a:srgbClr val="F5F8FB"/>
          </a:solidFill>
          <a:ln w="12700">
            <a:solidFill>
              <a:srgbClr val="DDE5EC"/>
            </a:solidFill>
            <a:prstDash val="solid"/>
          </a:ln>
        </p:spPr>
      </p:sp>
      <p:pic>
        <p:nvPicPr>
          <p:cNvPr id="11" name="Image 2" descr="preencoded.png"/>
          <p:cNvPicPr>
            <a:picLocks noChangeAspect="1"/>
          </p:cNvPicPr>
          <p:nvPr/>
        </p:nvPicPr>
        <p:blipFill>
          <a:blip r:embed="rId5"/>
          <a:stretch>
            <a:fillRect/>
          </a:stretch>
        </p:blipFill>
        <p:spPr>
          <a:xfrm>
            <a:off x="822960" y="3886200"/>
            <a:ext cx="457200" cy="457200"/>
          </a:xfrm>
          <a:prstGeom prst="rect">
            <a:avLst/>
          </a:prstGeom>
        </p:spPr>
      </p:pic>
      <p:sp>
        <p:nvSpPr>
          <p:cNvPr id="12" name="Text 7"/>
          <p:cNvSpPr/>
          <p:nvPr/>
        </p:nvSpPr>
        <p:spPr>
          <a:xfrm>
            <a:off x="1463040" y="3794760"/>
            <a:ext cx="4297680" cy="1371600"/>
          </a:xfrm>
          <a:prstGeom prst="rect">
            <a:avLst/>
          </a:prstGeom>
          <a:noFill/>
          <a:ln/>
        </p:spPr>
        <p:txBody>
          <a:bodyPr wrap="square" lIns="0" tIns="0" rIns="0" bIns="0" rtlCol="0" anchor="ctr"/>
          <a:lstStyle/>
          <a:p>
            <a:pPr marL="0" indent="0">
              <a:buNone/>
            </a:pPr>
            <a:r>
              <a:rPr lang="en-US" sz="1600" b="1" dirty="0">
                <a:solidFill>
                  <a:srgbClr val="0B5CAD"/>
                </a:solidFill>
                <a:latin typeface="Calibri" pitchFamily="34" charset="0"/>
                <a:ea typeface="Calibri" pitchFamily="34" charset="-122"/>
                <a:cs typeface="Calibri" pitchFamily="34" charset="-120"/>
              </a:rPr>
              <a:t>Phones
</a:t>
            </a:r>
            <a:r>
              <a:rPr lang="en-US" sz="1300" dirty="0">
                <a:solidFill>
                  <a:srgbClr val="1A2733"/>
                </a:solidFill>
                <a:latin typeface="Calibri" pitchFamily="34" charset="0"/>
                <a:ea typeface="Calibri" pitchFamily="34" charset="-122"/>
                <a:cs typeface="Calibri" pitchFamily="34" charset="-120"/>
              </a:rPr>
              <a:t>Face unlock, photo search (“show me beaches”), live translation of signs</a:t>
            </a:r>
            <a:endParaRPr lang="en-US" sz="1600" dirty="0"/>
          </a:p>
        </p:txBody>
      </p:sp>
      <p:sp>
        <p:nvSpPr>
          <p:cNvPr id="13" name="Shape 8"/>
          <p:cNvSpPr/>
          <p:nvPr/>
        </p:nvSpPr>
        <p:spPr>
          <a:xfrm>
            <a:off x="6153912" y="3611880"/>
            <a:ext cx="5394960" cy="1691640"/>
          </a:xfrm>
          <a:prstGeom prst="roundRect">
            <a:avLst>
              <a:gd name="adj" fmla="val 4324"/>
            </a:avLst>
          </a:prstGeom>
          <a:solidFill>
            <a:srgbClr val="F5F8FB"/>
          </a:solidFill>
          <a:ln w="12700">
            <a:solidFill>
              <a:srgbClr val="DDE5EC"/>
            </a:solidFill>
            <a:prstDash val="solid"/>
          </a:ln>
        </p:spPr>
      </p:sp>
      <p:pic>
        <p:nvPicPr>
          <p:cNvPr id="14" name="Image 3" descr="preencoded.png"/>
          <p:cNvPicPr>
            <a:picLocks noChangeAspect="1"/>
          </p:cNvPicPr>
          <p:nvPr/>
        </p:nvPicPr>
        <p:blipFill>
          <a:blip r:embed="rId6"/>
          <a:stretch>
            <a:fillRect/>
          </a:stretch>
        </p:blipFill>
        <p:spPr>
          <a:xfrm>
            <a:off x="6428232" y="3886200"/>
            <a:ext cx="457200" cy="457200"/>
          </a:xfrm>
          <a:prstGeom prst="rect">
            <a:avLst/>
          </a:prstGeom>
        </p:spPr>
      </p:pic>
      <p:sp>
        <p:nvSpPr>
          <p:cNvPr id="15" name="Text 9"/>
          <p:cNvSpPr/>
          <p:nvPr/>
        </p:nvSpPr>
        <p:spPr>
          <a:xfrm>
            <a:off x="7068312" y="3794760"/>
            <a:ext cx="4297680" cy="1371600"/>
          </a:xfrm>
          <a:prstGeom prst="rect">
            <a:avLst/>
          </a:prstGeom>
          <a:noFill/>
          <a:ln/>
        </p:spPr>
        <p:txBody>
          <a:bodyPr wrap="square" lIns="0" tIns="0" rIns="0" bIns="0" rtlCol="0" anchor="ctr"/>
          <a:lstStyle/>
          <a:p>
            <a:pPr marL="0" indent="0">
              <a:buNone/>
            </a:pPr>
            <a:r>
              <a:rPr lang="en-US" sz="1600" b="1" dirty="0">
                <a:solidFill>
                  <a:srgbClr val="0B5CAD"/>
                </a:solidFill>
                <a:latin typeface="Calibri" pitchFamily="34" charset="0"/>
                <a:ea typeface="Calibri" pitchFamily="34" charset="-122"/>
                <a:cs typeface="Calibri" pitchFamily="34" charset="-120"/>
              </a:rPr>
              <a:t>Communication
</a:t>
            </a:r>
            <a:r>
              <a:rPr lang="en-US" sz="1300" dirty="0">
                <a:solidFill>
                  <a:srgbClr val="1A2733"/>
                </a:solidFill>
                <a:latin typeface="Calibri" pitchFamily="34" charset="0"/>
                <a:ea typeface="Calibri" pitchFamily="34" charset="-122"/>
                <a:cs typeface="Calibri" pitchFamily="34" charset="-120"/>
              </a:rPr>
              <a:t>Content moderation, deepfake detection, auto-captioning — our theme this week</a:t>
            </a:r>
            <a:endParaRPr lang="en-US" sz="1600" dirty="0"/>
          </a:p>
        </p:txBody>
      </p:sp>
      <p:sp>
        <p:nvSpPr>
          <p:cNvPr id="16" name="Text 10"/>
          <p:cNvSpPr/>
          <p:nvPr/>
        </p:nvSpPr>
        <p:spPr>
          <a:xfrm>
            <a:off x="548640" y="5532120"/>
            <a:ext cx="11064240" cy="457200"/>
          </a:xfrm>
          <a:prstGeom prst="rect">
            <a:avLst/>
          </a:prstGeom>
          <a:noFill/>
          <a:ln/>
        </p:spPr>
        <p:txBody>
          <a:bodyPr wrap="square" lIns="0" tIns="0" rIns="0" bIns="0" rtlCol="0" anchor="ctr"/>
          <a:lstStyle/>
          <a:p>
            <a:pPr marL="0" indent="0">
              <a:buNone/>
            </a:pPr>
            <a:r>
              <a:rPr lang="en-US" sz="1350" i="1" dirty="0">
                <a:solidFill>
                  <a:srgbClr val="0B5CAD"/>
                </a:solidFill>
                <a:latin typeface="Calibri" pitchFamily="34" charset="0"/>
                <a:ea typeface="Calibri" pitchFamily="34" charset="-122"/>
                <a:cs typeface="Calibri" pitchFamily="34" charset="-120"/>
              </a:rPr>
              <a:t>Every one of these started with the same breakthrough you'll reproduce in miniature today: a network learning to classify images from examples.</a:t>
            </a:r>
            <a:endParaRPr lang="en-US" sz="1350" dirty="0"/>
          </a:p>
        </p:txBody>
      </p:sp>
      <p:sp>
        <p:nvSpPr>
          <p:cNvPr id="17" name="Text 11"/>
          <p:cNvSpPr/>
          <p:nvPr/>
        </p:nvSpPr>
        <p:spPr>
          <a:xfrm>
            <a:off x="548640" y="6473952"/>
            <a:ext cx="11091672" cy="274320"/>
          </a:xfrm>
          <a:prstGeom prst="rect">
            <a:avLst/>
          </a:prstGeom>
          <a:noFill/>
          <a:ln/>
        </p:spPr>
        <p:txBody>
          <a:bodyPr wrap="square" lIns="0" tIns="0" rIns="0" bIns="0" rtlCol="0" anchor="ctr"/>
          <a:lstStyle/>
          <a:p>
            <a:pPr marL="0" indent="0">
              <a:buNone/>
            </a:pPr>
            <a:r>
              <a:rPr lang="en-US" sz="900" dirty="0">
                <a:solidFill>
                  <a:srgbClr val="5B6470"/>
                </a:solidFill>
                <a:latin typeface="Calibri" pitchFamily="34" charset="0"/>
                <a:ea typeface="Calibri" pitchFamily="34" charset="-122"/>
                <a:cs typeface="Calibri" pitchFamily="34" charset="-120"/>
              </a:rPr>
              <a:t>Digital Communication &amp; Emerging Technologies · NCCU ISS 2026 · Day 2  |  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48640" y="292608"/>
            <a:ext cx="11091672" cy="658368"/>
          </a:xfrm>
          <a:prstGeom prst="rect">
            <a:avLst/>
          </a:prstGeom>
          <a:noFill/>
          <a:ln/>
        </p:spPr>
        <p:txBody>
          <a:bodyPr wrap="square" lIns="0" tIns="0" rIns="0" bIns="0" rtlCol="0" anchor="ctr"/>
          <a:lstStyle/>
          <a:p>
            <a:pPr marL="0" indent="0">
              <a:buNone/>
            </a:pPr>
            <a:r>
              <a:rPr lang="en-US" sz="3100" b="1" dirty="0">
                <a:solidFill>
                  <a:srgbClr val="1A2733"/>
                </a:solidFill>
                <a:latin typeface="Cambria" pitchFamily="34" charset="0"/>
                <a:ea typeface="Cambria" pitchFamily="34" charset="-122"/>
                <a:cs typeface="Cambria" pitchFamily="34" charset="-120"/>
              </a:rPr>
              <a:t>Today's dataset: Fashion-MNIST</a:t>
            </a:r>
            <a:endParaRPr lang="en-US" sz="3100" dirty="0"/>
          </a:p>
        </p:txBody>
      </p:sp>
      <p:sp>
        <p:nvSpPr>
          <p:cNvPr id="3" name="Text 1"/>
          <p:cNvSpPr/>
          <p:nvPr/>
        </p:nvSpPr>
        <p:spPr>
          <a:xfrm>
            <a:off x="548640" y="896112"/>
            <a:ext cx="11091672" cy="365760"/>
          </a:xfrm>
          <a:prstGeom prst="rect">
            <a:avLst/>
          </a:prstGeom>
          <a:noFill/>
          <a:ln/>
        </p:spPr>
        <p:txBody>
          <a:bodyPr wrap="square" lIns="0" tIns="0" rIns="0" bIns="0" rtlCol="0" anchor="ctr"/>
          <a:lstStyle/>
          <a:p>
            <a:pPr marL="0" indent="0">
              <a:buNone/>
            </a:pPr>
            <a:r>
              <a:rPr lang="en-US" sz="1500" i="1" dirty="0">
                <a:solidFill>
                  <a:srgbClr val="5B6470"/>
                </a:solidFill>
                <a:latin typeface="Calibri" pitchFamily="34" charset="0"/>
                <a:ea typeface="Calibri" pitchFamily="34" charset="-122"/>
                <a:cs typeface="Calibri" pitchFamily="34" charset="-120"/>
              </a:rPr>
              <a:t>70,000 tiny clothing photos — the “hello world” of computer vision</a:t>
            </a:r>
            <a:endParaRPr lang="en-US" sz="1500" dirty="0"/>
          </a:p>
        </p:txBody>
      </p:sp>
      <p:sp>
        <p:nvSpPr>
          <p:cNvPr id="4" name="Shape 2"/>
          <p:cNvSpPr/>
          <p:nvPr/>
        </p:nvSpPr>
        <p:spPr>
          <a:xfrm>
            <a:off x="548640" y="1691640"/>
            <a:ext cx="2103120" cy="731520"/>
          </a:xfrm>
          <a:prstGeom prst="roundRect">
            <a:avLst>
              <a:gd name="adj" fmla="val 7500"/>
            </a:avLst>
          </a:prstGeom>
          <a:solidFill>
            <a:srgbClr val="EAF2FB"/>
          </a:solidFill>
          <a:ln/>
        </p:spPr>
      </p:sp>
      <p:sp>
        <p:nvSpPr>
          <p:cNvPr id="5" name="Text 3"/>
          <p:cNvSpPr/>
          <p:nvPr/>
        </p:nvSpPr>
        <p:spPr>
          <a:xfrm>
            <a:off x="658368" y="1810512"/>
            <a:ext cx="502920" cy="502920"/>
          </a:xfrm>
          <a:prstGeom prst="rect">
            <a:avLst/>
          </a:prstGeom>
          <a:noFill/>
          <a:ln/>
        </p:spPr>
        <p:txBody>
          <a:bodyPr wrap="square" lIns="0" tIns="0" rIns="0" bIns="0" rtlCol="0" anchor="ctr"/>
          <a:lstStyle/>
          <a:p>
            <a:pPr marL="0" indent="0" algn="ctr">
              <a:buNone/>
            </a:pPr>
            <a:r>
              <a:rPr lang="en-US" sz="1700" b="1" dirty="0">
                <a:solidFill>
                  <a:srgbClr val="0B5CAD"/>
                </a:solidFill>
                <a:latin typeface="Cambria" pitchFamily="34" charset="0"/>
                <a:ea typeface="Cambria" pitchFamily="34" charset="-122"/>
                <a:cs typeface="Cambria" pitchFamily="34" charset="-120"/>
              </a:rPr>
              <a:t>0</a:t>
            </a:r>
            <a:endParaRPr lang="en-US" sz="1700" dirty="0"/>
          </a:p>
        </p:txBody>
      </p:sp>
      <p:sp>
        <p:nvSpPr>
          <p:cNvPr id="6" name="Text 4"/>
          <p:cNvSpPr/>
          <p:nvPr/>
        </p:nvSpPr>
        <p:spPr>
          <a:xfrm>
            <a:off x="1207008" y="1691640"/>
            <a:ext cx="1371600" cy="731520"/>
          </a:xfrm>
          <a:prstGeom prst="rect">
            <a:avLst/>
          </a:prstGeom>
          <a:noFill/>
          <a:ln/>
        </p:spPr>
        <p:txBody>
          <a:bodyPr wrap="square" lIns="0" tIns="0" rIns="0" bIns="0" rtlCol="0" anchor="ctr"/>
          <a:lstStyle/>
          <a:p>
            <a:pPr marL="0" indent="0">
              <a:buNone/>
            </a:pPr>
            <a:r>
              <a:rPr lang="en-US" sz="1250" dirty="0">
                <a:solidFill>
                  <a:srgbClr val="1A2733"/>
                </a:solidFill>
                <a:latin typeface="Calibri" pitchFamily="34" charset="0"/>
                <a:ea typeface="Calibri" pitchFamily="34" charset="-122"/>
                <a:cs typeface="Calibri" pitchFamily="34" charset="-120"/>
              </a:rPr>
              <a:t>T-shirt/top</a:t>
            </a:r>
            <a:endParaRPr lang="en-US" sz="1250" dirty="0"/>
          </a:p>
        </p:txBody>
      </p:sp>
      <p:sp>
        <p:nvSpPr>
          <p:cNvPr id="7" name="Shape 5"/>
          <p:cNvSpPr/>
          <p:nvPr/>
        </p:nvSpPr>
        <p:spPr>
          <a:xfrm>
            <a:off x="2788920" y="1691640"/>
            <a:ext cx="2103120" cy="731520"/>
          </a:xfrm>
          <a:prstGeom prst="roundRect">
            <a:avLst>
              <a:gd name="adj" fmla="val 7500"/>
            </a:avLst>
          </a:prstGeom>
          <a:solidFill>
            <a:srgbClr val="EAF2FB"/>
          </a:solidFill>
          <a:ln/>
        </p:spPr>
      </p:sp>
      <p:sp>
        <p:nvSpPr>
          <p:cNvPr id="8" name="Text 6"/>
          <p:cNvSpPr/>
          <p:nvPr/>
        </p:nvSpPr>
        <p:spPr>
          <a:xfrm>
            <a:off x="2898648" y="1810512"/>
            <a:ext cx="502920" cy="502920"/>
          </a:xfrm>
          <a:prstGeom prst="rect">
            <a:avLst/>
          </a:prstGeom>
          <a:noFill/>
          <a:ln/>
        </p:spPr>
        <p:txBody>
          <a:bodyPr wrap="square" lIns="0" tIns="0" rIns="0" bIns="0" rtlCol="0" anchor="ctr"/>
          <a:lstStyle/>
          <a:p>
            <a:pPr marL="0" indent="0" algn="ctr">
              <a:buNone/>
            </a:pPr>
            <a:r>
              <a:rPr lang="en-US" sz="1700" b="1" dirty="0">
                <a:solidFill>
                  <a:srgbClr val="0B5CAD"/>
                </a:solidFill>
                <a:latin typeface="Cambria" pitchFamily="34" charset="0"/>
                <a:ea typeface="Cambria" pitchFamily="34" charset="-122"/>
                <a:cs typeface="Cambria" pitchFamily="34" charset="-120"/>
              </a:rPr>
              <a:t>1</a:t>
            </a:r>
            <a:endParaRPr lang="en-US" sz="1700" dirty="0"/>
          </a:p>
        </p:txBody>
      </p:sp>
      <p:sp>
        <p:nvSpPr>
          <p:cNvPr id="9" name="Text 7"/>
          <p:cNvSpPr/>
          <p:nvPr/>
        </p:nvSpPr>
        <p:spPr>
          <a:xfrm>
            <a:off x="3447288" y="1691640"/>
            <a:ext cx="1371600" cy="731520"/>
          </a:xfrm>
          <a:prstGeom prst="rect">
            <a:avLst/>
          </a:prstGeom>
          <a:noFill/>
          <a:ln/>
        </p:spPr>
        <p:txBody>
          <a:bodyPr wrap="square" lIns="0" tIns="0" rIns="0" bIns="0" rtlCol="0" anchor="ctr"/>
          <a:lstStyle/>
          <a:p>
            <a:pPr marL="0" indent="0">
              <a:buNone/>
            </a:pPr>
            <a:r>
              <a:rPr lang="en-US" sz="1250" dirty="0">
                <a:solidFill>
                  <a:srgbClr val="1A2733"/>
                </a:solidFill>
                <a:latin typeface="Calibri" pitchFamily="34" charset="0"/>
                <a:ea typeface="Calibri" pitchFamily="34" charset="-122"/>
                <a:cs typeface="Calibri" pitchFamily="34" charset="-120"/>
              </a:rPr>
              <a:t>Trouser</a:t>
            </a:r>
            <a:endParaRPr lang="en-US" sz="1250" dirty="0"/>
          </a:p>
        </p:txBody>
      </p:sp>
      <p:sp>
        <p:nvSpPr>
          <p:cNvPr id="10" name="Shape 8"/>
          <p:cNvSpPr/>
          <p:nvPr/>
        </p:nvSpPr>
        <p:spPr>
          <a:xfrm>
            <a:off x="5029200" y="1691640"/>
            <a:ext cx="2103120" cy="731520"/>
          </a:xfrm>
          <a:prstGeom prst="roundRect">
            <a:avLst>
              <a:gd name="adj" fmla="val 7500"/>
            </a:avLst>
          </a:prstGeom>
          <a:solidFill>
            <a:srgbClr val="EAF2FB"/>
          </a:solidFill>
          <a:ln/>
        </p:spPr>
      </p:sp>
      <p:sp>
        <p:nvSpPr>
          <p:cNvPr id="11" name="Text 9"/>
          <p:cNvSpPr/>
          <p:nvPr/>
        </p:nvSpPr>
        <p:spPr>
          <a:xfrm>
            <a:off x="5138928" y="1810512"/>
            <a:ext cx="502920" cy="502920"/>
          </a:xfrm>
          <a:prstGeom prst="rect">
            <a:avLst/>
          </a:prstGeom>
          <a:noFill/>
          <a:ln/>
        </p:spPr>
        <p:txBody>
          <a:bodyPr wrap="square" lIns="0" tIns="0" rIns="0" bIns="0" rtlCol="0" anchor="ctr"/>
          <a:lstStyle/>
          <a:p>
            <a:pPr marL="0" indent="0" algn="ctr">
              <a:buNone/>
            </a:pPr>
            <a:r>
              <a:rPr lang="en-US" sz="1700" b="1" dirty="0">
                <a:solidFill>
                  <a:srgbClr val="0B5CAD"/>
                </a:solidFill>
                <a:latin typeface="Cambria" pitchFamily="34" charset="0"/>
                <a:ea typeface="Cambria" pitchFamily="34" charset="-122"/>
                <a:cs typeface="Cambria" pitchFamily="34" charset="-120"/>
              </a:rPr>
              <a:t>2</a:t>
            </a:r>
            <a:endParaRPr lang="en-US" sz="1700" dirty="0"/>
          </a:p>
        </p:txBody>
      </p:sp>
      <p:sp>
        <p:nvSpPr>
          <p:cNvPr id="12" name="Text 10"/>
          <p:cNvSpPr/>
          <p:nvPr/>
        </p:nvSpPr>
        <p:spPr>
          <a:xfrm>
            <a:off x="5687568" y="1691640"/>
            <a:ext cx="1371600" cy="731520"/>
          </a:xfrm>
          <a:prstGeom prst="rect">
            <a:avLst/>
          </a:prstGeom>
          <a:noFill/>
          <a:ln/>
        </p:spPr>
        <p:txBody>
          <a:bodyPr wrap="square" lIns="0" tIns="0" rIns="0" bIns="0" rtlCol="0" anchor="ctr"/>
          <a:lstStyle/>
          <a:p>
            <a:pPr marL="0" indent="0">
              <a:buNone/>
            </a:pPr>
            <a:r>
              <a:rPr lang="en-US" sz="1250" dirty="0">
                <a:solidFill>
                  <a:srgbClr val="1A2733"/>
                </a:solidFill>
                <a:latin typeface="Calibri" pitchFamily="34" charset="0"/>
                <a:ea typeface="Calibri" pitchFamily="34" charset="-122"/>
                <a:cs typeface="Calibri" pitchFamily="34" charset="-120"/>
              </a:rPr>
              <a:t>Pullover</a:t>
            </a:r>
            <a:endParaRPr lang="en-US" sz="1250" dirty="0"/>
          </a:p>
        </p:txBody>
      </p:sp>
      <p:sp>
        <p:nvSpPr>
          <p:cNvPr id="13" name="Shape 11"/>
          <p:cNvSpPr/>
          <p:nvPr/>
        </p:nvSpPr>
        <p:spPr>
          <a:xfrm>
            <a:off x="7269480" y="1691640"/>
            <a:ext cx="2103120" cy="731520"/>
          </a:xfrm>
          <a:prstGeom prst="roundRect">
            <a:avLst>
              <a:gd name="adj" fmla="val 7500"/>
            </a:avLst>
          </a:prstGeom>
          <a:solidFill>
            <a:srgbClr val="EAF2FB"/>
          </a:solidFill>
          <a:ln/>
        </p:spPr>
      </p:sp>
      <p:sp>
        <p:nvSpPr>
          <p:cNvPr id="14" name="Text 12"/>
          <p:cNvSpPr/>
          <p:nvPr/>
        </p:nvSpPr>
        <p:spPr>
          <a:xfrm>
            <a:off x="7379208" y="1810512"/>
            <a:ext cx="502920" cy="502920"/>
          </a:xfrm>
          <a:prstGeom prst="rect">
            <a:avLst/>
          </a:prstGeom>
          <a:noFill/>
          <a:ln/>
        </p:spPr>
        <p:txBody>
          <a:bodyPr wrap="square" lIns="0" tIns="0" rIns="0" bIns="0" rtlCol="0" anchor="ctr"/>
          <a:lstStyle/>
          <a:p>
            <a:pPr marL="0" indent="0" algn="ctr">
              <a:buNone/>
            </a:pPr>
            <a:r>
              <a:rPr lang="en-US" sz="1700" b="1" dirty="0">
                <a:solidFill>
                  <a:srgbClr val="0B5CAD"/>
                </a:solidFill>
                <a:latin typeface="Cambria" pitchFamily="34" charset="0"/>
                <a:ea typeface="Cambria" pitchFamily="34" charset="-122"/>
                <a:cs typeface="Cambria" pitchFamily="34" charset="-120"/>
              </a:rPr>
              <a:t>3</a:t>
            </a:r>
            <a:endParaRPr lang="en-US" sz="1700" dirty="0"/>
          </a:p>
        </p:txBody>
      </p:sp>
      <p:sp>
        <p:nvSpPr>
          <p:cNvPr id="15" name="Text 13"/>
          <p:cNvSpPr/>
          <p:nvPr/>
        </p:nvSpPr>
        <p:spPr>
          <a:xfrm>
            <a:off x="7927848" y="1691640"/>
            <a:ext cx="1371600" cy="731520"/>
          </a:xfrm>
          <a:prstGeom prst="rect">
            <a:avLst/>
          </a:prstGeom>
          <a:noFill/>
          <a:ln/>
        </p:spPr>
        <p:txBody>
          <a:bodyPr wrap="square" lIns="0" tIns="0" rIns="0" bIns="0" rtlCol="0" anchor="ctr"/>
          <a:lstStyle/>
          <a:p>
            <a:pPr marL="0" indent="0">
              <a:buNone/>
            </a:pPr>
            <a:r>
              <a:rPr lang="en-US" sz="1250" dirty="0">
                <a:solidFill>
                  <a:srgbClr val="1A2733"/>
                </a:solidFill>
                <a:latin typeface="Calibri" pitchFamily="34" charset="0"/>
                <a:ea typeface="Calibri" pitchFamily="34" charset="-122"/>
                <a:cs typeface="Calibri" pitchFamily="34" charset="-120"/>
              </a:rPr>
              <a:t>Dress</a:t>
            </a:r>
            <a:endParaRPr lang="en-US" sz="1250" dirty="0"/>
          </a:p>
        </p:txBody>
      </p:sp>
      <p:sp>
        <p:nvSpPr>
          <p:cNvPr id="16" name="Shape 14"/>
          <p:cNvSpPr/>
          <p:nvPr/>
        </p:nvSpPr>
        <p:spPr>
          <a:xfrm>
            <a:off x="9509760" y="1691640"/>
            <a:ext cx="2103120" cy="731520"/>
          </a:xfrm>
          <a:prstGeom prst="roundRect">
            <a:avLst>
              <a:gd name="adj" fmla="val 7500"/>
            </a:avLst>
          </a:prstGeom>
          <a:solidFill>
            <a:srgbClr val="EAF2FB"/>
          </a:solidFill>
          <a:ln/>
        </p:spPr>
      </p:sp>
      <p:sp>
        <p:nvSpPr>
          <p:cNvPr id="17" name="Text 15"/>
          <p:cNvSpPr/>
          <p:nvPr/>
        </p:nvSpPr>
        <p:spPr>
          <a:xfrm>
            <a:off x="9619488" y="1810512"/>
            <a:ext cx="502920" cy="502920"/>
          </a:xfrm>
          <a:prstGeom prst="rect">
            <a:avLst/>
          </a:prstGeom>
          <a:noFill/>
          <a:ln/>
        </p:spPr>
        <p:txBody>
          <a:bodyPr wrap="square" lIns="0" tIns="0" rIns="0" bIns="0" rtlCol="0" anchor="ctr"/>
          <a:lstStyle/>
          <a:p>
            <a:pPr marL="0" indent="0" algn="ctr">
              <a:buNone/>
            </a:pPr>
            <a:r>
              <a:rPr lang="en-US" sz="1700" b="1" dirty="0">
                <a:solidFill>
                  <a:srgbClr val="0B5CAD"/>
                </a:solidFill>
                <a:latin typeface="Cambria" pitchFamily="34" charset="0"/>
                <a:ea typeface="Cambria" pitchFamily="34" charset="-122"/>
                <a:cs typeface="Cambria" pitchFamily="34" charset="-120"/>
              </a:rPr>
              <a:t>4</a:t>
            </a:r>
            <a:endParaRPr lang="en-US" sz="1700" dirty="0"/>
          </a:p>
        </p:txBody>
      </p:sp>
      <p:sp>
        <p:nvSpPr>
          <p:cNvPr id="18" name="Text 16"/>
          <p:cNvSpPr/>
          <p:nvPr/>
        </p:nvSpPr>
        <p:spPr>
          <a:xfrm>
            <a:off x="10168128" y="1691640"/>
            <a:ext cx="1371600" cy="731520"/>
          </a:xfrm>
          <a:prstGeom prst="rect">
            <a:avLst/>
          </a:prstGeom>
          <a:noFill/>
          <a:ln/>
        </p:spPr>
        <p:txBody>
          <a:bodyPr wrap="square" lIns="0" tIns="0" rIns="0" bIns="0" rtlCol="0" anchor="ctr"/>
          <a:lstStyle/>
          <a:p>
            <a:pPr marL="0" indent="0">
              <a:buNone/>
            </a:pPr>
            <a:r>
              <a:rPr lang="en-US" sz="1250" dirty="0">
                <a:solidFill>
                  <a:srgbClr val="1A2733"/>
                </a:solidFill>
                <a:latin typeface="Calibri" pitchFamily="34" charset="0"/>
                <a:ea typeface="Calibri" pitchFamily="34" charset="-122"/>
                <a:cs typeface="Calibri" pitchFamily="34" charset="-120"/>
              </a:rPr>
              <a:t>Coat</a:t>
            </a:r>
            <a:endParaRPr lang="en-US" sz="1250" dirty="0"/>
          </a:p>
        </p:txBody>
      </p:sp>
      <p:sp>
        <p:nvSpPr>
          <p:cNvPr id="19" name="Shape 17"/>
          <p:cNvSpPr/>
          <p:nvPr/>
        </p:nvSpPr>
        <p:spPr>
          <a:xfrm>
            <a:off x="548640" y="2560320"/>
            <a:ext cx="2103120" cy="731520"/>
          </a:xfrm>
          <a:prstGeom prst="roundRect">
            <a:avLst>
              <a:gd name="adj" fmla="val 7500"/>
            </a:avLst>
          </a:prstGeom>
          <a:solidFill>
            <a:srgbClr val="EAF2FB"/>
          </a:solidFill>
          <a:ln/>
        </p:spPr>
      </p:sp>
      <p:sp>
        <p:nvSpPr>
          <p:cNvPr id="20" name="Text 18"/>
          <p:cNvSpPr/>
          <p:nvPr/>
        </p:nvSpPr>
        <p:spPr>
          <a:xfrm>
            <a:off x="658368" y="2679192"/>
            <a:ext cx="502920" cy="502920"/>
          </a:xfrm>
          <a:prstGeom prst="rect">
            <a:avLst/>
          </a:prstGeom>
          <a:noFill/>
          <a:ln/>
        </p:spPr>
        <p:txBody>
          <a:bodyPr wrap="square" lIns="0" tIns="0" rIns="0" bIns="0" rtlCol="0" anchor="ctr"/>
          <a:lstStyle/>
          <a:p>
            <a:pPr marL="0" indent="0" algn="ctr">
              <a:buNone/>
            </a:pPr>
            <a:r>
              <a:rPr lang="en-US" sz="1700" b="1" dirty="0">
                <a:solidFill>
                  <a:srgbClr val="0B5CAD"/>
                </a:solidFill>
                <a:latin typeface="Cambria" pitchFamily="34" charset="0"/>
                <a:ea typeface="Cambria" pitchFamily="34" charset="-122"/>
                <a:cs typeface="Cambria" pitchFamily="34" charset="-120"/>
              </a:rPr>
              <a:t>5</a:t>
            </a:r>
            <a:endParaRPr lang="en-US" sz="1700" dirty="0"/>
          </a:p>
        </p:txBody>
      </p:sp>
      <p:sp>
        <p:nvSpPr>
          <p:cNvPr id="21" name="Text 19"/>
          <p:cNvSpPr/>
          <p:nvPr/>
        </p:nvSpPr>
        <p:spPr>
          <a:xfrm>
            <a:off x="1207008" y="2560320"/>
            <a:ext cx="1371600" cy="731520"/>
          </a:xfrm>
          <a:prstGeom prst="rect">
            <a:avLst/>
          </a:prstGeom>
          <a:noFill/>
          <a:ln/>
        </p:spPr>
        <p:txBody>
          <a:bodyPr wrap="square" lIns="0" tIns="0" rIns="0" bIns="0" rtlCol="0" anchor="ctr"/>
          <a:lstStyle/>
          <a:p>
            <a:pPr marL="0" indent="0">
              <a:buNone/>
            </a:pPr>
            <a:r>
              <a:rPr lang="en-US" sz="1250" dirty="0">
                <a:solidFill>
                  <a:srgbClr val="1A2733"/>
                </a:solidFill>
                <a:latin typeface="Calibri" pitchFamily="34" charset="0"/>
                <a:ea typeface="Calibri" pitchFamily="34" charset="-122"/>
                <a:cs typeface="Calibri" pitchFamily="34" charset="-120"/>
              </a:rPr>
              <a:t>Sandal</a:t>
            </a:r>
            <a:endParaRPr lang="en-US" sz="1250" dirty="0"/>
          </a:p>
        </p:txBody>
      </p:sp>
      <p:sp>
        <p:nvSpPr>
          <p:cNvPr id="22" name="Shape 20"/>
          <p:cNvSpPr/>
          <p:nvPr/>
        </p:nvSpPr>
        <p:spPr>
          <a:xfrm>
            <a:off x="2788920" y="2560320"/>
            <a:ext cx="2103120" cy="731520"/>
          </a:xfrm>
          <a:prstGeom prst="roundRect">
            <a:avLst>
              <a:gd name="adj" fmla="val 7500"/>
            </a:avLst>
          </a:prstGeom>
          <a:solidFill>
            <a:srgbClr val="EAF2FB"/>
          </a:solidFill>
          <a:ln/>
        </p:spPr>
      </p:sp>
      <p:sp>
        <p:nvSpPr>
          <p:cNvPr id="23" name="Text 21"/>
          <p:cNvSpPr/>
          <p:nvPr/>
        </p:nvSpPr>
        <p:spPr>
          <a:xfrm>
            <a:off x="2898648" y="2679192"/>
            <a:ext cx="502920" cy="502920"/>
          </a:xfrm>
          <a:prstGeom prst="rect">
            <a:avLst/>
          </a:prstGeom>
          <a:noFill/>
          <a:ln/>
        </p:spPr>
        <p:txBody>
          <a:bodyPr wrap="square" lIns="0" tIns="0" rIns="0" bIns="0" rtlCol="0" anchor="ctr"/>
          <a:lstStyle/>
          <a:p>
            <a:pPr marL="0" indent="0" algn="ctr">
              <a:buNone/>
            </a:pPr>
            <a:r>
              <a:rPr lang="en-US" sz="1700" b="1" dirty="0">
                <a:solidFill>
                  <a:srgbClr val="0B5CAD"/>
                </a:solidFill>
                <a:latin typeface="Cambria" pitchFamily="34" charset="0"/>
                <a:ea typeface="Cambria" pitchFamily="34" charset="-122"/>
                <a:cs typeface="Cambria" pitchFamily="34" charset="-120"/>
              </a:rPr>
              <a:t>6</a:t>
            </a:r>
            <a:endParaRPr lang="en-US" sz="1700" dirty="0"/>
          </a:p>
        </p:txBody>
      </p:sp>
      <p:sp>
        <p:nvSpPr>
          <p:cNvPr id="24" name="Text 22"/>
          <p:cNvSpPr/>
          <p:nvPr/>
        </p:nvSpPr>
        <p:spPr>
          <a:xfrm>
            <a:off x="3447288" y="2560320"/>
            <a:ext cx="1371600" cy="731520"/>
          </a:xfrm>
          <a:prstGeom prst="rect">
            <a:avLst/>
          </a:prstGeom>
          <a:noFill/>
          <a:ln/>
        </p:spPr>
        <p:txBody>
          <a:bodyPr wrap="square" lIns="0" tIns="0" rIns="0" bIns="0" rtlCol="0" anchor="ctr"/>
          <a:lstStyle/>
          <a:p>
            <a:pPr marL="0" indent="0">
              <a:buNone/>
            </a:pPr>
            <a:r>
              <a:rPr lang="en-US" sz="1250" dirty="0">
                <a:solidFill>
                  <a:srgbClr val="1A2733"/>
                </a:solidFill>
                <a:latin typeface="Calibri" pitchFamily="34" charset="0"/>
                <a:ea typeface="Calibri" pitchFamily="34" charset="-122"/>
                <a:cs typeface="Calibri" pitchFamily="34" charset="-120"/>
              </a:rPr>
              <a:t>Shirt</a:t>
            </a:r>
            <a:endParaRPr lang="en-US" sz="1250" dirty="0"/>
          </a:p>
        </p:txBody>
      </p:sp>
      <p:sp>
        <p:nvSpPr>
          <p:cNvPr id="25" name="Shape 23"/>
          <p:cNvSpPr/>
          <p:nvPr/>
        </p:nvSpPr>
        <p:spPr>
          <a:xfrm>
            <a:off x="5029200" y="2560320"/>
            <a:ext cx="2103120" cy="731520"/>
          </a:xfrm>
          <a:prstGeom prst="roundRect">
            <a:avLst>
              <a:gd name="adj" fmla="val 7500"/>
            </a:avLst>
          </a:prstGeom>
          <a:solidFill>
            <a:srgbClr val="EAF2FB"/>
          </a:solidFill>
          <a:ln/>
        </p:spPr>
      </p:sp>
      <p:sp>
        <p:nvSpPr>
          <p:cNvPr id="26" name="Text 24"/>
          <p:cNvSpPr/>
          <p:nvPr/>
        </p:nvSpPr>
        <p:spPr>
          <a:xfrm>
            <a:off x="5138928" y="2679192"/>
            <a:ext cx="502920" cy="502920"/>
          </a:xfrm>
          <a:prstGeom prst="rect">
            <a:avLst/>
          </a:prstGeom>
          <a:noFill/>
          <a:ln/>
        </p:spPr>
        <p:txBody>
          <a:bodyPr wrap="square" lIns="0" tIns="0" rIns="0" bIns="0" rtlCol="0" anchor="ctr"/>
          <a:lstStyle/>
          <a:p>
            <a:pPr marL="0" indent="0" algn="ctr">
              <a:buNone/>
            </a:pPr>
            <a:r>
              <a:rPr lang="en-US" sz="1700" b="1" dirty="0">
                <a:solidFill>
                  <a:srgbClr val="0B5CAD"/>
                </a:solidFill>
                <a:latin typeface="Cambria" pitchFamily="34" charset="0"/>
                <a:ea typeface="Cambria" pitchFamily="34" charset="-122"/>
                <a:cs typeface="Cambria" pitchFamily="34" charset="-120"/>
              </a:rPr>
              <a:t>7</a:t>
            </a:r>
            <a:endParaRPr lang="en-US" sz="1700" dirty="0"/>
          </a:p>
        </p:txBody>
      </p:sp>
      <p:sp>
        <p:nvSpPr>
          <p:cNvPr id="27" name="Text 25"/>
          <p:cNvSpPr/>
          <p:nvPr/>
        </p:nvSpPr>
        <p:spPr>
          <a:xfrm>
            <a:off x="5687568" y="2560320"/>
            <a:ext cx="1371600" cy="731520"/>
          </a:xfrm>
          <a:prstGeom prst="rect">
            <a:avLst/>
          </a:prstGeom>
          <a:noFill/>
          <a:ln/>
        </p:spPr>
        <p:txBody>
          <a:bodyPr wrap="square" lIns="0" tIns="0" rIns="0" bIns="0" rtlCol="0" anchor="ctr"/>
          <a:lstStyle/>
          <a:p>
            <a:pPr marL="0" indent="0">
              <a:buNone/>
            </a:pPr>
            <a:r>
              <a:rPr lang="en-US" sz="1250" dirty="0">
                <a:solidFill>
                  <a:srgbClr val="1A2733"/>
                </a:solidFill>
                <a:latin typeface="Calibri" pitchFamily="34" charset="0"/>
                <a:ea typeface="Calibri" pitchFamily="34" charset="-122"/>
                <a:cs typeface="Calibri" pitchFamily="34" charset="-120"/>
              </a:rPr>
              <a:t>Sneaker</a:t>
            </a:r>
            <a:endParaRPr lang="en-US" sz="1250" dirty="0"/>
          </a:p>
        </p:txBody>
      </p:sp>
      <p:sp>
        <p:nvSpPr>
          <p:cNvPr id="28" name="Shape 26"/>
          <p:cNvSpPr/>
          <p:nvPr/>
        </p:nvSpPr>
        <p:spPr>
          <a:xfrm>
            <a:off x="7269480" y="2560320"/>
            <a:ext cx="2103120" cy="731520"/>
          </a:xfrm>
          <a:prstGeom prst="roundRect">
            <a:avLst>
              <a:gd name="adj" fmla="val 7500"/>
            </a:avLst>
          </a:prstGeom>
          <a:solidFill>
            <a:srgbClr val="EAF2FB"/>
          </a:solidFill>
          <a:ln/>
        </p:spPr>
      </p:sp>
      <p:sp>
        <p:nvSpPr>
          <p:cNvPr id="29" name="Text 27"/>
          <p:cNvSpPr/>
          <p:nvPr/>
        </p:nvSpPr>
        <p:spPr>
          <a:xfrm>
            <a:off x="7379208" y="2679192"/>
            <a:ext cx="502920" cy="502920"/>
          </a:xfrm>
          <a:prstGeom prst="rect">
            <a:avLst/>
          </a:prstGeom>
          <a:noFill/>
          <a:ln/>
        </p:spPr>
        <p:txBody>
          <a:bodyPr wrap="square" lIns="0" tIns="0" rIns="0" bIns="0" rtlCol="0" anchor="ctr"/>
          <a:lstStyle/>
          <a:p>
            <a:pPr marL="0" indent="0" algn="ctr">
              <a:buNone/>
            </a:pPr>
            <a:r>
              <a:rPr lang="en-US" sz="1700" b="1" dirty="0">
                <a:solidFill>
                  <a:srgbClr val="0B5CAD"/>
                </a:solidFill>
                <a:latin typeface="Cambria" pitchFamily="34" charset="0"/>
                <a:ea typeface="Cambria" pitchFamily="34" charset="-122"/>
                <a:cs typeface="Cambria" pitchFamily="34" charset="-120"/>
              </a:rPr>
              <a:t>8</a:t>
            </a:r>
            <a:endParaRPr lang="en-US" sz="1700" dirty="0"/>
          </a:p>
        </p:txBody>
      </p:sp>
      <p:sp>
        <p:nvSpPr>
          <p:cNvPr id="30" name="Text 28"/>
          <p:cNvSpPr/>
          <p:nvPr/>
        </p:nvSpPr>
        <p:spPr>
          <a:xfrm>
            <a:off x="7927848" y="2560320"/>
            <a:ext cx="1371600" cy="731520"/>
          </a:xfrm>
          <a:prstGeom prst="rect">
            <a:avLst/>
          </a:prstGeom>
          <a:noFill/>
          <a:ln/>
        </p:spPr>
        <p:txBody>
          <a:bodyPr wrap="square" lIns="0" tIns="0" rIns="0" bIns="0" rtlCol="0" anchor="ctr"/>
          <a:lstStyle/>
          <a:p>
            <a:pPr marL="0" indent="0">
              <a:buNone/>
            </a:pPr>
            <a:r>
              <a:rPr lang="en-US" sz="1250" dirty="0">
                <a:solidFill>
                  <a:srgbClr val="1A2733"/>
                </a:solidFill>
                <a:latin typeface="Calibri" pitchFamily="34" charset="0"/>
                <a:ea typeface="Calibri" pitchFamily="34" charset="-122"/>
                <a:cs typeface="Calibri" pitchFamily="34" charset="-120"/>
              </a:rPr>
              <a:t>Bag</a:t>
            </a:r>
            <a:endParaRPr lang="en-US" sz="1250" dirty="0"/>
          </a:p>
        </p:txBody>
      </p:sp>
      <p:sp>
        <p:nvSpPr>
          <p:cNvPr id="31" name="Shape 29"/>
          <p:cNvSpPr/>
          <p:nvPr/>
        </p:nvSpPr>
        <p:spPr>
          <a:xfrm>
            <a:off x="9509760" y="2560320"/>
            <a:ext cx="2103120" cy="731520"/>
          </a:xfrm>
          <a:prstGeom prst="roundRect">
            <a:avLst>
              <a:gd name="adj" fmla="val 7500"/>
            </a:avLst>
          </a:prstGeom>
          <a:solidFill>
            <a:srgbClr val="EAF2FB"/>
          </a:solidFill>
          <a:ln/>
        </p:spPr>
      </p:sp>
      <p:sp>
        <p:nvSpPr>
          <p:cNvPr id="32" name="Text 30"/>
          <p:cNvSpPr/>
          <p:nvPr/>
        </p:nvSpPr>
        <p:spPr>
          <a:xfrm>
            <a:off x="9619488" y="2679192"/>
            <a:ext cx="502920" cy="502920"/>
          </a:xfrm>
          <a:prstGeom prst="rect">
            <a:avLst/>
          </a:prstGeom>
          <a:noFill/>
          <a:ln/>
        </p:spPr>
        <p:txBody>
          <a:bodyPr wrap="square" lIns="0" tIns="0" rIns="0" bIns="0" rtlCol="0" anchor="ctr"/>
          <a:lstStyle/>
          <a:p>
            <a:pPr marL="0" indent="0" algn="ctr">
              <a:buNone/>
            </a:pPr>
            <a:r>
              <a:rPr lang="en-US" sz="1700" b="1" dirty="0">
                <a:solidFill>
                  <a:srgbClr val="0B5CAD"/>
                </a:solidFill>
                <a:latin typeface="Cambria" pitchFamily="34" charset="0"/>
                <a:ea typeface="Cambria" pitchFamily="34" charset="-122"/>
                <a:cs typeface="Cambria" pitchFamily="34" charset="-120"/>
              </a:rPr>
              <a:t>9</a:t>
            </a:r>
            <a:endParaRPr lang="en-US" sz="1700" dirty="0"/>
          </a:p>
        </p:txBody>
      </p:sp>
      <p:sp>
        <p:nvSpPr>
          <p:cNvPr id="33" name="Text 31"/>
          <p:cNvSpPr/>
          <p:nvPr/>
        </p:nvSpPr>
        <p:spPr>
          <a:xfrm>
            <a:off x="10168128" y="2560320"/>
            <a:ext cx="1371600" cy="731520"/>
          </a:xfrm>
          <a:prstGeom prst="rect">
            <a:avLst/>
          </a:prstGeom>
          <a:noFill/>
          <a:ln/>
        </p:spPr>
        <p:txBody>
          <a:bodyPr wrap="square" lIns="0" tIns="0" rIns="0" bIns="0" rtlCol="0" anchor="ctr"/>
          <a:lstStyle/>
          <a:p>
            <a:pPr marL="0" indent="0">
              <a:buNone/>
            </a:pPr>
            <a:r>
              <a:rPr lang="en-US" sz="1250" dirty="0">
                <a:solidFill>
                  <a:srgbClr val="1A2733"/>
                </a:solidFill>
                <a:latin typeface="Calibri" pitchFamily="34" charset="0"/>
                <a:ea typeface="Calibri" pitchFamily="34" charset="-122"/>
                <a:cs typeface="Calibri" pitchFamily="34" charset="-120"/>
              </a:rPr>
              <a:t>Ankle boot</a:t>
            </a:r>
            <a:endParaRPr lang="en-US" sz="1250" dirty="0"/>
          </a:p>
        </p:txBody>
      </p:sp>
      <p:sp>
        <p:nvSpPr>
          <p:cNvPr id="34" name="Shape 32"/>
          <p:cNvSpPr/>
          <p:nvPr/>
        </p:nvSpPr>
        <p:spPr>
          <a:xfrm>
            <a:off x="548640" y="3611880"/>
            <a:ext cx="11091672" cy="960120"/>
          </a:xfrm>
          <a:prstGeom prst="roundRect">
            <a:avLst>
              <a:gd name="adj" fmla="val 7619"/>
            </a:avLst>
          </a:prstGeom>
          <a:solidFill>
            <a:srgbClr val="F5F8FB"/>
          </a:solidFill>
          <a:ln w="12700">
            <a:solidFill>
              <a:srgbClr val="DDE5EC"/>
            </a:solidFill>
            <a:prstDash val="solid"/>
          </a:ln>
        </p:spPr>
      </p:sp>
      <p:sp>
        <p:nvSpPr>
          <p:cNvPr id="35" name="Text 33"/>
          <p:cNvSpPr/>
          <p:nvPr/>
        </p:nvSpPr>
        <p:spPr>
          <a:xfrm>
            <a:off x="868680" y="3767328"/>
            <a:ext cx="10424160" cy="685800"/>
          </a:xfrm>
          <a:prstGeom prst="rect">
            <a:avLst/>
          </a:prstGeom>
          <a:noFill/>
          <a:ln/>
        </p:spPr>
        <p:txBody>
          <a:bodyPr wrap="square" lIns="0" tIns="0" rIns="0" bIns="0" rtlCol="0" anchor="ctr"/>
          <a:lstStyle/>
          <a:p>
            <a:pPr marL="0" indent="0">
              <a:buNone/>
            </a:pPr>
            <a:r>
              <a:rPr lang="en-US" sz="1450" b="1" dirty="0">
                <a:solidFill>
                  <a:srgbClr val="0B5CAD"/>
                </a:solidFill>
                <a:latin typeface="Calibri" pitchFamily="34" charset="0"/>
                <a:ea typeface="Calibri" pitchFamily="34" charset="-122"/>
                <a:cs typeface="Calibri" pitchFamily="34" charset="-120"/>
              </a:rPr>
              <a:t>60,000 </a:t>
            </a:r>
            <a:r>
              <a:rPr lang="en-US" sz="1450" dirty="0">
                <a:solidFill>
                  <a:srgbClr val="1A2733"/>
                </a:solidFill>
                <a:latin typeface="Calibri" pitchFamily="34" charset="0"/>
                <a:ea typeface="Calibri" pitchFamily="34" charset="-122"/>
                <a:cs typeface="Calibri" pitchFamily="34" charset="-120"/>
              </a:rPr>
              <a:t>images to train on, </a:t>
            </a:r>
            <a:r>
              <a:rPr lang="en-US" sz="1450" b="1" dirty="0">
                <a:solidFill>
                  <a:srgbClr val="0B5CAD"/>
                </a:solidFill>
                <a:latin typeface="Calibri" pitchFamily="34" charset="0"/>
                <a:ea typeface="Calibri" pitchFamily="34" charset="-122"/>
                <a:cs typeface="Calibri" pitchFamily="34" charset="-120"/>
              </a:rPr>
              <a:t>10,000 </a:t>
            </a:r>
            <a:r>
              <a:rPr lang="en-US" sz="1450" dirty="0">
                <a:solidFill>
                  <a:srgbClr val="1A2733"/>
                </a:solidFill>
                <a:latin typeface="Calibri" pitchFamily="34" charset="0"/>
                <a:ea typeface="Calibri" pitchFamily="34" charset="-122"/>
                <a:cs typeface="Calibri" pitchFamily="34" charset="-120"/>
              </a:rPr>
              <a:t>held back to test on. Each is 28×28 grayscale, one of 10 classes. Balanced, small, and hard enough to be interesting.</a:t>
            </a:r>
            <a:endParaRPr lang="en-US" sz="1450" dirty="0"/>
          </a:p>
        </p:txBody>
      </p:sp>
      <p:sp>
        <p:nvSpPr>
          <p:cNvPr id="36" name="Text 34"/>
          <p:cNvSpPr/>
          <p:nvPr/>
        </p:nvSpPr>
        <p:spPr>
          <a:xfrm>
            <a:off x="548640" y="4754880"/>
            <a:ext cx="11064240" cy="640080"/>
          </a:xfrm>
          <a:prstGeom prst="rect">
            <a:avLst/>
          </a:prstGeom>
          <a:noFill/>
          <a:ln/>
        </p:spPr>
        <p:txBody>
          <a:bodyPr wrap="square" lIns="0" tIns="0" rIns="0" bIns="0" rtlCol="0" anchor="ctr"/>
          <a:lstStyle/>
          <a:p>
            <a:pPr marL="0" indent="0">
              <a:buNone/>
            </a:pPr>
            <a:r>
              <a:rPr lang="en-US" sz="1350" i="1" dirty="0">
                <a:solidFill>
                  <a:srgbClr val="0B5CAD"/>
                </a:solidFill>
                <a:latin typeface="Calibri" pitchFamily="34" charset="0"/>
                <a:ea typeface="Calibri" pitchFamily="34" charset="-122"/>
                <a:cs typeface="Calibri" pitchFamily="34" charset="-120"/>
              </a:rPr>
              <a:t>Why hold 10,000 back? To check the network learned the idea of “shirt,” not just memorized these exact photos. That test set is how we catch overfitting.</a:t>
            </a:r>
            <a:endParaRPr lang="en-US" sz="1350" dirty="0"/>
          </a:p>
        </p:txBody>
      </p:sp>
      <p:sp>
        <p:nvSpPr>
          <p:cNvPr id="37" name="Text 35"/>
          <p:cNvSpPr/>
          <p:nvPr/>
        </p:nvSpPr>
        <p:spPr>
          <a:xfrm>
            <a:off x="548640" y="6473952"/>
            <a:ext cx="11091672" cy="274320"/>
          </a:xfrm>
          <a:prstGeom prst="rect">
            <a:avLst/>
          </a:prstGeom>
          <a:noFill/>
          <a:ln/>
        </p:spPr>
        <p:txBody>
          <a:bodyPr wrap="square" lIns="0" tIns="0" rIns="0" bIns="0" rtlCol="0" anchor="ctr"/>
          <a:lstStyle/>
          <a:p>
            <a:pPr marL="0" indent="0">
              <a:buNone/>
            </a:pPr>
            <a:r>
              <a:rPr lang="en-US" sz="900" dirty="0">
                <a:solidFill>
                  <a:srgbClr val="5B6470"/>
                </a:solidFill>
                <a:latin typeface="Calibri" pitchFamily="34" charset="0"/>
                <a:ea typeface="Calibri" pitchFamily="34" charset="-122"/>
                <a:cs typeface="Calibri" pitchFamily="34" charset="-120"/>
              </a:rPr>
              <a:t>Digital Communication &amp; Emerging Technologies · NCCU ISS 2026 · Day 2  |  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48640" y="292608"/>
            <a:ext cx="11091672" cy="658368"/>
          </a:xfrm>
          <a:prstGeom prst="rect">
            <a:avLst/>
          </a:prstGeom>
          <a:noFill/>
          <a:ln/>
        </p:spPr>
        <p:txBody>
          <a:bodyPr wrap="square" lIns="0" tIns="0" rIns="0" bIns="0" rtlCol="0" anchor="ctr"/>
          <a:lstStyle/>
          <a:p>
            <a:pPr marL="0" indent="0">
              <a:buNone/>
            </a:pPr>
            <a:r>
              <a:rPr lang="en-US" sz="3100" b="1" dirty="0">
                <a:solidFill>
                  <a:srgbClr val="1A2733"/>
                </a:solidFill>
                <a:latin typeface="Cambria" pitchFamily="34" charset="0"/>
                <a:ea typeface="Cambria" pitchFamily="34" charset="-122"/>
                <a:cs typeface="Cambria" pitchFamily="34" charset="-120"/>
              </a:rPr>
              <a:t>Poll: your model scores 99% on training photos</a:t>
            </a:r>
            <a:endParaRPr lang="en-US" sz="3100" dirty="0"/>
          </a:p>
        </p:txBody>
      </p:sp>
      <p:sp>
        <p:nvSpPr>
          <p:cNvPr id="3" name="Text 1"/>
          <p:cNvSpPr/>
          <p:nvPr/>
        </p:nvSpPr>
        <p:spPr>
          <a:xfrm>
            <a:off x="548640" y="896112"/>
            <a:ext cx="11091672" cy="365760"/>
          </a:xfrm>
          <a:prstGeom prst="rect">
            <a:avLst/>
          </a:prstGeom>
          <a:noFill/>
          <a:ln/>
        </p:spPr>
        <p:txBody>
          <a:bodyPr wrap="square" lIns="0" tIns="0" rIns="0" bIns="0" rtlCol="0" anchor="ctr"/>
          <a:lstStyle/>
          <a:p>
            <a:pPr marL="0" indent="0">
              <a:buNone/>
            </a:pPr>
            <a:r>
              <a:rPr lang="en-US" sz="1500" i="1" dirty="0">
                <a:solidFill>
                  <a:srgbClr val="5B6470"/>
                </a:solidFill>
                <a:latin typeface="Calibri" pitchFamily="34" charset="0"/>
                <a:ea typeface="Calibri" pitchFamily="34" charset="-122"/>
                <a:cs typeface="Calibri" pitchFamily="34" charset="-120"/>
              </a:rPr>
              <a:t>… but only 84% on new photos it hasn't seen. What's happening?</a:t>
            </a:r>
            <a:endParaRPr lang="en-US" sz="1500" dirty="0"/>
          </a:p>
        </p:txBody>
      </p:sp>
      <p:sp>
        <p:nvSpPr>
          <p:cNvPr id="4" name="Shape 2"/>
          <p:cNvSpPr/>
          <p:nvPr/>
        </p:nvSpPr>
        <p:spPr>
          <a:xfrm>
            <a:off x="10058400" y="457200"/>
            <a:ext cx="1554480" cy="310896"/>
          </a:xfrm>
          <a:prstGeom prst="roundRect">
            <a:avLst>
              <a:gd name="adj" fmla="val 50000"/>
            </a:avLst>
          </a:prstGeom>
          <a:solidFill>
            <a:srgbClr val="3FB984"/>
          </a:solidFill>
          <a:ln/>
        </p:spPr>
      </p:sp>
      <p:sp>
        <p:nvSpPr>
          <p:cNvPr id="5" name="Text 3"/>
          <p:cNvSpPr/>
          <p:nvPr/>
        </p:nvSpPr>
        <p:spPr>
          <a:xfrm>
            <a:off x="10058400" y="457200"/>
            <a:ext cx="155448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Zuvio poll</a:t>
            </a:r>
            <a:endParaRPr lang="en-US" sz="1100" dirty="0"/>
          </a:p>
        </p:txBody>
      </p:sp>
      <p:sp>
        <p:nvSpPr>
          <p:cNvPr id="6" name="Shape 4"/>
          <p:cNvSpPr/>
          <p:nvPr/>
        </p:nvSpPr>
        <p:spPr>
          <a:xfrm>
            <a:off x="1463040" y="1965960"/>
            <a:ext cx="9235440" cy="841248"/>
          </a:xfrm>
          <a:prstGeom prst="roundRect">
            <a:avLst>
              <a:gd name="adj" fmla="val 8696"/>
            </a:avLst>
          </a:prstGeom>
          <a:solidFill>
            <a:srgbClr val="F5F8FB"/>
          </a:solidFill>
          <a:ln w="12700">
            <a:solidFill>
              <a:srgbClr val="DDE5EC"/>
            </a:solidFill>
            <a:prstDash val="solid"/>
          </a:ln>
        </p:spPr>
      </p:sp>
      <p:sp>
        <p:nvSpPr>
          <p:cNvPr id="7" name="Shape 5"/>
          <p:cNvSpPr/>
          <p:nvPr/>
        </p:nvSpPr>
        <p:spPr>
          <a:xfrm>
            <a:off x="1691640" y="2157984"/>
            <a:ext cx="457200" cy="457200"/>
          </a:xfrm>
          <a:prstGeom prst="ellipse">
            <a:avLst/>
          </a:prstGeom>
          <a:solidFill>
            <a:srgbClr val="0B5CAD"/>
          </a:solidFill>
          <a:ln/>
        </p:spPr>
      </p:sp>
      <p:sp>
        <p:nvSpPr>
          <p:cNvPr id="8" name="Text 6"/>
          <p:cNvSpPr/>
          <p:nvPr/>
        </p:nvSpPr>
        <p:spPr>
          <a:xfrm>
            <a:off x="1691640" y="215798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9" name="Text 7"/>
          <p:cNvSpPr/>
          <p:nvPr/>
        </p:nvSpPr>
        <p:spPr>
          <a:xfrm>
            <a:off x="2377440" y="1965960"/>
            <a:ext cx="8138160" cy="841248"/>
          </a:xfrm>
          <a:prstGeom prst="rect">
            <a:avLst/>
          </a:prstGeom>
          <a:noFill/>
          <a:ln/>
        </p:spPr>
        <p:txBody>
          <a:bodyPr wrap="square" lIns="0" tIns="0" rIns="0" bIns="0" rtlCol="0" anchor="ctr"/>
          <a:lstStyle/>
          <a:p>
            <a:pPr marL="0" indent="0">
              <a:buNone/>
            </a:pPr>
            <a:r>
              <a:rPr lang="en-US" sz="1500" dirty="0">
                <a:solidFill>
                  <a:srgbClr val="1A2733"/>
                </a:solidFill>
                <a:latin typeface="Calibri" pitchFamily="34" charset="0"/>
                <a:ea typeface="Calibri" pitchFamily="34" charset="-122"/>
                <a:cs typeface="Calibri" pitchFamily="34" charset="-120"/>
              </a:rPr>
              <a:t>Great — 99% means it learned really well</a:t>
            </a:r>
            <a:endParaRPr lang="en-US" sz="1500" dirty="0"/>
          </a:p>
        </p:txBody>
      </p:sp>
      <p:sp>
        <p:nvSpPr>
          <p:cNvPr id="10" name="Shape 8"/>
          <p:cNvSpPr/>
          <p:nvPr/>
        </p:nvSpPr>
        <p:spPr>
          <a:xfrm>
            <a:off x="1463040" y="2926080"/>
            <a:ext cx="9235440" cy="841248"/>
          </a:xfrm>
          <a:prstGeom prst="roundRect">
            <a:avLst>
              <a:gd name="adj" fmla="val 8696"/>
            </a:avLst>
          </a:prstGeom>
          <a:solidFill>
            <a:srgbClr val="F5F8FB"/>
          </a:solidFill>
          <a:ln w="12700">
            <a:solidFill>
              <a:srgbClr val="DDE5EC"/>
            </a:solidFill>
            <a:prstDash val="solid"/>
          </a:ln>
        </p:spPr>
      </p:sp>
      <p:sp>
        <p:nvSpPr>
          <p:cNvPr id="11" name="Shape 9"/>
          <p:cNvSpPr/>
          <p:nvPr/>
        </p:nvSpPr>
        <p:spPr>
          <a:xfrm>
            <a:off x="1691640" y="3118104"/>
            <a:ext cx="457200" cy="457200"/>
          </a:xfrm>
          <a:prstGeom prst="ellipse">
            <a:avLst/>
          </a:prstGeom>
          <a:solidFill>
            <a:srgbClr val="0B5CAD"/>
          </a:solidFill>
          <a:ln/>
        </p:spPr>
      </p:sp>
      <p:sp>
        <p:nvSpPr>
          <p:cNvPr id="12" name="Text 10"/>
          <p:cNvSpPr/>
          <p:nvPr/>
        </p:nvSpPr>
        <p:spPr>
          <a:xfrm>
            <a:off x="1691640" y="311810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3" name="Text 11"/>
          <p:cNvSpPr/>
          <p:nvPr/>
        </p:nvSpPr>
        <p:spPr>
          <a:xfrm>
            <a:off x="2377440" y="2926080"/>
            <a:ext cx="8138160" cy="841248"/>
          </a:xfrm>
          <a:prstGeom prst="rect">
            <a:avLst/>
          </a:prstGeom>
          <a:noFill/>
          <a:ln/>
        </p:spPr>
        <p:txBody>
          <a:bodyPr wrap="square" lIns="0" tIns="0" rIns="0" bIns="0" rtlCol="0" anchor="ctr"/>
          <a:lstStyle/>
          <a:p>
            <a:pPr marL="0" indent="0">
              <a:buNone/>
            </a:pPr>
            <a:r>
              <a:rPr lang="en-US" sz="1500" dirty="0">
                <a:solidFill>
                  <a:srgbClr val="1A2733"/>
                </a:solidFill>
                <a:latin typeface="Calibri" pitchFamily="34" charset="0"/>
                <a:ea typeface="Calibri" pitchFamily="34" charset="-122"/>
                <a:cs typeface="Calibri" pitchFamily="34" charset="-120"/>
              </a:rPr>
              <a:t>It memorized the training photos instead of learning the general idea</a:t>
            </a:r>
            <a:endParaRPr lang="en-US" sz="1500" dirty="0"/>
          </a:p>
        </p:txBody>
      </p:sp>
      <p:sp>
        <p:nvSpPr>
          <p:cNvPr id="14" name="Shape 12"/>
          <p:cNvSpPr/>
          <p:nvPr/>
        </p:nvSpPr>
        <p:spPr>
          <a:xfrm>
            <a:off x="1463040" y="3886200"/>
            <a:ext cx="9235440" cy="841248"/>
          </a:xfrm>
          <a:prstGeom prst="roundRect">
            <a:avLst>
              <a:gd name="adj" fmla="val 8696"/>
            </a:avLst>
          </a:prstGeom>
          <a:solidFill>
            <a:srgbClr val="F5F8FB"/>
          </a:solidFill>
          <a:ln w="12700">
            <a:solidFill>
              <a:srgbClr val="DDE5EC"/>
            </a:solidFill>
            <a:prstDash val="solid"/>
          </a:ln>
        </p:spPr>
      </p:sp>
      <p:sp>
        <p:nvSpPr>
          <p:cNvPr id="15" name="Shape 13"/>
          <p:cNvSpPr/>
          <p:nvPr/>
        </p:nvSpPr>
        <p:spPr>
          <a:xfrm>
            <a:off x="1691640" y="4078224"/>
            <a:ext cx="457200" cy="457200"/>
          </a:xfrm>
          <a:prstGeom prst="ellipse">
            <a:avLst/>
          </a:prstGeom>
          <a:solidFill>
            <a:srgbClr val="0B5CAD"/>
          </a:solidFill>
          <a:ln/>
        </p:spPr>
      </p:sp>
      <p:sp>
        <p:nvSpPr>
          <p:cNvPr id="16" name="Text 14"/>
          <p:cNvSpPr/>
          <p:nvPr/>
        </p:nvSpPr>
        <p:spPr>
          <a:xfrm>
            <a:off x="1691640" y="407822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7" name="Text 15"/>
          <p:cNvSpPr/>
          <p:nvPr/>
        </p:nvSpPr>
        <p:spPr>
          <a:xfrm>
            <a:off x="2377440" y="3886200"/>
            <a:ext cx="8138160" cy="841248"/>
          </a:xfrm>
          <a:prstGeom prst="rect">
            <a:avLst/>
          </a:prstGeom>
          <a:noFill/>
          <a:ln/>
        </p:spPr>
        <p:txBody>
          <a:bodyPr wrap="square" lIns="0" tIns="0" rIns="0" bIns="0" rtlCol="0" anchor="ctr"/>
          <a:lstStyle/>
          <a:p>
            <a:pPr marL="0" indent="0">
              <a:buNone/>
            </a:pPr>
            <a:r>
              <a:rPr lang="en-US" sz="1500" dirty="0">
                <a:solidFill>
                  <a:srgbClr val="1A2733"/>
                </a:solidFill>
                <a:latin typeface="Calibri" pitchFamily="34" charset="0"/>
                <a:ea typeface="Calibri" pitchFamily="34" charset="-122"/>
                <a:cs typeface="Calibri" pitchFamily="34" charset="-120"/>
              </a:rPr>
              <a:t>The new photos must be broken or mislabeled</a:t>
            </a:r>
            <a:endParaRPr lang="en-US" sz="1500" dirty="0"/>
          </a:p>
        </p:txBody>
      </p:sp>
      <p:sp>
        <p:nvSpPr>
          <p:cNvPr id="18" name="Shape 16"/>
          <p:cNvSpPr/>
          <p:nvPr/>
        </p:nvSpPr>
        <p:spPr>
          <a:xfrm>
            <a:off x="1463040" y="4846320"/>
            <a:ext cx="9235440" cy="841248"/>
          </a:xfrm>
          <a:prstGeom prst="roundRect">
            <a:avLst>
              <a:gd name="adj" fmla="val 8696"/>
            </a:avLst>
          </a:prstGeom>
          <a:solidFill>
            <a:srgbClr val="F5F8FB"/>
          </a:solidFill>
          <a:ln w="12700">
            <a:solidFill>
              <a:srgbClr val="DDE5EC"/>
            </a:solidFill>
            <a:prstDash val="solid"/>
          </a:ln>
        </p:spPr>
      </p:sp>
      <p:sp>
        <p:nvSpPr>
          <p:cNvPr id="19" name="Shape 17"/>
          <p:cNvSpPr/>
          <p:nvPr/>
        </p:nvSpPr>
        <p:spPr>
          <a:xfrm>
            <a:off x="1691640" y="5038344"/>
            <a:ext cx="457200" cy="457200"/>
          </a:xfrm>
          <a:prstGeom prst="ellipse">
            <a:avLst/>
          </a:prstGeom>
          <a:solidFill>
            <a:srgbClr val="0B5CAD"/>
          </a:solidFill>
          <a:ln/>
        </p:spPr>
      </p:sp>
      <p:sp>
        <p:nvSpPr>
          <p:cNvPr id="20" name="Text 18"/>
          <p:cNvSpPr/>
          <p:nvPr/>
        </p:nvSpPr>
        <p:spPr>
          <a:xfrm>
            <a:off x="1691640" y="503834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21" name="Text 19"/>
          <p:cNvSpPr/>
          <p:nvPr/>
        </p:nvSpPr>
        <p:spPr>
          <a:xfrm>
            <a:off x="2377440" y="4846320"/>
            <a:ext cx="8138160" cy="841248"/>
          </a:xfrm>
          <a:prstGeom prst="rect">
            <a:avLst/>
          </a:prstGeom>
          <a:noFill/>
          <a:ln/>
        </p:spPr>
        <p:txBody>
          <a:bodyPr wrap="square" lIns="0" tIns="0" rIns="0" bIns="0" rtlCol="0" anchor="ctr"/>
          <a:lstStyle/>
          <a:p>
            <a:pPr marL="0" indent="0">
              <a:buNone/>
            </a:pPr>
            <a:r>
              <a:rPr lang="en-US" sz="1500" dirty="0">
                <a:solidFill>
                  <a:srgbClr val="1A2733"/>
                </a:solidFill>
                <a:latin typeface="Calibri" pitchFamily="34" charset="0"/>
                <a:ea typeface="Calibri" pitchFamily="34" charset="-122"/>
                <a:cs typeface="Calibri" pitchFamily="34" charset="-120"/>
              </a:rPr>
              <a:t>It just needs to train even longer</a:t>
            </a:r>
            <a:endParaRPr lang="en-US" sz="1500" dirty="0"/>
          </a:p>
        </p:txBody>
      </p:sp>
      <p:sp>
        <p:nvSpPr>
          <p:cNvPr id="22" name="Text 20"/>
          <p:cNvSpPr/>
          <p:nvPr/>
        </p:nvSpPr>
        <p:spPr>
          <a:xfrm>
            <a:off x="548640" y="6473952"/>
            <a:ext cx="11091672" cy="274320"/>
          </a:xfrm>
          <a:prstGeom prst="rect">
            <a:avLst/>
          </a:prstGeom>
          <a:noFill/>
          <a:ln/>
        </p:spPr>
        <p:txBody>
          <a:bodyPr wrap="square" lIns="0" tIns="0" rIns="0" bIns="0" rtlCol="0" anchor="ctr"/>
          <a:lstStyle/>
          <a:p>
            <a:pPr marL="0" indent="0">
              <a:buNone/>
            </a:pPr>
            <a:r>
              <a:rPr lang="en-US" sz="900" dirty="0">
                <a:solidFill>
                  <a:srgbClr val="5B6470"/>
                </a:solidFill>
                <a:latin typeface="Calibri" pitchFamily="34" charset="0"/>
                <a:ea typeface="Calibri" pitchFamily="34" charset="-122"/>
                <a:cs typeface="Calibri" pitchFamily="34" charset="-120"/>
              </a:rPr>
              <a:t>Digital Communication &amp; Emerging Technologies · NCCU ISS 2026 · Day 2  |  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48640" y="292608"/>
            <a:ext cx="11091672" cy="658368"/>
          </a:xfrm>
          <a:prstGeom prst="rect">
            <a:avLst/>
          </a:prstGeom>
          <a:noFill/>
          <a:ln/>
        </p:spPr>
        <p:txBody>
          <a:bodyPr wrap="square" lIns="0" tIns="0" rIns="0" bIns="0" rtlCol="0" anchor="ctr"/>
          <a:lstStyle/>
          <a:p>
            <a:pPr marL="0" indent="0">
              <a:buNone/>
            </a:pPr>
            <a:r>
              <a:rPr lang="en-US" sz="3100" b="1" dirty="0">
                <a:solidFill>
                  <a:srgbClr val="1A2733"/>
                </a:solidFill>
                <a:latin typeface="Cambria" pitchFamily="34" charset="0"/>
                <a:ea typeface="Cambria" pitchFamily="34" charset="-122"/>
                <a:cs typeface="Cambria" pitchFamily="34" charset="-120"/>
              </a:rPr>
              <a:t>The answer: B — overfitting</a:t>
            </a:r>
            <a:endParaRPr lang="en-US" sz="3100" dirty="0"/>
          </a:p>
        </p:txBody>
      </p:sp>
      <p:sp>
        <p:nvSpPr>
          <p:cNvPr id="3" name="Text 1"/>
          <p:cNvSpPr/>
          <p:nvPr/>
        </p:nvSpPr>
        <p:spPr>
          <a:xfrm>
            <a:off x="548640" y="896112"/>
            <a:ext cx="11091672" cy="365760"/>
          </a:xfrm>
          <a:prstGeom prst="rect">
            <a:avLst/>
          </a:prstGeom>
          <a:noFill/>
          <a:ln/>
        </p:spPr>
        <p:txBody>
          <a:bodyPr wrap="square" lIns="0" tIns="0" rIns="0" bIns="0" rtlCol="0" anchor="ctr"/>
          <a:lstStyle/>
          <a:p>
            <a:pPr marL="0" indent="0">
              <a:buNone/>
            </a:pPr>
            <a:r>
              <a:rPr lang="en-US" sz="1500" i="1" dirty="0">
                <a:solidFill>
                  <a:srgbClr val="5B6470"/>
                </a:solidFill>
                <a:latin typeface="Calibri" pitchFamily="34" charset="0"/>
                <a:ea typeface="Calibri" pitchFamily="34" charset="-122"/>
                <a:cs typeface="Calibri" pitchFamily="34" charset="-120"/>
              </a:rPr>
              <a:t>When a model memorizes instead of learning</a:t>
            </a:r>
            <a:endParaRPr lang="en-US" sz="1500" dirty="0"/>
          </a:p>
        </p:txBody>
      </p:sp>
      <p:graphicFrame>
        <p:nvGraphicFramePr>
          <p:cNvPr id="4" name="Chart 0"/>
          <p:cNvGraphicFramePr/>
          <p:nvPr/>
        </p:nvGraphicFramePr>
        <p:xfrm>
          <a:off x="548640" y="1600200"/>
          <a:ext cx="603504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858000" y="1600200"/>
            <a:ext cx="4782312" cy="3657600"/>
          </a:xfrm>
          <a:prstGeom prst="roundRect">
            <a:avLst>
              <a:gd name="adj" fmla="val 2000"/>
            </a:avLst>
          </a:prstGeom>
          <a:solidFill>
            <a:srgbClr val="EAF2FB"/>
          </a:solidFill>
          <a:ln/>
        </p:spPr>
      </p:sp>
      <p:sp>
        <p:nvSpPr>
          <p:cNvPr id="6" name="Text 3"/>
          <p:cNvSpPr/>
          <p:nvPr/>
        </p:nvSpPr>
        <p:spPr>
          <a:xfrm>
            <a:off x="7132320" y="1828800"/>
            <a:ext cx="4251960" cy="3291840"/>
          </a:xfrm>
          <a:prstGeom prst="rect">
            <a:avLst/>
          </a:prstGeom>
          <a:noFill/>
          <a:ln/>
        </p:spPr>
        <p:txBody>
          <a:bodyPr wrap="square" lIns="0" tIns="0" rIns="0" bIns="0" rtlCol="0" anchor="t"/>
          <a:lstStyle/>
          <a:p>
            <a:pPr marL="0" indent="0">
              <a:buNone/>
            </a:pPr>
            <a:r>
              <a:rPr lang="en-US" sz="1600" b="1" dirty="0">
                <a:solidFill>
                  <a:srgbClr val="0B5CAD"/>
                </a:solidFill>
                <a:latin typeface="Calibri" pitchFamily="34" charset="0"/>
                <a:ea typeface="Calibri" pitchFamily="34" charset="-122"/>
                <a:cs typeface="Calibri" pitchFamily="34" charset="-120"/>
              </a:rPr>
              <a:t>Watch the gap.
</a:t>
            </a:r>
            <a:r>
              <a:rPr lang="en-US" sz="1350" dirty="0">
                <a:solidFill>
                  <a:srgbClr val="1A2733"/>
                </a:solidFill>
                <a:latin typeface="Calibri" pitchFamily="34" charset="0"/>
                <a:ea typeface="Calibri" pitchFamily="34" charset="-122"/>
                <a:cs typeface="Calibri" pitchFamily="34" charset="-120"/>
              </a:rPr>
              <a:t>Training accuracy keeps climbing — the model is getting better at the photos it has already seen.
But validation accuracy (new photos) stalls, then drops. The model is memorizing, not generalizing.
</a:t>
            </a:r>
            <a:r>
              <a:rPr lang="en-US" sz="1350" i="1" dirty="0">
                <a:solidFill>
                  <a:srgbClr val="B87614"/>
                </a:solidFill>
                <a:latin typeface="Calibri" pitchFamily="34" charset="0"/>
                <a:ea typeface="Calibri" pitchFamily="34" charset="-122"/>
                <a:cs typeface="Calibri" pitchFamily="34" charset="-120"/>
              </a:rPr>
              <a:t>That growing gap is overfitting — the same thing you saw on Spiral yesterday.</a:t>
            </a:r>
            <a:endParaRPr lang="en-US" sz="1600" dirty="0"/>
          </a:p>
        </p:txBody>
      </p:sp>
      <p:sp>
        <p:nvSpPr>
          <p:cNvPr id="7" name="Text 4"/>
          <p:cNvSpPr/>
          <p:nvPr/>
        </p:nvSpPr>
        <p:spPr>
          <a:xfrm>
            <a:off x="548640" y="6473952"/>
            <a:ext cx="11091672" cy="274320"/>
          </a:xfrm>
          <a:prstGeom prst="rect">
            <a:avLst/>
          </a:prstGeom>
          <a:noFill/>
          <a:ln/>
        </p:spPr>
        <p:txBody>
          <a:bodyPr wrap="square" lIns="0" tIns="0" rIns="0" bIns="0" rtlCol="0" anchor="ctr"/>
          <a:lstStyle/>
          <a:p>
            <a:pPr marL="0" indent="0">
              <a:buNone/>
            </a:pPr>
            <a:r>
              <a:rPr lang="en-US" sz="900" dirty="0">
                <a:solidFill>
                  <a:srgbClr val="5B6470"/>
                </a:solidFill>
                <a:latin typeface="Calibri" pitchFamily="34" charset="0"/>
                <a:ea typeface="Calibri" pitchFamily="34" charset="-122"/>
                <a:cs typeface="Calibri" pitchFamily="34" charset="-120"/>
              </a:rPr>
              <a:t>Digital Communication &amp; Emerging Technologies · NCCU ISS 2026 · Day 2  |  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48640" y="292608"/>
            <a:ext cx="11091672" cy="658368"/>
          </a:xfrm>
          <a:prstGeom prst="rect">
            <a:avLst/>
          </a:prstGeom>
          <a:noFill/>
          <a:ln/>
        </p:spPr>
        <p:txBody>
          <a:bodyPr wrap="square" lIns="0" tIns="0" rIns="0" bIns="0" rtlCol="0" anchor="ctr"/>
          <a:lstStyle/>
          <a:p>
            <a:pPr marL="0" indent="0">
              <a:buNone/>
            </a:pPr>
            <a:r>
              <a:rPr lang="en-US" sz="3100" b="1" dirty="0">
                <a:solidFill>
                  <a:srgbClr val="1A2733"/>
                </a:solidFill>
                <a:latin typeface="Cambria" pitchFamily="34" charset="0"/>
                <a:ea typeface="Cambria" pitchFamily="34" charset="-122"/>
                <a:cs typeface="Cambria" pitchFamily="34" charset="-120"/>
              </a:rPr>
              <a:t>Three ways to fight overfitting</a:t>
            </a:r>
            <a:endParaRPr lang="en-US" sz="3100" dirty="0"/>
          </a:p>
        </p:txBody>
      </p:sp>
      <p:sp>
        <p:nvSpPr>
          <p:cNvPr id="3" name="Text 1"/>
          <p:cNvSpPr/>
          <p:nvPr/>
        </p:nvSpPr>
        <p:spPr>
          <a:xfrm>
            <a:off x="548640" y="896112"/>
            <a:ext cx="11091672" cy="365760"/>
          </a:xfrm>
          <a:prstGeom prst="rect">
            <a:avLst/>
          </a:prstGeom>
          <a:noFill/>
          <a:ln/>
        </p:spPr>
        <p:txBody>
          <a:bodyPr wrap="square" lIns="0" tIns="0" rIns="0" bIns="0" rtlCol="0" anchor="ctr"/>
          <a:lstStyle/>
          <a:p>
            <a:pPr marL="0" indent="0">
              <a:buNone/>
            </a:pPr>
            <a:r>
              <a:rPr lang="en-US" sz="1500" i="1" dirty="0">
                <a:solidFill>
                  <a:srgbClr val="5B6470"/>
                </a:solidFill>
                <a:latin typeface="Calibri" pitchFamily="34" charset="0"/>
                <a:ea typeface="Calibri" pitchFamily="34" charset="-122"/>
                <a:cs typeface="Calibri" pitchFamily="34" charset="-120"/>
              </a:rPr>
              <a:t>You'll use the first two in today's lab</a:t>
            </a:r>
            <a:endParaRPr lang="en-US" sz="1500" dirty="0"/>
          </a:p>
        </p:txBody>
      </p:sp>
      <p:sp>
        <p:nvSpPr>
          <p:cNvPr id="4" name="Shape 2"/>
          <p:cNvSpPr/>
          <p:nvPr/>
        </p:nvSpPr>
        <p:spPr>
          <a:xfrm>
            <a:off x="548640" y="1737360"/>
            <a:ext cx="3575304" cy="2834640"/>
          </a:xfrm>
          <a:prstGeom prst="roundRect">
            <a:avLst>
              <a:gd name="adj" fmla="val 2581"/>
            </a:avLst>
          </a:prstGeom>
          <a:solidFill>
            <a:srgbClr val="F5F8FB"/>
          </a:solidFill>
          <a:ln w="12700">
            <a:solidFill>
              <a:srgbClr val="DDE5EC"/>
            </a:solidFill>
            <a:prstDash val="solid"/>
          </a:ln>
        </p:spPr>
      </p:sp>
      <p:pic>
        <p:nvPicPr>
          <p:cNvPr id="5" name="Image 0" descr="preencoded.png"/>
          <p:cNvPicPr>
            <a:picLocks noChangeAspect="1"/>
          </p:cNvPicPr>
          <p:nvPr/>
        </p:nvPicPr>
        <p:blipFill>
          <a:blip r:embed="rId3"/>
          <a:stretch>
            <a:fillRect/>
          </a:stretch>
        </p:blipFill>
        <p:spPr>
          <a:xfrm>
            <a:off x="822960" y="1965960"/>
            <a:ext cx="457200" cy="457200"/>
          </a:xfrm>
          <a:prstGeom prst="rect">
            <a:avLst/>
          </a:prstGeom>
        </p:spPr>
      </p:pic>
      <p:sp>
        <p:nvSpPr>
          <p:cNvPr id="6" name="Text 3"/>
          <p:cNvSpPr/>
          <p:nvPr/>
        </p:nvSpPr>
        <p:spPr>
          <a:xfrm>
            <a:off x="822960" y="2560320"/>
            <a:ext cx="3017520" cy="1828800"/>
          </a:xfrm>
          <a:prstGeom prst="rect">
            <a:avLst/>
          </a:prstGeom>
          <a:noFill/>
          <a:ln/>
        </p:spPr>
        <p:txBody>
          <a:bodyPr wrap="square" lIns="0" tIns="0" rIns="0" bIns="0" rtlCol="0" anchor="ctr"/>
          <a:lstStyle/>
          <a:p>
            <a:pPr marL="0" indent="0">
              <a:buNone/>
            </a:pPr>
            <a:r>
              <a:rPr lang="en-US" sz="1600" b="1" dirty="0">
                <a:solidFill>
                  <a:srgbClr val="0B5CAD"/>
                </a:solidFill>
                <a:latin typeface="Calibri" pitchFamily="34" charset="0"/>
                <a:ea typeface="Calibri" pitchFamily="34" charset="-122"/>
                <a:cs typeface="Calibri" pitchFamily="34" charset="-120"/>
              </a:rPr>
              <a:t>More / varied data
</a:t>
            </a:r>
            <a:r>
              <a:rPr lang="en-US" sz="1300" dirty="0">
                <a:solidFill>
                  <a:srgbClr val="1A2733"/>
                </a:solidFill>
                <a:latin typeface="Calibri" pitchFamily="34" charset="0"/>
                <a:ea typeface="Calibri" pitchFamily="34" charset="-122"/>
                <a:cs typeface="Calibri" pitchFamily="34" charset="-120"/>
              </a:rPr>
              <a:t>The best cure. The more genuine variety the model sees, the harder it is to memorize.</a:t>
            </a:r>
            <a:endParaRPr lang="en-US" sz="1600" dirty="0"/>
          </a:p>
        </p:txBody>
      </p:sp>
      <p:sp>
        <p:nvSpPr>
          <p:cNvPr id="7" name="Shape 4"/>
          <p:cNvSpPr/>
          <p:nvPr/>
        </p:nvSpPr>
        <p:spPr>
          <a:xfrm>
            <a:off x="4306824" y="1737360"/>
            <a:ext cx="3575304" cy="2834640"/>
          </a:xfrm>
          <a:prstGeom prst="roundRect">
            <a:avLst>
              <a:gd name="adj" fmla="val 2581"/>
            </a:avLst>
          </a:prstGeom>
          <a:solidFill>
            <a:srgbClr val="F5F8FB"/>
          </a:solidFill>
          <a:ln w="12700">
            <a:solidFill>
              <a:srgbClr val="DDE5EC"/>
            </a:solidFill>
            <a:prstDash val="solid"/>
          </a:ln>
        </p:spPr>
      </p:sp>
      <p:pic>
        <p:nvPicPr>
          <p:cNvPr id="8" name="Image 1" descr="preencoded.png"/>
          <p:cNvPicPr>
            <a:picLocks noChangeAspect="1"/>
          </p:cNvPicPr>
          <p:nvPr/>
        </p:nvPicPr>
        <p:blipFill>
          <a:blip r:embed="rId4"/>
          <a:stretch>
            <a:fillRect/>
          </a:stretch>
        </p:blipFill>
        <p:spPr>
          <a:xfrm>
            <a:off x="4581144" y="1965960"/>
            <a:ext cx="457200" cy="457200"/>
          </a:xfrm>
          <a:prstGeom prst="rect">
            <a:avLst/>
          </a:prstGeom>
        </p:spPr>
      </p:pic>
      <p:sp>
        <p:nvSpPr>
          <p:cNvPr id="9" name="Text 5"/>
          <p:cNvSpPr/>
          <p:nvPr/>
        </p:nvSpPr>
        <p:spPr>
          <a:xfrm>
            <a:off x="4581144" y="2560320"/>
            <a:ext cx="3017520" cy="1828800"/>
          </a:xfrm>
          <a:prstGeom prst="rect">
            <a:avLst/>
          </a:prstGeom>
          <a:noFill/>
          <a:ln/>
        </p:spPr>
        <p:txBody>
          <a:bodyPr wrap="square" lIns="0" tIns="0" rIns="0" bIns="0" rtlCol="0" anchor="ctr"/>
          <a:lstStyle/>
          <a:p>
            <a:pPr marL="0" indent="0">
              <a:buNone/>
            </a:pPr>
            <a:r>
              <a:rPr lang="en-US" sz="1600" b="1" dirty="0">
                <a:solidFill>
                  <a:srgbClr val="0B5CAD"/>
                </a:solidFill>
                <a:latin typeface="Calibri" pitchFamily="34" charset="0"/>
                <a:ea typeface="Calibri" pitchFamily="34" charset="-122"/>
                <a:cs typeface="Calibri" pitchFamily="34" charset="-120"/>
              </a:rPr>
              <a:t>Data augmentation
</a:t>
            </a:r>
            <a:r>
              <a:rPr lang="en-US" sz="1300" dirty="0">
                <a:solidFill>
                  <a:srgbClr val="1A2733"/>
                </a:solidFill>
                <a:latin typeface="Calibri" pitchFamily="34" charset="0"/>
                <a:ea typeface="Calibri" pitchFamily="34" charset="-122"/>
                <a:cs typeface="Calibri" pitchFamily="34" charset="-120"/>
              </a:rPr>
              <a:t>Make new examples for free: flip, rotate, zoom, shift your images. One shirt becomes many.</a:t>
            </a:r>
            <a:endParaRPr lang="en-US" sz="1600" dirty="0"/>
          </a:p>
        </p:txBody>
      </p:sp>
      <p:sp>
        <p:nvSpPr>
          <p:cNvPr id="10" name="Shape 6"/>
          <p:cNvSpPr/>
          <p:nvPr/>
        </p:nvSpPr>
        <p:spPr>
          <a:xfrm>
            <a:off x="8065008" y="1737360"/>
            <a:ext cx="3575304" cy="2834640"/>
          </a:xfrm>
          <a:prstGeom prst="roundRect">
            <a:avLst>
              <a:gd name="adj" fmla="val 2581"/>
            </a:avLst>
          </a:prstGeom>
          <a:solidFill>
            <a:srgbClr val="F5F8FB"/>
          </a:solidFill>
          <a:ln w="12700">
            <a:solidFill>
              <a:srgbClr val="DDE5EC"/>
            </a:solidFill>
            <a:prstDash val="solid"/>
          </a:ln>
        </p:spPr>
      </p:sp>
      <p:pic>
        <p:nvPicPr>
          <p:cNvPr id="11" name="Image 2" descr="preencoded.png"/>
          <p:cNvPicPr>
            <a:picLocks noChangeAspect="1"/>
          </p:cNvPicPr>
          <p:nvPr/>
        </p:nvPicPr>
        <p:blipFill>
          <a:blip r:embed="rId5"/>
          <a:stretch>
            <a:fillRect/>
          </a:stretch>
        </p:blipFill>
        <p:spPr>
          <a:xfrm>
            <a:off x="8339328" y="1965960"/>
            <a:ext cx="457200" cy="457200"/>
          </a:xfrm>
          <a:prstGeom prst="rect">
            <a:avLst/>
          </a:prstGeom>
        </p:spPr>
      </p:pic>
      <p:sp>
        <p:nvSpPr>
          <p:cNvPr id="12" name="Text 7"/>
          <p:cNvSpPr/>
          <p:nvPr/>
        </p:nvSpPr>
        <p:spPr>
          <a:xfrm>
            <a:off x="8339328" y="2560320"/>
            <a:ext cx="3017520" cy="1828800"/>
          </a:xfrm>
          <a:prstGeom prst="rect">
            <a:avLst/>
          </a:prstGeom>
          <a:noFill/>
          <a:ln/>
        </p:spPr>
        <p:txBody>
          <a:bodyPr wrap="square" lIns="0" tIns="0" rIns="0" bIns="0" rtlCol="0" anchor="ctr"/>
          <a:lstStyle/>
          <a:p>
            <a:pPr marL="0" indent="0">
              <a:buNone/>
            </a:pPr>
            <a:r>
              <a:rPr lang="en-US" sz="1600" b="1" dirty="0">
                <a:solidFill>
                  <a:srgbClr val="0B5CAD"/>
                </a:solidFill>
                <a:latin typeface="Calibri" pitchFamily="34" charset="0"/>
                <a:ea typeface="Calibri" pitchFamily="34" charset="-122"/>
                <a:cs typeface="Calibri" pitchFamily="34" charset="-120"/>
              </a:rPr>
              <a:t>Dropout
</a:t>
            </a:r>
            <a:r>
              <a:rPr lang="en-US" sz="1300" dirty="0">
                <a:solidFill>
                  <a:srgbClr val="1A2733"/>
                </a:solidFill>
                <a:latin typeface="Calibri" pitchFamily="34" charset="0"/>
                <a:ea typeface="Calibri" pitchFamily="34" charset="-122"/>
                <a:cs typeface="Calibri" pitchFamily="34" charset="-120"/>
              </a:rPr>
              <a:t>During training, randomly switch off some neurons each round so the network can't over-rely on any one.</a:t>
            </a:r>
            <a:endParaRPr lang="en-US" sz="1600" dirty="0"/>
          </a:p>
        </p:txBody>
      </p:sp>
      <p:sp>
        <p:nvSpPr>
          <p:cNvPr id="13" name="Text 8"/>
          <p:cNvSpPr/>
          <p:nvPr/>
        </p:nvSpPr>
        <p:spPr>
          <a:xfrm>
            <a:off x="548640" y="4754880"/>
            <a:ext cx="11064240" cy="548640"/>
          </a:xfrm>
          <a:prstGeom prst="rect">
            <a:avLst/>
          </a:prstGeom>
          <a:noFill/>
          <a:ln/>
        </p:spPr>
        <p:txBody>
          <a:bodyPr wrap="square" lIns="0" tIns="0" rIns="0" bIns="0" rtlCol="0" anchor="ctr"/>
          <a:lstStyle/>
          <a:p>
            <a:pPr marL="0" indent="0">
              <a:buNone/>
            </a:pPr>
            <a:r>
              <a:rPr lang="en-US" sz="1400" i="1" dirty="0">
                <a:solidFill>
                  <a:srgbClr val="0B5CAD"/>
                </a:solidFill>
                <a:latin typeface="Calibri" pitchFamily="34" charset="0"/>
                <a:ea typeface="Calibri" pitchFamily="34" charset="-122"/>
                <a:cs typeface="Calibri" pitchFamily="34" charset="-120"/>
              </a:rPr>
              <a:t>The theme: don't let the model take shortcuts. Force it to learn the general shape of a shirt, not these exact 6,000 shirts.</a:t>
            </a:r>
            <a:endParaRPr lang="en-US" sz="1400" dirty="0"/>
          </a:p>
        </p:txBody>
      </p:sp>
      <p:sp>
        <p:nvSpPr>
          <p:cNvPr id="14" name="Text 9"/>
          <p:cNvSpPr/>
          <p:nvPr/>
        </p:nvSpPr>
        <p:spPr>
          <a:xfrm>
            <a:off x="548640" y="6473952"/>
            <a:ext cx="11091672" cy="274320"/>
          </a:xfrm>
          <a:prstGeom prst="rect">
            <a:avLst/>
          </a:prstGeom>
          <a:noFill/>
          <a:ln/>
        </p:spPr>
        <p:txBody>
          <a:bodyPr wrap="square" lIns="0" tIns="0" rIns="0" bIns="0" rtlCol="0" anchor="ctr"/>
          <a:lstStyle/>
          <a:p>
            <a:pPr marL="0" indent="0">
              <a:buNone/>
            </a:pPr>
            <a:r>
              <a:rPr lang="en-US" sz="900" dirty="0">
                <a:solidFill>
                  <a:srgbClr val="5B6470"/>
                </a:solidFill>
                <a:latin typeface="Calibri" pitchFamily="34" charset="0"/>
                <a:ea typeface="Calibri" pitchFamily="34" charset="-122"/>
                <a:cs typeface="Calibri" pitchFamily="34" charset="-120"/>
              </a:rPr>
              <a:t>Digital Communication &amp; Emerging Technologies · NCCU ISS 2026 · Day 2  |  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48640" y="292608"/>
            <a:ext cx="11091672" cy="658368"/>
          </a:xfrm>
          <a:prstGeom prst="rect">
            <a:avLst/>
          </a:prstGeom>
          <a:noFill/>
          <a:ln/>
        </p:spPr>
        <p:txBody>
          <a:bodyPr wrap="square" lIns="0" tIns="0" rIns="0" bIns="0" rtlCol="0" anchor="ctr"/>
          <a:lstStyle/>
          <a:p>
            <a:pPr marL="0" indent="0">
              <a:buNone/>
            </a:pPr>
            <a:r>
              <a:rPr lang="en-US" sz="3100" b="1" dirty="0">
                <a:solidFill>
                  <a:srgbClr val="1A2733"/>
                </a:solidFill>
                <a:latin typeface="Cambria" pitchFamily="34" charset="0"/>
                <a:ea typeface="Cambria" pitchFamily="34" charset="-122"/>
                <a:cs typeface="Cambria" pitchFamily="34" charset="-120"/>
              </a:rPr>
              <a:t>Data augmentation: one image, many lessons</a:t>
            </a:r>
            <a:endParaRPr lang="en-US" sz="3100" dirty="0"/>
          </a:p>
        </p:txBody>
      </p:sp>
      <p:sp>
        <p:nvSpPr>
          <p:cNvPr id="3" name="Text 1"/>
          <p:cNvSpPr/>
          <p:nvPr/>
        </p:nvSpPr>
        <p:spPr>
          <a:xfrm>
            <a:off x="548640" y="896112"/>
            <a:ext cx="11091672" cy="365760"/>
          </a:xfrm>
          <a:prstGeom prst="rect">
            <a:avLst/>
          </a:prstGeom>
          <a:noFill/>
          <a:ln/>
        </p:spPr>
        <p:txBody>
          <a:bodyPr wrap="square" lIns="0" tIns="0" rIns="0" bIns="0" rtlCol="0" anchor="ctr"/>
          <a:lstStyle/>
          <a:p>
            <a:pPr marL="0" indent="0">
              <a:buNone/>
            </a:pPr>
            <a:r>
              <a:rPr lang="en-US" sz="1500" i="1" dirty="0">
                <a:solidFill>
                  <a:srgbClr val="5B6470"/>
                </a:solidFill>
                <a:latin typeface="Calibri" pitchFamily="34" charset="0"/>
                <a:ea typeface="Calibri" pitchFamily="34" charset="-122"/>
                <a:cs typeface="Calibri" pitchFamily="34" charset="-120"/>
              </a:rPr>
              <a:t>Small changes a human still recognizes — but the model treats as new</a:t>
            </a:r>
            <a:endParaRPr lang="en-US" sz="1500" dirty="0"/>
          </a:p>
        </p:txBody>
      </p:sp>
      <p:sp>
        <p:nvSpPr>
          <p:cNvPr id="4" name="Shape 2"/>
          <p:cNvSpPr/>
          <p:nvPr/>
        </p:nvSpPr>
        <p:spPr>
          <a:xfrm>
            <a:off x="548640" y="1828800"/>
            <a:ext cx="1783080" cy="1828800"/>
          </a:xfrm>
          <a:prstGeom prst="roundRect">
            <a:avLst>
              <a:gd name="adj" fmla="val 3590"/>
            </a:avLst>
          </a:prstGeom>
          <a:solidFill>
            <a:srgbClr val="EAF2FB"/>
          </a:solidFill>
          <a:ln w="12700">
            <a:solidFill>
              <a:srgbClr val="DDE5EC"/>
            </a:solidFill>
            <a:prstDash val="solid"/>
          </a:ln>
        </p:spPr>
      </p:sp>
      <p:pic>
        <p:nvPicPr>
          <p:cNvPr id="5" name="Image 0" descr="preencoded.png"/>
          <p:cNvPicPr>
            <a:picLocks noChangeAspect="1"/>
          </p:cNvPicPr>
          <p:nvPr/>
        </p:nvPicPr>
        <p:blipFill>
          <a:blip r:embed="rId3"/>
          <a:stretch>
            <a:fillRect/>
          </a:stretch>
        </p:blipFill>
        <p:spPr>
          <a:xfrm>
            <a:off x="1165860" y="2148840"/>
            <a:ext cx="548640" cy="548640"/>
          </a:xfrm>
          <a:prstGeom prst="rect">
            <a:avLst/>
          </a:prstGeom>
        </p:spPr>
      </p:pic>
      <p:sp>
        <p:nvSpPr>
          <p:cNvPr id="6" name="Text 3"/>
          <p:cNvSpPr/>
          <p:nvPr/>
        </p:nvSpPr>
        <p:spPr>
          <a:xfrm>
            <a:off x="548640" y="2926080"/>
            <a:ext cx="1783080" cy="457200"/>
          </a:xfrm>
          <a:prstGeom prst="rect">
            <a:avLst/>
          </a:prstGeom>
          <a:noFill/>
          <a:ln/>
        </p:spPr>
        <p:txBody>
          <a:bodyPr wrap="square" lIns="0" tIns="0" rIns="0" bIns="0" rtlCol="0" anchor="ctr"/>
          <a:lstStyle/>
          <a:p>
            <a:pPr marL="0" indent="0" algn="ctr">
              <a:buNone/>
            </a:pPr>
            <a:r>
              <a:rPr lang="en-US" sz="1300" b="1" dirty="0">
                <a:solidFill>
                  <a:srgbClr val="0B5CAD"/>
                </a:solidFill>
                <a:latin typeface="Calibri" pitchFamily="34" charset="0"/>
                <a:ea typeface="Calibri" pitchFamily="34" charset="-122"/>
                <a:cs typeface="Calibri" pitchFamily="34" charset="-120"/>
              </a:rPr>
              <a:t>Original</a:t>
            </a:r>
            <a:endParaRPr lang="en-US" sz="1300" dirty="0"/>
          </a:p>
        </p:txBody>
      </p:sp>
      <p:sp>
        <p:nvSpPr>
          <p:cNvPr id="7" name="Shape 4"/>
          <p:cNvSpPr/>
          <p:nvPr/>
        </p:nvSpPr>
        <p:spPr>
          <a:xfrm>
            <a:off x="2414016" y="1828800"/>
            <a:ext cx="1783080" cy="1828800"/>
          </a:xfrm>
          <a:prstGeom prst="roundRect">
            <a:avLst>
              <a:gd name="adj" fmla="val 3590"/>
            </a:avLst>
          </a:prstGeom>
          <a:solidFill>
            <a:srgbClr val="F5F8FB"/>
          </a:solidFill>
          <a:ln w="12700">
            <a:solidFill>
              <a:srgbClr val="DDE5EC"/>
            </a:solidFill>
            <a:prstDash val="solid"/>
          </a:ln>
        </p:spPr>
      </p:sp>
      <p:pic>
        <p:nvPicPr>
          <p:cNvPr id="8" name="Image 1" descr="preencoded.png"/>
          <p:cNvPicPr>
            <a:picLocks noChangeAspect="1"/>
          </p:cNvPicPr>
          <p:nvPr/>
        </p:nvPicPr>
        <p:blipFill>
          <a:blip r:embed="rId4"/>
          <a:stretch>
            <a:fillRect/>
          </a:stretch>
        </p:blipFill>
        <p:spPr>
          <a:xfrm>
            <a:off x="3031236" y="2148840"/>
            <a:ext cx="548640" cy="548640"/>
          </a:xfrm>
          <a:prstGeom prst="rect">
            <a:avLst/>
          </a:prstGeom>
        </p:spPr>
      </p:pic>
      <p:sp>
        <p:nvSpPr>
          <p:cNvPr id="9" name="Text 5"/>
          <p:cNvSpPr/>
          <p:nvPr/>
        </p:nvSpPr>
        <p:spPr>
          <a:xfrm>
            <a:off x="2414016" y="2926080"/>
            <a:ext cx="1783080" cy="457200"/>
          </a:xfrm>
          <a:prstGeom prst="rect">
            <a:avLst/>
          </a:prstGeom>
          <a:noFill/>
          <a:ln/>
        </p:spPr>
        <p:txBody>
          <a:bodyPr wrap="square" lIns="0" tIns="0" rIns="0" bIns="0" rtlCol="0" anchor="ctr"/>
          <a:lstStyle/>
          <a:p>
            <a:pPr marL="0" indent="0" algn="ctr">
              <a:buNone/>
            </a:pPr>
            <a:r>
              <a:rPr lang="en-US" sz="1300" b="1" dirty="0">
                <a:solidFill>
                  <a:srgbClr val="1A2733"/>
                </a:solidFill>
                <a:latin typeface="Calibri" pitchFamily="34" charset="0"/>
                <a:ea typeface="Calibri" pitchFamily="34" charset="-122"/>
                <a:cs typeface="Calibri" pitchFamily="34" charset="-120"/>
              </a:rPr>
              <a:t>Flip</a:t>
            </a:r>
            <a:endParaRPr lang="en-US" sz="1300" dirty="0"/>
          </a:p>
        </p:txBody>
      </p:sp>
      <p:sp>
        <p:nvSpPr>
          <p:cNvPr id="10" name="Shape 6"/>
          <p:cNvSpPr/>
          <p:nvPr/>
        </p:nvSpPr>
        <p:spPr>
          <a:xfrm>
            <a:off x="4279392" y="1828800"/>
            <a:ext cx="1783080" cy="1828800"/>
          </a:xfrm>
          <a:prstGeom prst="roundRect">
            <a:avLst>
              <a:gd name="adj" fmla="val 3590"/>
            </a:avLst>
          </a:prstGeom>
          <a:solidFill>
            <a:srgbClr val="F5F8FB"/>
          </a:solidFill>
          <a:ln w="12700">
            <a:solidFill>
              <a:srgbClr val="DDE5EC"/>
            </a:solidFill>
            <a:prstDash val="solid"/>
          </a:ln>
        </p:spPr>
      </p:sp>
      <p:pic>
        <p:nvPicPr>
          <p:cNvPr id="11" name="Image 2" descr="preencoded.png"/>
          <p:cNvPicPr>
            <a:picLocks noChangeAspect="1"/>
          </p:cNvPicPr>
          <p:nvPr/>
        </p:nvPicPr>
        <p:blipFill>
          <a:blip r:embed="rId5"/>
          <a:stretch>
            <a:fillRect/>
          </a:stretch>
        </p:blipFill>
        <p:spPr>
          <a:xfrm>
            <a:off x="4896612" y="2148840"/>
            <a:ext cx="548640" cy="548640"/>
          </a:xfrm>
          <a:prstGeom prst="rect">
            <a:avLst/>
          </a:prstGeom>
        </p:spPr>
      </p:pic>
      <p:sp>
        <p:nvSpPr>
          <p:cNvPr id="12" name="Text 7"/>
          <p:cNvSpPr/>
          <p:nvPr/>
        </p:nvSpPr>
        <p:spPr>
          <a:xfrm>
            <a:off x="4279392" y="2926080"/>
            <a:ext cx="1783080" cy="457200"/>
          </a:xfrm>
          <a:prstGeom prst="rect">
            <a:avLst/>
          </a:prstGeom>
          <a:noFill/>
          <a:ln/>
        </p:spPr>
        <p:txBody>
          <a:bodyPr wrap="square" lIns="0" tIns="0" rIns="0" bIns="0" rtlCol="0" anchor="ctr"/>
          <a:lstStyle/>
          <a:p>
            <a:pPr marL="0" indent="0" algn="ctr">
              <a:buNone/>
            </a:pPr>
            <a:r>
              <a:rPr lang="en-US" sz="1300" b="1" dirty="0">
                <a:solidFill>
                  <a:srgbClr val="1A2733"/>
                </a:solidFill>
                <a:latin typeface="Calibri" pitchFamily="34" charset="0"/>
                <a:ea typeface="Calibri" pitchFamily="34" charset="-122"/>
                <a:cs typeface="Calibri" pitchFamily="34" charset="-120"/>
              </a:rPr>
              <a:t>Rotate</a:t>
            </a:r>
            <a:endParaRPr lang="en-US" sz="1300" dirty="0"/>
          </a:p>
        </p:txBody>
      </p:sp>
      <p:sp>
        <p:nvSpPr>
          <p:cNvPr id="13" name="Shape 8"/>
          <p:cNvSpPr/>
          <p:nvPr/>
        </p:nvSpPr>
        <p:spPr>
          <a:xfrm>
            <a:off x="6144768" y="1828800"/>
            <a:ext cx="1783080" cy="1828800"/>
          </a:xfrm>
          <a:prstGeom prst="roundRect">
            <a:avLst>
              <a:gd name="adj" fmla="val 3590"/>
            </a:avLst>
          </a:prstGeom>
          <a:solidFill>
            <a:srgbClr val="F5F8FB"/>
          </a:solidFill>
          <a:ln w="12700">
            <a:solidFill>
              <a:srgbClr val="DDE5EC"/>
            </a:solidFill>
            <a:prstDash val="solid"/>
          </a:ln>
        </p:spPr>
      </p:sp>
      <p:pic>
        <p:nvPicPr>
          <p:cNvPr id="14" name="Image 3" descr="preencoded.png"/>
          <p:cNvPicPr>
            <a:picLocks noChangeAspect="1"/>
          </p:cNvPicPr>
          <p:nvPr/>
        </p:nvPicPr>
        <p:blipFill>
          <a:blip r:embed="rId6"/>
          <a:stretch>
            <a:fillRect/>
          </a:stretch>
        </p:blipFill>
        <p:spPr>
          <a:xfrm>
            <a:off x="6761988" y="2148840"/>
            <a:ext cx="548640" cy="548640"/>
          </a:xfrm>
          <a:prstGeom prst="rect">
            <a:avLst/>
          </a:prstGeom>
        </p:spPr>
      </p:pic>
      <p:sp>
        <p:nvSpPr>
          <p:cNvPr id="15" name="Text 9"/>
          <p:cNvSpPr/>
          <p:nvPr/>
        </p:nvSpPr>
        <p:spPr>
          <a:xfrm>
            <a:off x="6144768" y="2926080"/>
            <a:ext cx="1783080" cy="457200"/>
          </a:xfrm>
          <a:prstGeom prst="rect">
            <a:avLst/>
          </a:prstGeom>
          <a:noFill/>
          <a:ln/>
        </p:spPr>
        <p:txBody>
          <a:bodyPr wrap="square" lIns="0" tIns="0" rIns="0" bIns="0" rtlCol="0" anchor="ctr"/>
          <a:lstStyle/>
          <a:p>
            <a:pPr marL="0" indent="0" algn="ctr">
              <a:buNone/>
            </a:pPr>
            <a:r>
              <a:rPr lang="en-US" sz="1300" b="1" dirty="0">
                <a:solidFill>
                  <a:srgbClr val="1A2733"/>
                </a:solidFill>
                <a:latin typeface="Calibri" pitchFamily="34" charset="0"/>
                <a:ea typeface="Calibri" pitchFamily="34" charset="-122"/>
                <a:cs typeface="Calibri" pitchFamily="34" charset="-120"/>
              </a:rPr>
              <a:t>Zoom</a:t>
            </a:r>
            <a:endParaRPr lang="en-US" sz="1300" dirty="0"/>
          </a:p>
        </p:txBody>
      </p:sp>
      <p:sp>
        <p:nvSpPr>
          <p:cNvPr id="16" name="Shape 10"/>
          <p:cNvSpPr/>
          <p:nvPr/>
        </p:nvSpPr>
        <p:spPr>
          <a:xfrm>
            <a:off x="8010144" y="1828800"/>
            <a:ext cx="1783080" cy="1828800"/>
          </a:xfrm>
          <a:prstGeom prst="roundRect">
            <a:avLst>
              <a:gd name="adj" fmla="val 3590"/>
            </a:avLst>
          </a:prstGeom>
          <a:solidFill>
            <a:srgbClr val="F5F8FB"/>
          </a:solidFill>
          <a:ln w="12700">
            <a:solidFill>
              <a:srgbClr val="DDE5EC"/>
            </a:solidFill>
            <a:prstDash val="solid"/>
          </a:ln>
        </p:spPr>
      </p:sp>
      <p:pic>
        <p:nvPicPr>
          <p:cNvPr id="17" name="Image 4" descr="preencoded.png"/>
          <p:cNvPicPr>
            <a:picLocks noChangeAspect="1"/>
          </p:cNvPicPr>
          <p:nvPr/>
        </p:nvPicPr>
        <p:blipFill>
          <a:blip r:embed="rId7"/>
          <a:stretch>
            <a:fillRect/>
          </a:stretch>
        </p:blipFill>
        <p:spPr>
          <a:xfrm>
            <a:off x="8627364" y="2148840"/>
            <a:ext cx="548640" cy="548640"/>
          </a:xfrm>
          <a:prstGeom prst="rect">
            <a:avLst/>
          </a:prstGeom>
        </p:spPr>
      </p:pic>
      <p:sp>
        <p:nvSpPr>
          <p:cNvPr id="18" name="Text 11"/>
          <p:cNvSpPr/>
          <p:nvPr/>
        </p:nvSpPr>
        <p:spPr>
          <a:xfrm>
            <a:off x="8010144" y="2926080"/>
            <a:ext cx="1783080" cy="457200"/>
          </a:xfrm>
          <a:prstGeom prst="rect">
            <a:avLst/>
          </a:prstGeom>
          <a:noFill/>
          <a:ln/>
        </p:spPr>
        <p:txBody>
          <a:bodyPr wrap="square" lIns="0" tIns="0" rIns="0" bIns="0" rtlCol="0" anchor="ctr"/>
          <a:lstStyle/>
          <a:p>
            <a:pPr marL="0" indent="0" algn="ctr">
              <a:buNone/>
            </a:pPr>
            <a:r>
              <a:rPr lang="en-US" sz="1300" b="1" dirty="0">
                <a:solidFill>
                  <a:srgbClr val="1A2733"/>
                </a:solidFill>
                <a:latin typeface="Calibri" pitchFamily="34" charset="0"/>
                <a:ea typeface="Calibri" pitchFamily="34" charset="-122"/>
                <a:cs typeface="Calibri" pitchFamily="34" charset="-120"/>
              </a:rPr>
              <a:t>Shift</a:t>
            </a:r>
            <a:endParaRPr lang="en-US" sz="1300" dirty="0"/>
          </a:p>
        </p:txBody>
      </p:sp>
      <p:sp>
        <p:nvSpPr>
          <p:cNvPr id="19" name="Shape 12"/>
          <p:cNvSpPr/>
          <p:nvPr/>
        </p:nvSpPr>
        <p:spPr>
          <a:xfrm>
            <a:off x="9875520" y="1828800"/>
            <a:ext cx="1783080" cy="1828800"/>
          </a:xfrm>
          <a:prstGeom prst="roundRect">
            <a:avLst>
              <a:gd name="adj" fmla="val 3590"/>
            </a:avLst>
          </a:prstGeom>
          <a:solidFill>
            <a:srgbClr val="F5F8FB"/>
          </a:solidFill>
          <a:ln w="12700">
            <a:solidFill>
              <a:srgbClr val="DDE5EC"/>
            </a:solidFill>
            <a:prstDash val="solid"/>
          </a:ln>
        </p:spPr>
      </p:sp>
      <p:pic>
        <p:nvPicPr>
          <p:cNvPr id="20" name="Image 5" descr="preencoded.png"/>
          <p:cNvPicPr>
            <a:picLocks noChangeAspect="1"/>
          </p:cNvPicPr>
          <p:nvPr/>
        </p:nvPicPr>
        <p:blipFill>
          <a:blip r:embed="rId8"/>
          <a:stretch>
            <a:fillRect/>
          </a:stretch>
        </p:blipFill>
        <p:spPr>
          <a:xfrm>
            <a:off x="10492740" y="2148840"/>
            <a:ext cx="548640" cy="548640"/>
          </a:xfrm>
          <a:prstGeom prst="rect">
            <a:avLst/>
          </a:prstGeom>
        </p:spPr>
      </p:pic>
      <p:sp>
        <p:nvSpPr>
          <p:cNvPr id="21" name="Text 13"/>
          <p:cNvSpPr/>
          <p:nvPr/>
        </p:nvSpPr>
        <p:spPr>
          <a:xfrm>
            <a:off x="9875520" y="2926080"/>
            <a:ext cx="1783080" cy="457200"/>
          </a:xfrm>
          <a:prstGeom prst="rect">
            <a:avLst/>
          </a:prstGeom>
          <a:noFill/>
          <a:ln/>
        </p:spPr>
        <p:txBody>
          <a:bodyPr wrap="square" lIns="0" tIns="0" rIns="0" bIns="0" rtlCol="0" anchor="ctr"/>
          <a:lstStyle/>
          <a:p>
            <a:pPr marL="0" indent="0" algn="ctr">
              <a:buNone/>
            </a:pPr>
            <a:r>
              <a:rPr lang="en-US" sz="1300" b="1" dirty="0">
                <a:solidFill>
                  <a:srgbClr val="1A2733"/>
                </a:solidFill>
                <a:latin typeface="Calibri" pitchFamily="34" charset="0"/>
                <a:ea typeface="Calibri" pitchFamily="34" charset="-122"/>
                <a:cs typeface="Calibri" pitchFamily="34" charset="-120"/>
              </a:rPr>
              <a:t>Brightness</a:t>
            </a:r>
            <a:endParaRPr lang="en-US" sz="1300" dirty="0"/>
          </a:p>
        </p:txBody>
      </p:sp>
      <p:sp>
        <p:nvSpPr>
          <p:cNvPr id="22" name="Shape 14"/>
          <p:cNvSpPr/>
          <p:nvPr/>
        </p:nvSpPr>
        <p:spPr>
          <a:xfrm>
            <a:off x="548640" y="4160520"/>
            <a:ext cx="11091672" cy="1371600"/>
          </a:xfrm>
          <a:prstGeom prst="roundRect">
            <a:avLst>
              <a:gd name="adj" fmla="val 5333"/>
            </a:avLst>
          </a:prstGeom>
          <a:solidFill>
            <a:srgbClr val="EAF2FB"/>
          </a:solidFill>
          <a:ln/>
        </p:spPr>
      </p:sp>
      <p:sp>
        <p:nvSpPr>
          <p:cNvPr id="23" name="Text 15"/>
          <p:cNvSpPr/>
          <p:nvPr/>
        </p:nvSpPr>
        <p:spPr>
          <a:xfrm>
            <a:off x="868680" y="4315968"/>
            <a:ext cx="10424160" cy="1051560"/>
          </a:xfrm>
          <a:prstGeom prst="rect">
            <a:avLst/>
          </a:prstGeom>
          <a:noFill/>
          <a:ln/>
        </p:spPr>
        <p:txBody>
          <a:bodyPr wrap="square" lIns="0" tIns="0" rIns="0" bIns="0" rtlCol="0" anchor="ctr"/>
          <a:lstStyle/>
          <a:p>
            <a:pPr marL="0" indent="0">
              <a:buNone/>
            </a:pPr>
            <a:r>
              <a:rPr lang="en-US" sz="1450" b="1" dirty="0">
                <a:solidFill>
                  <a:srgbClr val="0B5CAD"/>
                </a:solidFill>
                <a:latin typeface="Calibri" pitchFamily="34" charset="0"/>
                <a:ea typeface="Calibri" pitchFamily="34" charset="-122"/>
                <a:cs typeface="Calibri" pitchFamily="34" charset="-120"/>
              </a:rPr>
              <a:t>Why it works: </a:t>
            </a:r>
            <a:r>
              <a:rPr lang="en-US" sz="1450" dirty="0">
                <a:solidFill>
                  <a:srgbClr val="1A2733"/>
                </a:solidFill>
                <a:latin typeface="Calibri" pitchFamily="34" charset="0"/>
                <a:ea typeface="Calibri" pitchFamily="34" charset="-122"/>
                <a:cs typeface="Calibri" pitchFamily="34" charset="-120"/>
              </a:rPr>
              <a:t>a shirt is still a shirt when flipped, rotated, or dimmed. By training on these variations, the model learns “shirt-ness” instead of the exact pixels — so it handles new, real-world photos far better. It's the cheapest, most effective anti-overfitting trick.</a:t>
            </a:r>
            <a:endParaRPr lang="en-US" sz="1450" dirty="0"/>
          </a:p>
        </p:txBody>
      </p:sp>
      <p:sp>
        <p:nvSpPr>
          <p:cNvPr id="24" name="Text 16"/>
          <p:cNvSpPr/>
          <p:nvPr/>
        </p:nvSpPr>
        <p:spPr>
          <a:xfrm>
            <a:off x="548640" y="6473952"/>
            <a:ext cx="11091672" cy="274320"/>
          </a:xfrm>
          <a:prstGeom prst="rect">
            <a:avLst/>
          </a:prstGeom>
          <a:noFill/>
          <a:ln/>
        </p:spPr>
        <p:txBody>
          <a:bodyPr wrap="square" lIns="0" tIns="0" rIns="0" bIns="0" rtlCol="0" anchor="ctr"/>
          <a:lstStyle/>
          <a:p>
            <a:pPr marL="0" indent="0">
              <a:buNone/>
            </a:pPr>
            <a:r>
              <a:rPr lang="en-US" sz="900" dirty="0">
                <a:solidFill>
                  <a:srgbClr val="5B6470"/>
                </a:solidFill>
                <a:latin typeface="Calibri" pitchFamily="34" charset="0"/>
                <a:ea typeface="Calibri" pitchFamily="34" charset="-122"/>
                <a:cs typeface="Calibri" pitchFamily="34" charset="-120"/>
              </a:rPr>
              <a:t>Digital Communication &amp; Emerging Technologies · NCCU ISS 2026 · Day 2  |  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48640" y="292608"/>
            <a:ext cx="11091672" cy="658368"/>
          </a:xfrm>
          <a:prstGeom prst="rect">
            <a:avLst/>
          </a:prstGeom>
          <a:noFill/>
          <a:ln/>
        </p:spPr>
        <p:txBody>
          <a:bodyPr wrap="square" lIns="0" tIns="0" rIns="0" bIns="0" rtlCol="0" anchor="ctr"/>
          <a:lstStyle/>
          <a:p>
            <a:pPr marL="0" indent="0">
              <a:buNone/>
            </a:pPr>
            <a:r>
              <a:rPr lang="en-US" sz="3100" b="1" dirty="0">
                <a:solidFill>
                  <a:srgbClr val="1A2733"/>
                </a:solidFill>
                <a:latin typeface="Cambria" pitchFamily="34" charset="0"/>
                <a:ea typeface="Cambria" pitchFamily="34" charset="-122"/>
                <a:cs typeface="Cambria" pitchFamily="34" charset="-120"/>
              </a:rPr>
              <a:t>Transfer learning: stand on giants' shoulders</a:t>
            </a:r>
            <a:endParaRPr lang="en-US" sz="3100" dirty="0"/>
          </a:p>
        </p:txBody>
      </p:sp>
      <p:sp>
        <p:nvSpPr>
          <p:cNvPr id="3" name="Text 1"/>
          <p:cNvSpPr/>
          <p:nvPr/>
        </p:nvSpPr>
        <p:spPr>
          <a:xfrm>
            <a:off x="548640" y="896112"/>
            <a:ext cx="11091672" cy="365760"/>
          </a:xfrm>
          <a:prstGeom prst="rect">
            <a:avLst/>
          </a:prstGeom>
          <a:noFill/>
          <a:ln/>
        </p:spPr>
        <p:txBody>
          <a:bodyPr wrap="square" lIns="0" tIns="0" rIns="0" bIns="0" rtlCol="0" anchor="ctr"/>
          <a:lstStyle/>
          <a:p>
            <a:pPr marL="0" indent="0">
              <a:buNone/>
            </a:pPr>
            <a:r>
              <a:rPr lang="en-US" sz="1500" i="1" dirty="0">
                <a:solidFill>
                  <a:srgbClr val="5B6470"/>
                </a:solidFill>
                <a:latin typeface="Calibri" pitchFamily="34" charset="0"/>
                <a:ea typeface="Calibri" pitchFamily="34" charset="-122"/>
                <a:cs typeface="Calibri" pitchFamily="34" charset="-120"/>
              </a:rPr>
              <a:t>Don't start from zero — reuse a model that already learned to see</a:t>
            </a:r>
            <a:endParaRPr lang="en-US" sz="1500" dirty="0"/>
          </a:p>
        </p:txBody>
      </p:sp>
      <p:sp>
        <p:nvSpPr>
          <p:cNvPr id="4" name="Shape 2"/>
          <p:cNvSpPr/>
          <p:nvPr/>
        </p:nvSpPr>
        <p:spPr>
          <a:xfrm>
            <a:off x="548640" y="1600200"/>
            <a:ext cx="5394960" cy="3566160"/>
          </a:xfrm>
          <a:prstGeom prst="roundRect">
            <a:avLst>
              <a:gd name="adj" fmla="val 2051"/>
            </a:avLst>
          </a:prstGeom>
          <a:solidFill>
            <a:srgbClr val="F5F8FB"/>
          </a:solidFill>
          <a:ln w="12700">
            <a:solidFill>
              <a:srgbClr val="DDE5EC"/>
            </a:solidFill>
            <a:prstDash val="solid"/>
          </a:ln>
        </p:spPr>
      </p:sp>
      <p:sp>
        <p:nvSpPr>
          <p:cNvPr id="5" name="Text 3"/>
          <p:cNvSpPr/>
          <p:nvPr/>
        </p:nvSpPr>
        <p:spPr>
          <a:xfrm>
            <a:off x="822960" y="1783080"/>
            <a:ext cx="4846320" cy="365760"/>
          </a:xfrm>
          <a:prstGeom prst="rect">
            <a:avLst/>
          </a:prstGeom>
          <a:noFill/>
          <a:ln/>
        </p:spPr>
        <p:txBody>
          <a:bodyPr wrap="square" lIns="0" tIns="0" rIns="0" bIns="0" rtlCol="0" anchor="ctr"/>
          <a:lstStyle/>
          <a:p>
            <a:pPr marL="0" indent="0">
              <a:buNone/>
            </a:pPr>
            <a:r>
              <a:rPr lang="en-US" sz="1600" b="1" dirty="0">
                <a:solidFill>
                  <a:srgbClr val="1A2733"/>
                </a:solidFill>
                <a:latin typeface="Cambria" pitchFamily="34" charset="0"/>
                <a:ea typeface="Cambria" pitchFamily="34" charset="-122"/>
                <a:cs typeface="Cambria" pitchFamily="34" charset="-120"/>
              </a:rPr>
              <a:t>The idea</a:t>
            </a:r>
            <a:endParaRPr lang="en-US" sz="1600" dirty="0"/>
          </a:p>
        </p:txBody>
      </p:sp>
      <p:sp>
        <p:nvSpPr>
          <p:cNvPr id="6" name="Text 4"/>
          <p:cNvSpPr/>
          <p:nvPr/>
        </p:nvSpPr>
        <p:spPr>
          <a:xfrm>
            <a:off x="822960" y="2240280"/>
            <a:ext cx="4846320" cy="1828800"/>
          </a:xfrm>
          <a:prstGeom prst="rect">
            <a:avLst/>
          </a:prstGeom>
          <a:noFill/>
          <a:ln/>
        </p:spPr>
        <p:txBody>
          <a:bodyPr wrap="square" lIns="0" tIns="0" rIns="0" bIns="0" rtlCol="0" anchor="ctr"/>
          <a:lstStyle/>
          <a:p>
            <a:pPr marL="0" indent="0">
              <a:buNone/>
            </a:pPr>
            <a:r>
              <a:rPr lang="en-US" sz="1400" dirty="0">
                <a:solidFill>
                  <a:srgbClr val="5B6470"/>
                </a:solidFill>
                <a:latin typeface="Calibri" pitchFamily="34" charset="0"/>
                <a:ea typeface="Calibri" pitchFamily="34" charset="-122"/>
                <a:cs typeface="Calibri" pitchFamily="34" charset="-120"/>
              </a:rPr>
              <a:t>A model trained on millions of images already knows edges, textures, and shapes. Keep all that, and just re-train the last layer on your own small dataset. Minutes instead of days; far less data needed.</a:t>
            </a:r>
            <a:endParaRPr lang="en-US" sz="1400" dirty="0"/>
          </a:p>
        </p:txBody>
      </p:sp>
      <p:sp>
        <p:nvSpPr>
          <p:cNvPr id="7" name="Shape 5"/>
          <p:cNvSpPr/>
          <p:nvPr/>
        </p:nvSpPr>
        <p:spPr>
          <a:xfrm>
            <a:off x="6172200" y="1600200"/>
            <a:ext cx="5468112" cy="3566160"/>
          </a:xfrm>
          <a:prstGeom prst="roundRect">
            <a:avLst>
              <a:gd name="adj" fmla="val 2051"/>
            </a:avLst>
          </a:prstGeom>
          <a:solidFill>
            <a:srgbClr val="EAF2FB"/>
          </a:solidFill>
          <a:ln/>
        </p:spPr>
      </p:sp>
      <p:sp>
        <p:nvSpPr>
          <p:cNvPr id="8" name="Text 6"/>
          <p:cNvSpPr/>
          <p:nvPr/>
        </p:nvSpPr>
        <p:spPr>
          <a:xfrm>
            <a:off x="6446520" y="1783080"/>
            <a:ext cx="4937760" cy="365760"/>
          </a:xfrm>
          <a:prstGeom prst="rect">
            <a:avLst/>
          </a:prstGeom>
          <a:noFill/>
          <a:ln/>
        </p:spPr>
        <p:txBody>
          <a:bodyPr wrap="square" lIns="0" tIns="0" rIns="0" bIns="0" rtlCol="0" anchor="ctr"/>
          <a:lstStyle/>
          <a:p>
            <a:pPr marL="0" indent="0">
              <a:buNone/>
            </a:pPr>
            <a:r>
              <a:rPr lang="en-US" sz="1600" b="1" dirty="0">
                <a:solidFill>
                  <a:srgbClr val="0B5CAD"/>
                </a:solidFill>
                <a:latin typeface="Cambria" pitchFamily="34" charset="0"/>
                <a:ea typeface="Cambria" pitchFamily="34" charset="-122"/>
                <a:cs typeface="Cambria" pitchFamily="34" charset="-120"/>
              </a:rPr>
              <a:t>An analogy</a:t>
            </a:r>
            <a:endParaRPr lang="en-US" sz="1600" dirty="0"/>
          </a:p>
        </p:txBody>
      </p:sp>
      <p:sp>
        <p:nvSpPr>
          <p:cNvPr id="9" name="Text 7"/>
          <p:cNvSpPr/>
          <p:nvPr/>
        </p:nvSpPr>
        <p:spPr>
          <a:xfrm>
            <a:off x="6446520" y="2240280"/>
            <a:ext cx="4937760" cy="2651760"/>
          </a:xfrm>
          <a:prstGeom prst="rect">
            <a:avLst/>
          </a:prstGeom>
          <a:noFill/>
          <a:ln/>
        </p:spPr>
        <p:txBody>
          <a:bodyPr wrap="square" lIns="0" tIns="0" rIns="0" bIns="0" rtlCol="0" anchor="ctr"/>
          <a:lstStyle/>
          <a:p>
            <a:pPr marL="0" indent="0">
              <a:buNone/>
            </a:pPr>
            <a:r>
              <a:rPr lang="en-US" sz="1400" dirty="0">
                <a:solidFill>
                  <a:srgbClr val="1A2733"/>
                </a:solidFill>
                <a:latin typeface="Calibri" pitchFamily="34" charset="0"/>
                <a:ea typeface="Calibri" pitchFamily="34" charset="-122"/>
                <a:cs typeface="Calibri" pitchFamily="34" charset="-120"/>
              </a:rPr>
              <a:t>Someone who already speaks Spanish learns Italian fast — they reuse most of what they know and only learn the differences.
</a:t>
            </a:r>
            <a:r>
              <a:rPr lang="en-US" sz="1400" dirty="0">
                <a:solidFill>
                  <a:srgbClr val="5B6470"/>
                </a:solidFill>
                <a:latin typeface="Calibri" pitchFamily="34" charset="0"/>
                <a:ea typeface="Calibri" pitchFamily="34" charset="-122"/>
                <a:cs typeface="Calibri" pitchFamily="34" charset="-120"/>
              </a:rPr>
              <a:t>A pre-trained vision model is the fluent speaker; your task is the new-but-related language.</a:t>
            </a:r>
            <a:endParaRPr lang="en-US" sz="1400" dirty="0"/>
          </a:p>
        </p:txBody>
      </p:sp>
      <p:sp>
        <p:nvSpPr>
          <p:cNvPr id="10" name="Text 8"/>
          <p:cNvSpPr/>
          <p:nvPr/>
        </p:nvSpPr>
        <p:spPr>
          <a:xfrm>
            <a:off x="548640" y="5349240"/>
            <a:ext cx="11064240" cy="365760"/>
          </a:xfrm>
          <a:prstGeom prst="rect">
            <a:avLst/>
          </a:prstGeom>
          <a:noFill/>
          <a:ln/>
        </p:spPr>
        <p:txBody>
          <a:bodyPr wrap="square" lIns="0" tIns="0" rIns="0" bIns="0" rtlCol="0" anchor="ctr"/>
          <a:lstStyle/>
          <a:p>
            <a:pPr marL="0" indent="0">
              <a:buNone/>
            </a:pPr>
            <a:r>
              <a:rPr lang="en-US" sz="1300" i="1" dirty="0">
                <a:solidFill>
                  <a:srgbClr val="0B5CAD"/>
                </a:solidFill>
                <a:latin typeface="Calibri" pitchFamily="34" charset="0"/>
                <a:ea typeface="Calibri" pitchFamily="34" charset="-122"/>
                <a:cs typeface="Calibri" pitchFamily="34" charset="-120"/>
              </a:rPr>
              <a:t>This is how most real-world computer vision is built today — almost nobody trains from scratch.</a:t>
            </a:r>
            <a:endParaRPr lang="en-US" sz="1300" dirty="0"/>
          </a:p>
        </p:txBody>
      </p:sp>
      <p:sp>
        <p:nvSpPr>
          <p:cNvPr id="11" name="Text 9"/>
          <p:cNvSpPr/>
          <p:nvPr/>
        </p:nvSpPr>
        <p:spPr>
          <a:xfrm>
            <a:off x="548640" y="6473952"/>
            <a:ext cx="11091672" cy="274320"/>
          </a:xfrm>
          <a:prstGeom prst="rect">
            <a:avLst/>
          </a:prstGeom>
          <a:noFill/>
          <a:ln/>
        </p:spPr>
        <p:txBody>
          <a:bodyPr wrap="square" lIns="0" tIns="0" rIns="0" bIns="0" rtlCol="0" anchor="ctr"/>
          <a:lstStyle/>
          <a:p>
            <a:pPr marL="0" indent="0">
              <a:buNone/>
            </a:pPr>
            <a:r>
              <a:rPr lang="en-US" sz="900" dirty="0">
                <a:solidFill>
                  <a:srgbClr val="5B6470"/>
                </a:solidFill>
                <a:latin typeface="Calibri" pitchFamily="34" charset="0"/>
                <a:ea typeface="Calibri" pitchFamily="34" charset="-122"/>
                <a:cs typeface="Calibri" pitchFamily="34" charset="-120"/>
              </a:rPr>
              <a:t>Digital Communication &amp; Emerging Technologies · NCCU ISS 2026 · Day 2  |  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93F7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77240" y="640080"/>
            <a:ext cx="685800" cy="685800"/>
          </a:xfrm>
          <a:prstGeom prst="rect">
            <a:avLst/>
          </a:prstGeom>
        </p:spPr>
      </p:pic>
      <p:sp>
        <p:nvSpPr>
          <p:cNvPr id="3" name="Text 0"/>
          <p:cNvSpPr/>
          <p:nvPr/>
        </p:nvSpPr>
        <p:spPr>
          <a:xfrm>
            <a:off x="777240" y="1463040"/>
            <a:ext cx="1060704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2012: the moment deep learning won</a:t>
            </a:r>
            <a:endParaRPr lang="en-US" sz="3200" dirty="0"/>
          </a:p>
        </p:txBody>
      </p:sp>
      <p:sp>
        <p:nvSpPr>
          <p:cNvPr id="4" name="Text 1"/>
          <p:cNvSpPr/>
          <p:nvPr/>
        </p:nvSpPr>
        <p:spPr>
          <a:xfrm>
            <a:off x="777240" y="2148840"/>
            <a:ext cx="10607040" cy="457200"/>
          </a:xfrm>
          <a:prstGeom prst="rect">
            <a:avLst/>
          </a:prstGeom>
          <a:noFill/>
          <a:ln/>
        </p:spPr>
        <p:txBody>
          <a:bodyPr wrap="square" lIns="0" tIns="0" rIns="0" bIns="0" rtlCol="0" anchor="ctr"/>
          <a:lstStyle/>
          <a:p>
            <a:pPr marL="0" indent="0">
              <a:buNone/>
            </a:pPr>
            <a:r>
              <a:rPr lang="en-US" sz="1500" i="1" dirty="0">
                <a:solidFill>
                  <a:srgbClr val="F0C878"/>
                </a:solidFill>
                <a:latin typeface="Calibri" pitchFamily="34" charset="0"/>
                <a:ea typeface="Calibri" pitchFamily="34" charset="-122"/>
                <a:cs typeface="Calibri" pitchFamily="34" charset="-120"/>
              </a:rPr>
              <a:t>Today's landmark paper: Krizhevsky, Sutskever &amp; Hinton, “ImageNet Classification with Deep CNNs” (NeurIPS 2012)</a:t>
            </a:r>
            <a:endParaRPr lang="en-US" sz="1500" dirty="0"/>
          </a:p>
        </p:txBody>
      </p:sp>
      <p:sp>
        <p:nvSpPr>
          <p:cNvPr id="5" name="Shape 2"/>
          <p:cNvSpPr/>
          <p:nvPr/>
        </p:nvSpPr>
        <p:spPr>
          <a:xfrm>
            <a:off x="777240" y="2880360"/>
            <a:ext cx="10607040" cy="868680"/>
          </a:xfrm>
          <a:prstGeom prst="roundRect">
            <a:avLst>
              <a:gd name="adj" fmla="val 7368"/>
            </a:avLst>
          </a:prstGeom>
          <a:solidFill>
            <a:srgbClr val="0B5CAD"/>
          </a:solidFill>
          <a:ln/>
        </p:spPr>
      </p:sp>
      <p:sp>
        <p:nvSpPr>
          <p:cNvPr id="6" name="Text 3"/>
          <p:cNvSpPr/>
          <p:nvPr/>
        </p:nvSpPr>
        <p:spPr>
          <a:xfrm>
            <a:off x="1051560" y="2926080"/>
            <a:ext cx="10058400" cy="777240"/>
          </a:xfrm>
          <a:prstGeom prst="rect">
            <a:avLst/>
          </a:prstGeom>
          <a:noFill/>
          <a:ln/>
        </p:spPr>
        <p:txBody>
          <a:bodyPr wrap="square" lIns="0" tIns="0" rIns="0" bIns="0" rtlCol="0" anchor="ctr"/>
          <a:lstStyle/>
          <a:p>
            <a:pPr marL="0" indent="0">
              <a:buNone/>
            </a:pPr>
            <a:r>
              <a:rPr lang="en-US" sz="1450" b="1" dirty="0">
                <a:solidFill>
                  <a:srgbClr val="F0C878"/>
                </a:solidFill>
                <a:latin typeface="Calibri" pitchFamily="34" charset="0"/>
                <a:ea typeface="Calibri" pitchFamily="34" charset="-122"/>
                <a:cs typeface="Calibri" pitchFamily="34" charset="-120"/>
              </a:rPr>
              <a:t>The contest   </a:t>
            </a:r>
            <a:r>
              <a:rPr lang="en-US" sz="1350" dirty="0">
                <a:solidFill>
                  <a:srgbClr val="EAF2FB"/>
                </a:solidFill>
                <a:latin typeface="Calibri" pitchFamily="34" charset="0"/>
                <a:ea typeface="Calibri" pitchFamily="34" charset="-122"/>
                <a:cs typeface="Calibri" pitchFamily="34" charset="-120"/>
              </a:rPr>
              <a:t>ImageNet: classify 1.2 million photos into 1,000 categories. The annual benchmark for computer vision.</a:t>
            </a:r>
            <a:endParaRPr lang="en-US" sz="1450" dirty="0"/>
          </a:p>
        </p:txBody>
      </p:sp>
      <p:sp>
        <p:nvSpPr>
          <p:cNvPr id="7" name="Shape 4"/>
          <p:cNvSpPr/>
          <p:nvPr/>
        </p:nvSpPr>
        <p:spPr>
          <a:xfrm>
            <a:off x="777240" y="3867912"/>
            <a:ext cx="10607040" cy="868680"/>
          </a:xfrm>
          <a:prstGeom prst="roundRect">
            <a:avLst>
              <a:gd name="adj" fmla="val 7368"/>
            </a:avLst>
          </a:prstGeom>
          <a:solidFill>
            <a:srgbClr val="0B5CAD"/>
          </a:solidFill>
          <a:ln/>
        </p:spPr>
      </p:sp>
      <p:sp>
        <p:nvSpPr>
          <p:cNvPr id="8" name="Text 5"/>
          <p:cNvSpPr/>
          <p:nvPr/>
        </p:nvSpPr>
        <p:spPr>
          <a:xfrm>
            <a:off x="1051560" y="3913632"/>
            <a:ext cx="10058400" cy="777240"/>
          </a:xfrm>
          <a:prstGeom prst="rect">
            <a:avLst/>
          </a:prstGeom>
          <a:noFill/>
          <a:ln/>
        </p:spPr>
        <p:txBody>
          <a:bodyPr wrap="square" lIns="0" tIns="0" rIns="0" bIns="0" rtlCol="0" anchor="ctr"/>
          <a:lstStyle/>
          <a:p>
            <a:pPr marL="0" indent="0">
              <a:buNone/>
            </a:pPr>
            <a:r>
              <a:rPr lang="en-US" sz="1450" b="1" dirty="0">
                <a:solidFill>
                  <a:srgbClr val="F0C878"/>
                </a:solidFill>
                <a:latin typeface="Calibri" pitchFamily="34" charset="0"/>
                <a:ea typeface="Calibri" pitchFamily="34" charset="-122"/>
                <a:cs typeface="Calibri" pitchFamily="34" charset="-120"/>
              </a:rPr>
              <a:t>The result   </a:t>
            </a:r>
            <a:r>
              <a:rPr lang="en-US" sz="1350" dirty="0">
                <a:solidFill>
                  <a:srgbClr val="EAF2FB"/>
                </a:solidFill>
                <a:latin typeface="Calibri" pitchFamily="34" charset="0"/>
                <a:ea typeface="Calibri" pitchFamily="34" charset="-122"/>
                <a:cs typeface="Calibri" pitchFamily="34" charset="-120"/>
              </a:rPr>
              <a:t>AlexNet, a deep CNN on two gaming GPUs, crushed the field — cutting the error rate by nearly half overnight.</a:t>
            </a:r>
            <a:endParaRPr lang="en-US" sz="1450" dirty="0"/>
          </a:p>
        </p:txBody>
      </p:sp>
      <p:sp>
        <p:nvSpPr>
          <p:cNvPr id="9" name="Shape 6"/>
          <p:cNvSpPr/>
          <p:nvPr/>
        </p:nvSpPr>
        <p:spPr>
          <a:xfrm>
            <a:off x="777240" y="4855464"/>
            <a:ext cx="10607040" cy="868680"/>
          </a:xfrm>
          <a:prstGeom prst="roundRect">
            <a:avLst>
              <a:gd name="adj" fmla="val 7368"/>
            </a:avLst>
          </a:prstGeom>
          <a:solidFill>
            <a:srgbClr val="0B5CAD"/>
          </a:solidFill>
          <a:ln/>
        </p:spPr>
      </p:sp>
      <p:sp>
        <p:nvSpPr>
          <p:cNvPr id="10" name="Text 7"/>
          <p:cNvSpPr/>
          <p:nvPr/>
        </p:nvSpPr>
        <p:spPr>
          <a:xfrm>
            <a:off x="1051560" y="4901184"/>
            <a:ext cx="10058400" cy="777240"/>
          </a:xfrm>
          <a:prstGeom prst="rect">
            <a:avLst/>
          </a:prstGeom>
          <a:noFill/>
          <a:ln/>
        </p:spPr>
        <p:txBody>
          <a:bodyPr wrap="square" lIns="0" tIns="0" rIns="0" bIns="0" rtlCol="0" anchor="ctr"/>
          <a:lstStyle/>
          <a:p>
            <a:pPr marL="0" indent="0">
              <a:buNone/>
            </a:pPr>
            <a:r>
              <a:rPr lang="en-US" sz="1450" b="1" dirty="0">
                <a:solidFill>
                  <a:srgbClr val="F0C878"/>
                </a:solidFill>
                <a:latin typeface="Calibri" pitchFamily="34" charset="0"/>
                <a:ea typeface="Calibri" pitchFamily="34" charset="-122"/>
                <a:cs typeface="Calibri" pitchFamily="34" charset="-120"/>
              </a:rPr>
              <a:t>The aftermath   </a:t>
            </a:r>
            <a:r>
              <a:rPr lang="en-US" sz="1350" dirty="0">
                <a:solidFill>
                  <a:srgbClr val="EAF2FB"/>
                </a:solidFill>
                <a:latin typeface="Calibri" pitchFamily="34" charset="0"/>
                <a:ea typeface="Calibri" pitchFamily="34" charset="-122"/>
                <a:cs typeface="Calibri" pitchFamily="34" charset="-120"/>
              </a:rPr>
              <a:t>Within three years every top team used deep learning. The vision revolution, and the modern AI era, started here.</a:t>
            </a:r>
            <a:endParaRPr lang="en-US" sz="14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48640" y="292608"/>
            <a:ext cx="11091672" cy="658368"/>
          </a:xfrm>
          <a:prstGeom prst="rect">
            <a:avLst/>
          </a:prstGeom>
          <a:noFill/>
          <a:ln/>
        </p:spPr>
        <p:txBody>
          <a:bodyPr wrap="square" lIns="0" tIns="0" rIns="0" bIns="0" rtlCol="0" anchor="ctr"/>
          <a:lstStyle/>
          <a:p>
            <a:pPr marL="0" indent="0">
              <a:buNone/>
            </a:pPr>
            <a:r>
              <a:rPr lang="en-US" sz="3100" b="1" dirty="0">
                <a:solidFill>
                  <a:srgbClr val="1A2733"/>
                </a:solidFill>
                <a:latin typeface="Cambria" pitchFamily="34" charset="0"/>
                <a:ea typeface="Cambria" pitchFamily="34" charset="-122"/>
                <a:cs typeface="Cambria" pitchFamily="34" charset="-120"/>
              </a:rPr>
              <a:t>Back to Playground: what those knobs really do</a:t>
            </a:r>
            <a:endParaRPr lang="en-US" sz="3100" dirty="0"/>
          </a:p>
        </p:txBody>
      </p:sp>
      <p:sp>
        <p:nvSpPr>
          <p:cNvPr id="3" name="Text 1"/>
          <p:cNvSpPr/>
          <p:nvPr/>
        </p:nvSpPr>
        <p:spPr>
          <a:xfrm>
            <a:off x="548640" y="896112"/>
            <a:ext cx="11091672" cy="365760"/>
          </a:xfrm>
          <a:prstGeom prst="rect">
            <a:avLst/>
          </a:prstGeom>
          <a:noFill/>
          <a:ln/>
        </p:spPr>
        <p:txBody>
          <a:bodyPr wrap="square" lIns="0" tIns="0" rIns="0" bIns="0" rtlCol="0" anchor="ctr"/>
          <a:lstStyle/>
          <a:p>
            <a:pPr marL="0" indent="0">
              <a:buNone/>
            </a:pPr>
            <a:r>
              <a:rPr lang="en-US" sz="1500" i="1" dirty="0">
                <a:solidFill>
                  <a:srgbClr val="5B6470"/>
                </a:solidFill>
                <a:latin typeface="Calibri" pitchFamily="34" charset="0"/>
                <a:ea typeface="Calibri" pitchFamily="34" charset="-122"/>
                <a:cs typeface="Calibri" pitchFamily="34" charset="-120"/>
              </a:rPr>
              <a:t>Every control you clicked yesterday maps to a concept from today</a:t>
            </a:r>
            <a:endParaRPr lang="en-US" sz="1500" dirty="0"/>
          </a:p>
        </p:txBody>
      </p:sp>
      <p:sp>
        <p:nvSpPr>
          <p:cNvPr id="4" name="Shape 2"/>
          <p:cNvSpPr/>
          <p:nvPr/>
        </p:nvSpPr>
        <p:spPr>
          <a:xfrm>
            <a:off x="548640" y="1481328"/>
            <a:ext cx="11091672" cy="841248"/>
          </a:xfrm>
          <a:prstGeom prst="roundRect">
            <a:avLst>
              <a:gd name="adj" fmla="val 6522"/>
            </a:avLst>
          </a:prstGeom>
          <a:solidFill>
            <a:srgbClr val="F5F8FB"/>
          </a:solidFill>
          <a:ln w="12700">
            <a:solidFill>
              <a:srgbClr val="DDE5EC"/>
            </a:solidFill>
            <a:prstDash val="solid"/>
          </a:ln>
        </p:spPr>
      </p:sp>
      <p:sp>
        <p:nvSpPr>
          <p:cNvPr id="5" name="Text 3"/>
          <p:cNvSpPr/>
          <p:nvPr/>
        </p:nvSpPr>
        <p:spPr>
          <a:xfrm>
            <a:off x="777240" y="1517904"/>
            <a:ext cx="2103120" cy="768096"/>
          </a:xfrm>
          <a:prstGeom prst="rect">
            <a:avLst/>
          </a:prstGeom>
          <a:noFill/>
          <a:ln/>
        </p:spPr>
        <p:txBody>
          <a:bodyPr wrap="square" lIns="0" tIns="0" rIns="0" bIns="0" rtlCol="0" anchor="ctr"/>
          <a:lstStyle/>
          <a:p>
            <a:pPr marL="0" indent="0">
              <a:buNone/>
            </a:pPr>
            <a:r>
              <a:rPr lang="en-US" sz="1500" b="1" dirty="0">
                <a:solidFill>
                  <a:srgbClr val="1A2733"/>
                </a:solidFill>
                <a:latin typeface="Cambria" pitchFamily="34" charset="0"/>
                <a:ea typeface="Cambria" pitchFamily="34" charset="-122"/>
                <a:cs typeface="Cambria" pitchFamily="34" charset="-120"/>
              </a:rPr>
              <a:t>Learning rate</a:t>
            </a:r>
            <a:endParaRPr lang="en-US" sz="1500" dirty="0"/>
          </a:p>
        </p:txBody>
      </p:sp>
      <p:sp>
        <p:nvSpPr>
          <p:cNvPr id="6" name="Shape 4"/>
          <p:cNvSpPr/>
          <p:nvPr/>
        </p:nvSpPr>
        <p:spPr>
          <a:xfrm>
            <a:off x="2926080" y="1700784"/>
            <a:ext cx="1417320" cy="402336"/>
          </a:xfrm>
          <a:prstGeom prst="roundRect">
            <a:avLst>
              <a:gd name="adj" fmla="val 50000"/>
            </a:avLst>
          </a:prstGeom>
          <a:solidFill>
            <a:srgbClr val="EAF2FB"/>
          </a:solidFill>
          <a:ln/>
        </p:spPr>
      </p:sp>
      <p:sp>
        <p:nvSpPr>
          <p:cNvPr id="7" name="Text 5"/>
          <p:cNvSpPr/>
          <p:nvPr/>
        </p:nvSpPr>
        <p:spPr>
          <a:xfrm>
            <a:off x="2926080" y="1700784"/>
            <a:ext cx="1417320" cy="402336"/>
          </a:xfrm>
          <a:prstGeom prst="rect">
            <a:avLst/>
          </a:prstGeom>
          <a:noFill/>
          <a:ln/>
        </p:spPr>
        <p:txBody>
          <a:bodyPr wrap="square" lIns="0" tIns="0" rIns="0" bIns="0" rtlCol="0" anchor="ctr"/>
          <a:lstStyle/>
          <a:p>
            <a:pPr marL="0" indent="0" algn="ctr">
              <a:buNone/>
            </a:pPr>
            <a:r>
              <a:rPr lang="en-US" sz="1150" b="1" dirty="0">
                <a:solidFill>
                  <a:srgbClr val="0B5CAD"/>
                </a:solidFill>
                <a:latin typeface="Calibri" pitchFamily="34" charset="0"/>
                <a:ea typeface="Calibri" pitchFamily="34" charset="-122"/>
                <a:cs typeface="Calibri" pitchFamily="34" charset="-120"/>
              </a:rPr>
              <a:t>0.03</a:t>
            </a:r>
            <a:endParaRPr lang="en-US" sz="1150" dirty="0"/>
          </a:p>
        </p:txBody>
      </p:sp>
      <p:sp>
        <p:nvSpPr>
          <p:cNvPr id="8" name="Text 6"/>
          <p:cNvSpPr/>
          <p:nvPr/>
        </p:nvSpPr>
        <p:spPr>
          <a:xfrm>
            <a:off x="4526280" y="1517904"/>
            <a:ext cx="5074920" cy="768096"/>
          </a:xfrm>
          <a:prstGeom prst="rect">
            <a:avLst/>
          </a:prstGeom>
          <a:noFill/>
          <a:ln/>
        </p:spPr>
        <p:txBody>
          <a:bodyPr wrap="square" lIns="0" tIns="0" rIns="0" bIns="0" rtlCol="0" anchor="ctr"/>
          <a:lstStyle/>
          <a:p>
            <a:pPr marL="0" indent="0">
              <a:buNone/>
            </a:pPr>
            <a:r>
              <a:rPr lang="en-US" sz="1250" dirty="0">
                <a:solidFill>
                  <a:srgbClr val="1A2733"/>
                </a:solidFill>
                <a:latin typeface="Calibri" pitchFamily="34" charset="0"/>
                <a:ea typeface="Calibri" pitchFamily="34" charset="-122"/>
                <a:cs typeface="Calibri" pitchFamily="34" charset="-120"/>
              </a:rPr>
              <a:t>Step size for walking downhill. Too big overshoots the valley; too small crawls.</a:t>
            </a:r>
            <a:endParaRPr lang="en-US" sz="1250" dirty="0"/>
          </a:p>
        </p:txBody>
      </p:sp>
      <p:sp>
        <p:nvSpPr>
          <p:cNvPr id="9" name="Text 7"/>
          <p:cNvSpPr/>
          <p:nvPr/>
        </p:nvSpPr>
        <p:spPr>
          <a:xfrm>
            <a:off x="9692640" y="1517904"/>
            <a:ext cx="1874520" cy="768096"/>
          </a:xfrm>
          <a:prstGeom prst="rect">
            <a:avLst/>
          </a:prstGeom>
          <a:noFill/>
          <a:ln/>
        </p:spPr>
        <p:txBody>
          <a:bodyPr wrap="square" lIns="0" tIns="0" rIns="0" bIns="0" rtlCol="0" anchor="ctr"/>
          <a:lstStyle/>
          <a:p>
            <a:pPr marL="0" indent="0">
              <a:buNone/>
            </a:pPr>
            <a:r>
              <a:rPr lang="en-US" sz="1150" b="1" i="1" dirty="0">
                <a:solidFill>
                  <a:srgbClr val="2E7D5B"/>
                </a:solidFill>
                <a:latin typeface="Calibri" pitchFamily="34" charset="0"/>
                <a:ea typeface="Calibri" pitchFamily="34" charset="-122"/>
                <a:cs typeface="Calibri" pitchFamily="34" charset="-120"/>
              </a:rPr>
              <a:t>→ gradient descent</a:t>
            </a:r>
            <a:endParaRPr lang="en-US" sz="1150" dirty="0"/>
          </a:p>
        </p:txBody>
      </p:sp>
      <p:sp>
        <p:nvSpPr>
          <p:cNvPr id="10" name="Shape 8"/>
          <p:cNvSpPr/>
          <p:nvPr/>
        </p:nvSpPr>
        <p:spPr>
          <a:xfrm>
            <a:off x="548640" y="2395728"/>
            <a:ext cx="11091672" cy="841248"/>
          </a:xfrm>
          <a:prstGeom prst="roundRect">
            <a:avLst>
              <a:gd name="adj" fmla="val 6522"/>
            </a:avLst>
          </a:prstGeom>
          <a:solidFill>
            <a:srgbClr val="F5F8FB"/>
          </a:solidFill>
          <a:ln w="12700">
            <a:solidFill>
              <a:srgbClr val="DDE5EC"/>
            </a:solidFill>
            <a:prstDash val="solid"/>
          </a:ln>
        </p:spPr>
      </p:sp>
      <p:sp>
        <p:nvSpPr>
          <p:cNvPr id="11" name="Text 9"/>
          <p:cNvSpPr/>
          <p:nvPr/>
        </p:nvSpPr>
        <p:spPr>
          <a:xfrm>
            <a:off x="777240" y="2432304"/>
            <a:ext cx="2103120" cy="768096"/>
          </a:xfrm>
          <a:prstGeom prst="rect">
            <a:avLst/>
          </a:prstGeom>
          <a:noFill/>
          <a:ln/>
        </p:spPr>
        <p:txBody>
          <a:bodyPr wrap="square" lIns="0" tIns="0" rIns="0" bIns="0" rtlCol="0" anchor="ctr"/>
          <a:lstStyle/>
          <a:p>
            <a:pPr marL="0" indent="0">
              <a:buNone/>
            </a:pPr>
            <a:r>
              <a:rPr lang="en-US" sz="1500" b="1" dirty="0">
                <a:solidFill>
                  <a:srgbClr val="1A2733"/>
                </a:solidFill>
                <a:latin typeface="Cambria" pitchFamily="34" charset="0"/>
                <a:ea typeface="Cambria" pitchFamily="34" charset="-122"/>
                <a:cs typeface="Cambria" pitchFamily="34" charset="-120"/>
              </a:rPr>
              <a:t>Activation</a:t>
            </a:r>
            <a:endParaRPr lang="en-US" sz="1500" dirty="0"/>
          </a:p>
        </p:txBody>
      </p:sp>
      <p:sp>
        <p:nvSpPr>
          <p:cNvPr id="12" name="Shape 10"/>
          <p:cNvSpPr/>
          <p:nvPr/>
        </p:nvSpPr>
        <p:spPr>
          <a:xfrm>
            <a:off x="2926080" y="2615184"/>
            <a:ext cx="1417320" cy="402336"/>
          </a:xfrm>
          <a:prstGeom prst="roundRect">
            <a:avLst>
              <a:gd name="adj" fmla="val 50000"/>
            </a:avLst>
          </a:prstGeom>
          <a:solidFill>
            <a:srgbClr val="EAF2FB"/>
          </a:solidFill>
          <a:ln/>
        </p:spPr>
      </p:sp>
      <p:sp>
        <p:nvSpPr>
          <p:cNvPr id="13" name="Text 11"/>
          <p:cNvSpPr/>
          <p:nvPr/>
        </p:nvSpPr>
        <p:spPr>
          <a:xfrm>
            <a:off x="2926080" y="2615184"/>
            <a:ext cx="1417320" cy="402336"/>
          </a:xfrm>
          <a:prstGeom prst="rect">
            <a:avLst/>
          </a:prstGeom>
          <a:noFill/>
          <a:ln/>
        </p:spPr>
        <p:txBody>
          <a:bodyPr wrap="square" lIns="0" tIns="0" rIns="0" bIns="0" rtlCol="0" anchor="ctr"/>
          <a:lstStyle/>
          <a:p>
            <a:pPr marL="0" indent="0" algn="ctr">
              <a:buNone/>
            </a:pPr>
            <a:r>
              <a:rPr lang="en-US" sz="1150" b="1" dirty="0">
                <a:solidFill>
                  <a:srgbClr val="0B5CAD"/>
                </a:solidFill>
                <a:latin typeface="Calibri" pitchFamily="34" charset="0"/>
                <a:ea typeface="Calibri" pitchFamily="34" charset="-122"/>
                <a:cs typeface="Calibri" pitchFamily="34" charset="-120"/>
              </a:rPr>
              <a:t>Tanh / ReLU</a:t>
            </a:r>
            <a:endParaRPr lang="en-US" sz="1150" dirty="0"/>
          </a:p>
        </p:txBody>
      </p:sp>
      <p:sp>
        <p:nvSpPr>
          <p:cNvPr id="14" name="Text 12"/>
          <p:cNvSpPr/>
          <p:nvPr/>
        </p:nvSpPr>
        <p:spPr>
          <a:xfrm>
            <a:off x="4526280" y="2432304"/>
            <a:ext cx="5074920" cy="768096"/>
          </a:xfrm>
          <a:prstGeom prst="rect">
            <a:avLst/>
          </a:prstGeom>
          <a:noFill/>
          <a:ln/>
        </p:spPr>
        <p:txBody>
          <a:bodyPr wrap="square" lIns="0" tIns="0" rIns="0" bIns="0" rtlCol="0" anchor="ctr"/>
          <a:lstStyle/>
          <a:p>
            <a:pPr marL="0" indent="0">
              <a:buNone/>
            </a:pPr>
            <a:r>
              <a:rPr lang="en-US" sz="1250" dirty="0">
                <a:solidFill>
                  <a:srgbClr val="1A2733"/>
                </a:solidFill>
                <a:latin typeface="Calibri" pitchFamily="34" charset="0"/>
                <a:ea typeface="Calibri" pitchFamily="34" charset="-122"/>
                <a:cs typeface="Calibri" pitchFamily="34" charset="-120"/>
              </a:rPr>
              <a:t>The “bend” after each layer that lets the network learn curves, not just straight lines.</a:t>
            </a:r>
            <a:endParaRPr lang="en-US" sz="1250" dirty="0"/>
          </a:p>
        </p:txBody>
      </p:sp>
      <p:sp>
        <p:nvSpPr>
          <p:cNvPr id="15" name="Text 13"/>
          <p:cNvSpPr/>
          <p:nvPr/>
        </p:nvSpPr>
        <p:spPr>
          <a:xfrm>
            <a:off x="9692640" y="2432304"/>
            <a:ext cx="1874520" cy="768096"/>
          </a:xfrm>
          <a:prstGeom prst="rect">
            <a:avLst/>
          </a:prstGeom>
          <a:noFill/>
          <a:ln/>
        </p:spPr>
        <p:txBody>
          <a:bodyPr wrap="square" lIns="0" tIns="0" rIns="0" bIns="0" rtlCol="0" anchor="ctr"/>
          <a:lstStyle/>
          <a:p>
            <a:pPr marL="0" indent="0">
              <a:buNone/>
            </a:pPr>
            <a:r>
              <a:rPr lang="en-US" sz="1150" b="1" i="1" dirty="0">
                <a:solidFill>
                  <a:srgbClr val="2E7D5B"/>
                </a:solidFill>
                <a:latin typeface="Calibri" pitchFamily="34" charset="0"/>
                <a:ea typeface="Calibri" pitchFamily="34" charset="-122"/>
                <a:cs typeface="Calibri" pitchFamily="34" charset="-120"/>
              </a:rPr>
              <a:t>→ activation functions</a:t>
            </a:r>
            <a:endParaRPr lang="en-US" sz="1150" dirty="0"/>
          </a:p>
        </p:txBody>
      </p:sp>
      <p:sp>
        <p:nvSpPr>
          <p:cNvPr id="16" name="Shape 14"/>
          <p:cNvSpPr/>
          <p:nvPr/>
        </p:nvSpPr>
        <p:spPr>
          <a:xfrm>
            <a:off x="548640" y="3310128"/>
            <a:ext cx="11091672" cy="841248"/>
          </a:xfrm>
          <a:prstGeom prst="roundRect">
            <a:avLst>
              <a:gd name="adj" fmla="val 6522"/>
            </a:avLst>
          </a:prstGeom>
          <a:solidFill>
            <a:srgbClr val="F5F8FB"/>
          </a:solidFill>
          <a:ln w="12700">
            <a:solidFill>
              <a:srgbClr val="DDE5EC"/>
            </a:solidFill>
            <a:prstDash val="solid"/>
          </a:ln>
        </p:spPr>
      </p:sp>
      <p:sp>
        <p:nvSpPr>
          <p:cNvPr id="17" name="Text 15"/>
          <p:cNvSpPr/>
          <p:nvPr/>
        </p:nvSpPr>
        <p:spPr>
          <a:xfrm>
            <a:off x="777240" y="3346704"/>
            <a:ext cx="2103120" cy="768096"/>
          </a:xfrm>
          <a:prstGeom prst="rect">
            <a:avLst/>
          </a:prstGeom>
          <a:noFill/>
          <a:ln/>
        </p:spPr>
        <p:txBody>
          <a:bodyPr wrap="square" lIns="0" tIns="0" rIns="0" bIns="0" rtlCol="0" anchor="ctr"/>
          <a:lstStyle/>
          <a:p>
            <a:pPr marL="0" indent="0">
              <a:buNone/>
            </a:pPr>
            <a:r>
              <a:rPr lang="en-US" sz="1500" b="1" dirty="0">
                <a:solidFill>
                  <a:srgbClr val="1A2733"/>
                </a:solidFill>
                <a:latin typeface="Cambria" pitchFamily="34" charset="0"/>
                <a:ea typeface="Cambria" pitchFamily="34" charset="-122"/>
                <a:cs typeface="Cambria" pitchFamily="34" charset="-120"/>
              </a:rPr>
              <a:t>Regularization</a:t>
            </a:r>
            <a:endParaRPr lang="en-US" sz="1500" dirty="0"/>
          </a:p>
        </p:txBody>
      </p:sp>
      <p:sp>
        <p:nvSpPr>
          <p:cNvPr id="18" name="Shape 16"/>
          <p:cNvSpPr/>
          <p:nvPr/>
        </p:nvSpPr>
        <p:spPr>
          <a:xfrm>
            <a:off x="2926080" y="3529584"/>
            <a:ext cx="1417320" cy="402336"/>
          </a:xfrm>
          <a:prstGeom prst="roundRect">
            <a:avLst>
              <a:gd name="adj" fmla="val 50000"/>
            </a:avLst>
          </a:prstGeom>
          <a:solidFill>
            <a:srgbClr val="EAF2FB"/>
          </a:solidFill>
          <a:ln/>
        </p:spPr>
      </p:sp>
      <p:sp>
        <p:nvSpPr>
          <p:cNvPr id="19" name="Text 17"/>
          <p:cNvSpPr/>
          <p:nvPr/>
        </p:nvSpPr>
        <p:spPr>
          <a:xfrm>
            <a:off x="2926080" y="3529584"/>
            <a:ext cx="1417320" cy="402336"/>
          </a:xfrm>
          <a:prstGeom prst="rect">
            <a:avLst/>
          </a:prstGeom>
          <a:noFill/>
          <a:ln/>
        </p:spPr>
        <p:txBody>
          <a:bodyPr wrap="square" lIns="0" tIns="0" rIns="0" bIns="0" rtlCol="0" anchor="ctr"/>
          <a:lstStyle/>
          <a:p>
            <a:pPr marL="0" indent="0" algn="ctr">
              <a:buNone/>
            </a:pPr>
            <a:r>
              <a:rPr lang="en-US" sz="1150" b="1" dirty="0">
                <a:solidFill>
                  <a:srgbClr val="0B5CAD"/>
                </a:solidFill>
                <a:latin typeface="Calibri" pitchFamily="34" charset="0"/>
                <a:ea typeface="Calibri" pitchFamily="34" charset="-122"/>
                <a:cs typeface="Calibri" pitchFamily="34" charset="-120"/>
              </a:rPr>
              <a:t>None / L1 / L2</a:t>
            </a:r>
            <a:endParaRPr lang="en-US" sz="1150" dirty="0"/>
          </a:p>
        </p:txBody>
      </p:sp>
      <p:sp>
        <p:nvSpPr>
          <p:cNvPr id="20" name="Text 18"/>
          <p:cNvSpPr/>
          <p:nvPr/>
        </p:nvSpPr>
        <p:spPr>
          <a:xfrm>
            <a:off x="4526280" y="3346704"/>
            <a:ext cx="5074920" cy="768096"/>
          </a:xfrm>
          <a:prstGeom prst="rect">
            <a:avLst/>
          </a:prstGeom>
          <a:noFill/>
          <a:ln/>
        </p:spPr>
        <p:txBody>
          <a:bodyPr wrap="square" lIns="0" tIns="0" rIns="0" bIns="0" rtlCol="0" anchor="ctr"/>
          <a:lstStyle/>
          <a:p>
            <a:pPr marL="0" indent="0">
              <a:buNone/>
            </a:pPr>
            <a:r>
              <a:rPr lang="en-US" sz="1250" dirty="0">
                <a:solidFill>
                  <a:srgbClr val="1A2733"/>
                </a:solidFill>
                <a:latin typeface="Calibri" pitchFamily="34" charset="0"/>
                <a:ea typeface="Calibri" pitchFamily="34" charset="-122"/>
                <a:cs typeface="Calibri" pitchFamily="34" charset="-120"/>
              </a:rPr>
              <a:t>A brake on the weights that discourages memorizing — an anti-overfitting tool.</a:t>
            </a:r>
            <a:endParaRPr lang="en-US" sz="1250" dirty="0"/>
          </a:p>
        </p:txBody>
      </p:sp>
      <p:sp>
        <p:nvSpPr>
          <p:cNvPr id="21" name="Text 19"/>
          <p:cNvSpPr/>
          <p:nvPr/>
        </p:nvSpPr>
        <p:spPr>
          <a:xfrm>
            <a:off x="9692640" y="3346704"/>
            <a:ext cx="1874520" cy="768096"/>
          </a:xfrm>
          <a:prstGeom prst="rect">
            <a:avLst/>
          </a:prstGeom>
          <a:noFill/>
          <a:ln/>
        </p:spPr>
        <p:txBody>
          <a:bodyPr wrap="square" lIns="0" tIns="0" rIns="0" bIns="0" rtlCol="0" anchor="ctr"/>
          <a:lstStyle/>
          <a:p>
            <a:pPr marL="0" indent="0">
              <a:buNone/>
            </a:pPr>
            <a:r>
              <a:rPr lang="en-US" sz="1150" b="1" i="1" dirty="0">
                <a:solidFill>
                  <a:srgbClr val="2E7D5B"/>
                </a:solidFill>
                <a:latin typeface="Calibri" pitchFamily="34" charset="0"/>
                <a:ea typeface="Calibri" pitchFamily="34" charset="-122"/>
                <a:cs typeface="Calibri" pitchFamily="34" charset="-120"/>
              </a:rPr>
              <a:t>→ overfitting</a:t>
            </a:r>
            <a:endParaRPr lang="en-US" sz="1150" dirty="0"/>
          </a:p>
        </p:txBody>
      </p:sp>
      <p:sp>
        <p:nvSpPr>
          <p:cNvPr id="22" name="Shape 20"/>
          <p:cNvSpPr/>
          <p:nvPr/>
        </p:nvSpPr>
        <p:spPr>
          <a:xfrm>
            <a:off x="548640" y="4224528"/>
            <a:ext cx="11091672" cy="841248"/>
          </a:xfrm>
          <a:prstGeom prst="roundRect">
            <a:avLst>
              <a:gd name="adj" fmla="val 6522"/>
            </a:avLst>
          </a:prstGeom>
          <a:solidFill>
            <a:srgbClr val="F5F8FB"/>
          </a:solidFill>
          <a:ln w="12700">
            <a:solidFill>
              <a:srgbClr val="DDE5EC"/>
            </a:solidFill>
            <a:prstDash val="solid"/>
          </a:ln>
        </p:spPr>
      </p:sp>
      <p:sp>
        <p:nvSpPr>
          <p:cNvPr id="23" name="Text 21"/>
          <p:cNvSpPr/>
          <p:nvPr/>
        </p:nvSpPr>
        <p:spPr>
          <a:xfrm>
            <a:off x="777240" y="4261104"/>
            <a:ext cx="2103120" cy="768096"/>
          </a:xfrm>
          <a:prstGeom prst="rect">
            <a:avLst/>
          </a:prstGeom>
          <a:noFill/>
          <a:ln/>
        </p:spPr>
        <p:txBody>
          <a:bodyPr wrap="square" lIns="0" tIns="0" rIns="0" bIns="0" rtlCol="0" anchor="ctr"/>
          <a:lstStyle/>
          <a:p>
            <a:pPr marL="0" indent="0">
              <a:buNone/>
            </a:pPr>
            <a:r>
              <a:rPr lang="en-US" sz="1500" b="1" dirty="0">
                <a:solidFill>
                  <a:srgbClr val="1A2733"/>
                </a:solidFill>
                <a:latin typeface="Cambria" pitchFamily="34" charset="0"/>
                <a:ea typeface="Cambria" pitchFamily="34" charset="-122"/>
                <a:cs typeface="Cambria" pitchFamily="34" charset="-120"/>
              </a:rPr>
              <a:t>Regularization rate</a:t>
            </a:r>
            <a:endParaRPr lang="en-US" sz="1500" dirty="0"/>
          </a:p>
        </p:txBody>
      </p:sp>
      <p:sp>
        <p:nvSpPr>
          <p:cNvPr id="24" name="Shape 22"/>
          <p:cNvSpPr/>
          <p:nvPr/>
        </p:nvSpPr>
        <p:spPr>
          <a:xfrm>
            <a:off x="2926080" y="4443984"/>
            <a:ext cx="1417320" cy="402336"/>
          </a:xfrm>
          <a:prstGeom prst="roundRect">
            <a:avLst>
              <a:gd name="adj" fmla="val 50000"/>
            </a:avLst>
          </a:prstGeom>
          <a:solidFill>
            <a:srgbClr val="EAF2FB"/>
          </a:solidFill>
          <a:ln/>
        </p:spPr>
      </p:sp>
      <p:sp>
        <p:nvSpPr>
          <p:cNvPr id="25" name="Text 23"/>
          <p:cNvSpPr/>
          <p:nvPr/>
        </p:nvSpPr>
        <p:spPr>
          <a:xfrm>
            <a:off x="2926080" y="4443984"/>
            <a:ext cx="1417320" cy="402336"/>
          </a:xfrm>
          <a:prstGeom prst="rect">
            <a:avLst/>
          </a:prstGeom>
          <a:noFill/>
          <a:ln/>
        </p:spPr>
        <p:txBody>
          <a:bodyPr wrap="square" lIns="0" tIns="0" rIns="0" bIns="0" rtlCol="0" anchor="ctr"/>
          <a:lstStyle/>
          <a:p>
            <a:pPr marL="0" indent="0" algn="ctr">
              <a:buNone/>
            </a:pPr>
            <a:r>
              <a:rPr lang="en-US" sz="1150" b="1" dirty="0">
                <a:solidFill>
                  <a:srgbClr val="0B5CAD"/>
                </a:solidFill>
                <a:latin typeface="Calibri" pitchFamily="34" charset="0"/>
                <a:ea typeface="Calibri" pitchFamily="34" charset="-122"/>
                <a:cs typeface="Calibri" pitchFamily="34" charset="-120"/>
              </a:rPr>
              <a:t>0</a:t>
            </a:r>
            <a:endParaRPr lang="en-US" sz="1150" dirty="0"/>
          </a:p>
        </p:txBody>
      </p:sp>
      <p:sp>
        <p:nvSpPr>
          <p:cNvPr id="26" name="Text 24"/>
          <p:cNvSpPr/>
          <p:nvPr/>
        </p:nvSpPr>
        <p:spPr>
          <a:xfrm>
            <a:off x="4526280" y="4261104"/>
            <a:ext cx="5074920" cy="768096"/>
          </a:xfrm>
          <a:prstGeom prst="rect">
            <a:avLst/>
          </a:prstGeom>
          <a:noFill/>
          <a:ln/>
        </p:spPr>
        <p:txBody>
          <a:bodyPr wrap="square" lIns="0" tIns="0" rIns="0" bIns="0" rtlCol="0" anchor="ctr"/>
          <a:lstStyle/>
          <a:p>
            <a:pPr marL="0" indent="0">
              <a:buNone/>
            </a:pPr>
            <a:r>
              <a:rPr lang="en-US" sz="1250" dirty="0">
                <a:solidFill>
                  <a:srgbClr val="1A2733"/>
                </a:solidFill>
                <a:latin typeface="Calibri" pitchFamily="34" charset="0"/>
                <a:ea typeface="Calibri" pitchFamily="34" charset="-122"/>
                <a:cs typeface="Calibri" pitchFamily="34" charset="-120"/>
              </a:rPr>
              <a:t>How hard to apply that brake. Higher = simpler model, less memorizing.</a:t>
            </a:r>
            <a:endParaRPr lang="en-US" sz="1250" dirty="0"/>
          </a:p>
        </p:txBody>
      </p:sp>
      <p:sp>
        <p:nvSpPr>
          <p:cNvPr id="27" name="Text 25"/>
          <p:cNvSpPr/>
          <p:nvPr/>
        </p:nvSpPr>
        <p:spPr>
          <a:xfrm>
            <a:off x="9692640" y="4261104"/>
            <a:ext cx="1874520" cy="768096"/>
          </a:xfrm>
          <a:prstGeom prst="rect">
            <a:avLst/>
          </a:prstGeom>
          <a:noFill/>
          <a:ln/>
        </p:spPr>
        <p:txBody>
          <a:bodyPr wrap="square" lIns="0" tIns="0" rIns="0" bIns="0" rtlCol="0" anchor="ctr"/>
          <a:lstStyle/>
          <a:p>
            <a:pPr marL="0" indent="0">
              <a:buNone/>
            </a:pPr>
            <a:r>
              <a:rPr lang="en-US" sz="1150" b="1" i="1" dirty="0">
                <a:solidFill>
                  <a:srgbClr val="2E7D5B"/>
                </a:solidFill>
                <a:latin typeface="Calibri" pitchFamily="34" charset="0"/>
                <a:ea typeface="Calibri" pitchFamily="34" charset="-122"/>
                <a:cs typeface="Calibri" pitchFamily="34" charset="-120"/>
              </a:rPr>
              <a:t>→ overfitting</a:t>
            </a:r>
            <a:endParaRPr lang="en-US" sz="1150" dirty="0"/>
          </a:p>
        </p:txBody>
      </p:sp>
      <p:sp>
        <p:nvSpPr>
          <p:cNvPr id="28" name="Shape 26"/>
          <p:cNvSpPr/>
          <p:nvPr/>
        </p:nvSpPr>
        <p:spPr>
          <a:xfrm>
            <a:off x="548640" y="5138928"/>
            <a:ext cx="11091672" cy="841248"/>
          </a:xfrm>
          <a:prstGeom prst="roundRect">
            <a:avLst>
              <a:gd name="adj" fmla="val 6522"/>
            </a:avLst>
          </a:prstGeom>
          <a:solidFill>
            <a:srgbClr val="F5F8FB"/>
          </a:solidFill>
          <a:ln w="12700">
            <a:solidFill>
              <a:srgbClr val="DDE5EC"/>
            </a:solidFill>
            <a:prstDash val="solid"/>
          </a:ln>
        </p:spPr>
      </p:sp>
      <p:sp>
        <p:nvSpPr>
          <p:cNvPr id="29" name="Text 27"/>
          <p:cNvSpPr/>
          <p:nvPr/>
        </p:nvSpPr>
        <p:spPr>
          <a:xfrm>
            <a:off x="777240" y="5175504"/>
            <a:ext cx="2103120" cy="768096"/>
          </a:xfrm>
          <a:prstGeom prst="rect">
            <a:avLst/>
          </a:prstGeom>
          <a:noFill/>
          <a:ln/>
        </p:spPr>
        <p:txBody>
          <a:bodyPr wrap="square" lIns="0" tIns="0" rIns="0" bIns="0" rtlCol="0" anchor="ctr"/>
          <a:lstStyle/>
          <a:p>
            <a:pPr marL="0" indent="0">
              <a:buNone/>
            </a:pPr>
            <a:r>
              <a:rPr lang="en-US" sz="1500" b="1" dirty="0">
                <a:solidFill>
                  <a:srgbClr val="1A2733"/>
                </a:solidFill>
                <a:latin typeface="Cambria" pitchFamily="34" charset="0"/>
                <a:ea typeface="Cambria" pitchFamily="34" charset="-122"/>
                <a:cs typeface="Cambria" pitchFamily="34" charset="-120"/>
              </a:rPr>
              <a:t>Problem type</a:t>
            </a:r>
            <a:endParaRPr lang="en-US" sz="1500" dirty="0"/>
          </a:p>
        </p:txBody>
      </p:sp>
      <p:sp>
        <p:nvSpPr>
          <p:cNvPr id="30" name="Shape 28"/>
          <p:cNvSpPr/>
          <p:nvPr/>
        </p:nvSpPr>
        <p:spPr>
          <a:xfrm>
            <a:off x="2926080" y="5358384"/>
            <a:ext cx="1417320" cy="402336"/>
          </a:xfrm>
          <a:prstGeom prst="roundRect">
            <a:avLst>
              <a:gd name="adj" fmla="val 50000"/>
            </a:avLst>
          </a:prstGeom>
          <a:solidFill>
            <a:srgbClr val="EAF2FB"/>
          </a:solidFill>
          <a:ln/>
        </p:spPr>
      </p:sp>
      <p:sp>
        <p:nvSpPr>
          <p:cNvPr id="31" name="Text 29"/>
          <p:cNvSpPr/>
          <p:nvPr/>
        </p:nvSpPr>
        <p:spPr>
          <a:xfrm>
            <a:off x="2926080" y="5358384"/>
            <a:ext cx="1417320" cy="402336"/>
          </a:xfrm>
          <a:prstGeom prst="rect">
            <a:avLst/>
          </a:prstGeom>
          <a:noFill/>
          <a:ln/>
        </p:spPr>
        <p:txBody>
          <a:bodyPr wrap="square" lIns="0" tIns="0" rIns="0" bIns="0" rtlCol="0" anchor="ctr"/>
          <a:lstStyle/>
          <a:p>
            <a:pPr marL="0" indent="0" algn="ctr">
              <a:buNone/>
            </a:pPr>
            <a:r>
              <a:rPr lang="en-US" sz="1150" b="1" dirty="0">
                <a:solidFill>
                  <a:srgbClr val="0B5CAD"/>
                </a:solidFill>
                <a:latin typeface="Calibri" pitchFamily="34" charset="0"/>
                <a:ea typeface="Calibri" pitchFamily="34" charset="-122"/>
                <a:cs typeface="Calibri" pitchFamily="34" charset="-120"/>
              </a:rPr>
              <a:t>Classification</a:t>
            </a:r>
            <a:endParaRPr lang="en-US" sz="1150" dirty="0"/>
          </a:p>
        </p:txBody>
      </p:sp>
      <p:sp>
        <p:nvSpPr>
          <p:cNvPr id="32" name="Text 30"/>
          <p:cNvSpPr/>
          <p:nvPr/>
        </p:nvSpPr>
        <p:spPr>
          <a:xfrm>
            <a:off x="4526280" y="5175504"/>
            <a:ext cx="5074920" cy="768096"/>
          </a:xfrm>
          <a:prstGeom prst="rect">
            <a:avLst/>
          </a:prstGeom>
          <a:noFill/>
          <a:ln/>
        </p:spPr>
        <p:txBody>
          <a:bodyPr wrap="square" lIns="0" tIns="0" rIns="0" bIns="0" rtlCol="0" anchor="ctr"/>
          <a:lstStyle/>
          <a:p>
            <a:pPr marL="0" indent="0">
              <a:buNone/>
            </a:pPr>
            <a:r>
              <a:rPr lang="en-US" sz="1250" dirty="0">
                <a:solidFill>
                  <a:srgbClr val="1A2733"/>
                </a:solidFill>
                <a:latin typeface="Calibri" pitchFamily="34" charset="0"/>
                <a:ea typeface="Calibri" pitchFamily="34" charset="-122"/>
                <a:cs typeface="Calibri" pitchFamily="34" charset="-120"/>
              </a:rPr>
              <a:t>Sorting into categories (shirt vs bag) vs predicting a number. Ours is classification.</a:t>
            </a:r>
            <a:endParaRPr lang="en-US" sz="1250" dirty="0"/>
          </a:p>
        </p:txBody>
      </p:sp>
      <p:sp>
        <p:nvSpPr>
          <p:cNvPr id="33" name="Text 31"/>
          <p:cNvSpPr/>
          <p:nvPr/>
        </p:nvSpPr>
        <p:spPr>
          <a:xfrm>
            <a:off x="9692640" y="5175504"/>
            <a:ext cx="1874520" cy="768096"/>
          </a:xfrm>
          <a:prstGeom prst="rect">
            <a:avLst/>
          </a:prstGeom>
          <a:noFill/>
          <a:ln/>
        </p:spPr>
        <p:txBody>
          <a:bodyPr wrap="square" lIns="0" tIns="0" rIns="0" bIns="0" rtlCol="0" anchor="ctr"/>
          <a:lstStyle/>
          <a:p>
            <a:pPr marL="0" indent="0">
              <a:buNone/>
            </a:pPr>
            <a:r>
              <a:rPr lang="en-US" sz="1150" b="1" i="1" dirty="0">
                <a:solidFill>
                  <a:srgbClr val="2E7D5B"/>
                </a:solidFill>
                <a:latin typeface="Calibri" pitchFamily="34" charset="0"/>
                <a:ea typeface="Calibri" pitchFamily="34" charset="-122"/>
                <a:cs typeface="Calibri" pitchFamily="34" charset="-120"/>
              </a:rPr>
              <a:t>→ 10 clothing classes</a:t>
            </a:r>
            <a:endParaRPr lang="en-US" sz="1150" dirty="0"/>
          </a:p>
        </p:txBody>
      </p:sp>
      <p:sp>
        <p:nvSpPr>
          <p:cNvPr id="34" name="Text 32"/>
          <p:cNvSpPr/>
          <p:nvPr/>
        </p:nvSpPr>
        <p:spPr>
          <a:xfrm>
            <a:off x="548640" y="6144768"/>
            <a:ext cx="11064240" cy="365760"/>
          </a:xfrm>
          <a:prstGeom prst="rect">
            <a:avLst/>
          </a:prstGeom>
          <a:noFill/>
          <a:ln/>
        </p:spPr>
        <p:txBody>
          <a:bodyPr wrap="square" lIns="0" tIns="0" rIns="0" bIns="0" rtlCol="0" anchor="ctr"/>
          <a:lstStyle/>
          <a:p>
            <a:pPr marL="0" indent="0">
              <a:buNone/>
            </a:pPr>
            <a:r>
              <a:rPr lang="en-US" sz="1250" i="1" dirty="0">
                <a:solidFill>
                  <a:srgbClr val="0B5CAD"/>
                </a:solidFill>
                <a:latin typeface="Calibri" pitchFamily="34" charset="0"/>
                <a:ea typeface="Calibri" pitchFamily="34" charset="-122"/>
                <a:cs typeface="Calibri" pitchFamily="34" charset="-120"/>
              </a:rPr>
              <a:t>Same ideas, two tools: sliders in Playground yesterday, a few lines of code in Colab today. The concepts don't change.</a:t>
            </a:r>
            <a:endParaRPr lang="en-US" sz="1250" dirty="0"/>
          </a:p>
        </p:txBody>
      </p:sp>
      <p:sp>
        <p:nvSpPr>
          <p:cNvPr id="35" name="Text 33"/>
          <p:cNvSpPr/>
          <p:nvPr/>
        </p:nvSpPr>
        <p:spPr>
          <a:xfrm>
            <a:off x="548640" y="6473952"/>
            <a:ext cx="11091672" cy="274320"/>
          </a:xfrm>
          <a:prstGeom prst="rect">
            <a:avLst/>
          </a:prstGeom>
          <a:noFill/>
          <a:ln/>
        </p:spPr>
        <p:txBody>
          <a:bodyPr wrap="square" lIns="0" tIns="0" rIns="0" bIns="0" rtlCol="0" anchor="ctr"/>
          <a:lstStyle/>
          <a:p>
            <a:pPr marL="0" indent="0">
              <a:buNone/>
            </a:pPr>
            <a:r>
              <a:rPr lang="en-US" sz="900" dirty="0">
                <a:solidFill>
                  <a:srgbClr val="5B6470"/>
                </a:solidFill>
                <a:latin typeface="Calibri" pitchFamily="34" charset="0"/>
                <a:ea typeface="Calibri" pitchFamily="34" charset="-122"/>
                <a:cs typeface="Calibri" pitchFamily="34" charset="-120"/>
              </a:rPr>
              <a:t>Digital Communication &amp; Emerging Technologies · NCCU ISS 2026 · Day 2  |  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48640" y="292608"/>
            <a:ext cx="11091672" cy="658368"/>
          </a:xfrm>
          <a:prstGeom prst="rect">
            <a:avLst/>
          </a:prstGeom>
          <a:noFill/>
          <a:ln/>
        </p:spPr>
        <p:txBody>
          <a:bodyPr wrap="square" lIns="0" tIns="0" rIns="0" bIns="0" rtlCol="0" anchor="ctr"/>
          <a:lstStyle/>
          <a:p>
            <a:pPr marL="0" indent="0">
              <a:buNone/>
            </a:pPr>
            <a:r>
              <a:rPr lang="en-US" sz="3100" b="1" dirty="0">
                <a:solidFill>
                  <a:srgbClr val="1A2733"/>
                </a:solidFill>
                <a:latin typeface="Cambria" pitchFamily="34" charset="0"/>
                <a:ea typeface="Cambria" pitchFamily="34" charset="-122"/>
                <a:cs typeface="Cambria" pitchFamily="34" charset="-120"/>
              </a:rPr>
              <a:t>Where we run code: Google Colab</a:t>
            </a:r>
            <a:endParaRPr lang="en-US" sz="3100" dirty="0"/>
          </a:p>
        </p:txBody>
      </p:sp>
      <p:sp>
        <p:nvSpPr>
          <p:cNvPr id="3" name="Text 1"/>
          <p:cNvSpPr/>
          <p:nvPr/>
        </p:nvSpPr>
        <p:spPr>
          <a:xfrm>
            <a:off x="548640" y="896112"/>
            <a:ext cx="11091672" cy="365760"/>
          </a:xfrm>
          <a:prstGeom prst="rect">
            <a:avLst/>
          </a:prstGeom>
          <a:noFill/>
          <a:ln/>
        </p:spPr>
        <p:txBody>
          <a:bodyPr wrap="square" lIns="0" tIns="0" rIns="0" bIns="0" rtlCol="0" anchor="ctr"/>
          <a:lstStyle/>
          <a:p>
            <a:pPr marL="0" indent="0">
              <a:buNone/>
            </a:pPr>
            <a:r>
              <a:rPr lang="en-US" sz="1500" i="1" dirty="0">
                <a:solidFill>
                  <a:srgbClr val="5B6470"/>
                </a:solidFill>
                <a:latin typeface="Calibri" pitchFamily="34" charset="0"/>
                <a:ea typeface="Calibri" pitchFamily="34" charset="-122"/>
                <a:cs typeface="Calibri" pitchFamily="34" charset="-120"/>
              </a:rPr>
              <a:t>A free coding notebook in your browser — nothing to install</a:t>
            </a:r>
            <a:endParaRPr lang="en-US" sz="1500" dirty="0"/>
          </a:p>
        </p:txBody>
      </p:sp>
      <p:sp>
        <p:nvSpPr>
          <p:cNvPr id="4" name="Shape 2"/>
          <p:cNvSpPr/>
          <p:nvPr/>
        </p:nvSpPr>
        <p:spPr>
          <a:xfrm>
            <a:off x="548640" y="1691640"/>
            <a:ext cx="3575304" cy="2880360"/>
          </a:xfrm>
          <a:prstGeom prst="roundRect">
            <a:avLst>
              <a:gd name="adj" fmla="val 2540"/>
            </a:avLst>
          </a:prstGeom>
          <a:solidFill>
            <a:srgbClr val="F5F8FB"/>
          </a:solidFill>
          <a:ln w="12700">
            <a:solidFill>
              <a:srgbClr val="DDE5EC"/>
            </a:solidFill>
            <a:prstDash val="solid"/>
          </a:ln>
        </p:spPr>
      </p:sp>
      <p:pic>
        <p:nvPicPr>
          <p:cNvPr id="5" name="Image 0" descr="preencoded.png"/>
          <p:cNvPicPr>
            <a:picLocks noChangeAspect="1"/>
          </p:cNvPicPr>
          <p:nvPr/>
        </p:nvPicPr>
        <p:blipFill>
          <a:blip r:embed="rId3"/>
          <a:stretch>
            <a:fillRect/>
          </a:stretch>
        </p:blipFill>
        <p:spPr>
          <a:xfrm>
            <a:off x="822960" y="1920240"/>
            <a:ext cx="457200" cy="457200"/>
          </a:xfrm>
          <a:prstGeom prst="rect">
            <a:avLst/>
          </a:prstGeom>
        </p:spPr>
      </p:pic>
      <p:sp>
        <p:nvSpPr>
          <p:cNvPr id="6" name="Text 3"/>
          <p:cNvSpPr/>
          <p:nvPr/>
        </p:nvSpPr>
        <p:spPr>
          <a:xfrm>
            <a:off x="822960" y="2487168"/>
            <a:ext cx="3017520" cy="1965960"/>
          </a:xfrm>
          <a:prstGeom prst="rect">
            <a:avLst/>
          </a:prstGeom>
          <a:noFill/>
          <a:ln/>
        </p:spPr>
        <p:txBody>
          <a:bodyPr wrap="square" lIns="0" tIns="0" rIns="0" bIns="0" rtlCol="0" anchor="ctr"/>
          <a:lstStyle/>
          <a:p>
            <a:pPr marL="0" indent="0">
              <a:buNone/>
            </a:pPr>
            <a:r>
              <a:rPr lang="en-US" sz="1550" b="1" dirty="0">
                <a:solidFill>
                  <a:srgbClr val="0B5CAD"/>
                </a:solidFill>
                <a:latin typeface="Calibri" pitchFamily="34" charset="0"/>
                <a:ea typeface="Calibri" pitchFamily="34" charset="-122"/>
                <a:cs typeface="Calibri" pitchFamily="34" charset="-120"/>
              </a:rPr>
              <a:t>Runs in the browser
</a:t>
            </a:r>
            <a:r>
              <a:rPr lang="en-US" sz="1300" dirty="0">
                <a:solidFill>
                  <a:srgbClr val="1A2733"/>
                </a:solidFill>
                <a:latin typeface="Calibri" pitchFamily="34" charset="0"/>
                <a:ea typeface="Calibri" pitchFamily="34" charset="-122"/>
                <a:cs typeface="Calibri" pitchFamily="34" charset="-120"/>
              </a:rPr>
              <a:t>No setup, no installation. Works on the library computers. You just need a Google account.</a:t>
            </a:r>
            <a:endParaRPr lang="en-US" sz="1550" dirty="0"/>
          </a:p>
        </p:txBody>
      </p:sp>
      <p:sp>
        <p:nvSpPr>
          <p:cNvPr id="7" name="Shape 4"/>
          <p:cNvSpPr/>
          <p:nvPr/>
        </p:nvSpPr>
        <p:spPr>
          <a:xfrm>
            <a:off x="4306824" y="1691640"/>
            <a:ext cx="3575304" cy="2880360"/>
          </a:xfrm>
          <a:prstGeom prst="roundRect">
            <a:avLst>
              <a:gd name="adj" fmla="val 2540"/>
            </a:avLst>
          </a:prstGeom>
          <a:solidFill>
            <a:srgbClr val="F5F8FB"/>
          </a:solidFill>
          <a:ln w="12700">
            <a:solidFill>
              <a:srgbClr val="DDE5EC"/>
            </a:solidFill>
            <a:prstDash val="solid"/>
          </a:ln>
        </p:spPr>
      </p:sp>
      <p:pic>
        <p:nvPicPr>
          <p:cNvPr id="8" name="Image 1" descr="preencoded.png"/>
          <p:cNvPicPr>
            <a:picLocks noChangeAspect="1"/>
          </p:cNvPicPr>
          <p:nvPr/>
        </p:nvPicPr>
        <p:blipFill>
          <a:blip r:embed="rId4"/>
          <a:stretch>
            <a:fillRect/>
          </a:stretch>
        </p:blipFill>
        <p:spPr>
          <a:xfrm>
            <a:off x="4581144" y="1920240"/>
            <a:ext cx="457200" cy="457200"/>
          </a:xfrm>
          <a:prstGeom prst="rect">
            <a:avLst/>
          </a:prstGeom>
        </p:spPr>
      </p:pic>
      <p:sp>
        <p:nvSpPr>
          <p:cNvPr id="9" name="Text 5"/>
          <p:cNvSpPr/>
          <p:nvPr/>
        </p:nvSpPr>
        <p:spPr>
          <a:xfrm>
            <a:off x="4581144" y="2487168"/>
            <a:ext cx="3017520" cy="1965960"/>
          </a:xfrm>
          <a:prstGeom prst="rect">
            <a:avLst/>
          </a:prstGeom>
          <a:noFill/>
          <a:ln/>
        </p:spPr>
        <p:txBody>
          <a:bodyPr wrap="square" lIns="0" tIns="0" rIns="0" bIns="0" rtlCol="0" anchor="ctr"/>
          <a:lstStyle/>
          <a:p>
            <a:pPr marL="0" indent="0">
              <a:buNone/>
            </a:pPr>
            <a:r>
              <a:rPr lang="en-US" sz="1550" b="1" dirty="0">
                <a:solidFill>
                  <a:srgbClr val="0B5CAD"/>
                </a:solidFill>
                <a:latin typeface="Calibri" pitchFamily="34" charset="0"/>
                <a:ea typeface="Calibri" pitchFamily="34" charset="-122"/>
                <a:cs typeface="Calibri" pitchFamily="34" charset="-120"/>
              </a:rPr>
              <a:t>Cells you run one by one
</a:t>
            </a:r>
            <a:r>
              <a:rPr lang="en-US" sz="1300" dirty="0">
                <a:solidFill>
                  <a:srgbClr val="1A2733"/>
                </a:solidFill>
                <a:latin typeface="Calibri" pitchFamily="34" charset="0"/>
                <a:ea typeface="Calibri" pitchFamily="34" charset="-122"/>
                <a:cs typeface="Calibri" pitchFamily="34" charset="-120"/>
              </a:rPr>
              <a:t>A notebook is a stack of cells. Press the ▶ button (or Shift+Enter) to run one. Text cells explain; code cells do the work.</a:t>
            </a:r>
            <a:endParaRPr lang="en-US" sz="1550" dirty="0"/>
          </a:p>
        </p:txBody>
      </p:sp>
      <p:sp>
        <p:nvSpPr>
          <p:cNvPr id="10" name="Shape 6"/>
          <p:cNvSpPr/>
          <p:nvPr/>
        </p:nvSpPr>
        <p:spPr>
          <a:xfrm>
            <a:off x="8065008" y="1691640"/>
            <a:ext cx="3575304" cy="2880360"/>
          </a:xfrm>
          <a:prstGeom prst="roundRect">
            <a:avLst>
              <a:gd name="adj" fmla="val 2540"/>
            </a:avLst>
          </a:prstGeom>
          <a:solidFill>
            <a:srgbClr val="F5F8FB"/>
          </a:solidFill>
          <a:ln w="12700">
            <a:solidFill>
              <a:srgbClr val="DDE5EC"/>
            </a:solidFill>
            <a:prstDash val="solid"/>
          </a:ln>
        </p:spPr>
      </p:sp>
      <p:pic>
        <p:nvPicPr>
          <p:cNvPr id="11" name="Image 2" descr="preencoded.png"/>
          <p:cNvPicPr>
            <a:picLocks noChangeAspect="1"/>
          </p:cNvPicPr>
          <p:nvPr/>
        </p:nvPicPr>
        <p:blipFill>
          <a:blip r:embed="rId5"/>
          <a:stretch>
            <a:fillRect/>
          </a:stretch>
        </p:blipFill>
        <p:spPr>
          <a:xfrm>
            <a:off x="8339328" y="1920240"/>
            <a:ext cx="457200" cy="457200"/>
          </a:xfrm>
          <a:prstGeom prst="rect">
            <a:avLst/>
          </a:prstGeom>
        </p:spPr>
      </p:pic>
      <p:sp>
        <p:nvSpPr>
          <p:cNvPr id="12" name="Text 7"/>
          <p:cNvSpPr/>
          <p:nvPr/>
        </p:nvSpPr>
        <p:spPr>
          <a:xfrm>
            <a:off x="8339328" y="2487168"/>
            <a:ext cx="3017520" cy="1965960"/>
          </a:xfrm>
          <a:prstGeom prst="rect">
            <a:avLst/>
          </a:prstGeom>
          <a:noFill/>
          <a:ln/>
        </p:spPr>
        <p:txBody>
          <a:bodyPr wrap="square" lIns="0" tIns="0" rIns="0" bIns="0" rtlCol="0" anchor="ctr"/>
          <a:lstStyle/>
          <a:p>
            <a:pPr marL="0" indent="0">
              <a:buNone/>
            </a:pPr>
            <a:r>
              <a:rPr lang="en-US" sz="1550" b="1" dirty="0">
                <a:solidFill>
                  <a:srgbClr val="0B5CAD"/>
                </a:solidFill>
                <a:latin typeface="Calibri" pitchFamily="34" charset="0"/>
                <a:ea typeface="Calibri" pitchFamily="34" charset="-122"/>
                <a:cs typeface="Calibri" pitchFamily="34" charset="-120"/>
              </a:rPr>
              <a:t>Free computing power
</a:t>
            </a:r>
            <a:r>
              <a:rPr lang="en-US" sz="1300" dirty="0">
                <a:solidFill>
                  <a:srgbClr val="1A2733"/>
                </a:solidFill>
                <a:latin typeface="Calibri" pitchFamily="34" charset="0"/>
                <a:ea typeface="Calibri" pitchFamily="34" charset="-122"/>
                <a:cs typeface="Calibri" pitchFamily="34" charset="-120"/>
              </a:rPr>
              <a:t>Google lends you a computer (even a GPU) for free while your notebook is open. Great for training small models like ours.</a:t>
            </a:r>
            <a:endParaRPr lang="en-US" sz="1550" dirty="0"/>
          </a:p>
        </p:txBody>
      </p:sp>
      <p:sp>
        <p:nvSpPr>
          <p:cNvPr id="13" name="Shape 8"/>
          <p:cNvSpPr/>
          <p:nvPr/>
        </p:nvSpPr>
        <p:spPr>
          <a:xfrm>
            <a:off x="548640" y="4800600"/>
            <a:ext cx="11091672" cy="868680"/>
          </a:xfrm>
          <a:prstGeom prst="roundRect">
            <a:avLst>
              <a:gd name="adj" fmla="val 8421"/>
            </a:avLst>
          </a:prstGeom>
          <a:solidFill>
            <a:srgbClr val="EAF2FB"/>
          </a:solidFill>
          <a:ln/>
        </p:spPr>
      </p:sp>
      <p:sp>
        <p:nvSpPr>
          <p:cNvPr id="14" name="Text 9"/>
          <p:cNvSpPr/>
          <p:nvPr/>
        </p:nvSpPr>
        <p:spPr>
          <a:xfrm>
            <a:off x="868680" y="4937760"/>
            <a:ext cx="10424160" cy="640080"/>
          </a:xfrm>
          <a:prstGeom prst="rect">
            <a:avLst/>
          </a:prstGeom>
          <a:noFill/>
          <a:ln/>
        </p:spPr>
        <p:txBody>
          <a:bodyPr wrap="square" lIns="0" tIns="0" rIns="0" bIns="0" rtlCol="0" anchor="ctr"/>
          <a:lstStyle/>
          <a:p>
            <a:pPr marL="0" indent="0">
              <a:buNone/>
            </a:pPr>
            <a:r>
              <a:rPr lang="en-US" sz="1450" b="1" dirty="0">
                <a:solidFill>
                  <a:srgbClr val="0B5CAD"/>
                </a:solidFill>
                <a:latin typeface="Calibri" pitchFamily="34" charset="0"/>
                <a:ea typeface="Calibri" pitchFamily="34" charset="-122"/>
                <a:cs typeface="Calibri" pitchFamily="34" charset="-120"/>
              </a:rPr>
              <a:t>One habit to build: </a:t>
            </a:r>
            <a:r>
              <a:rPr lang="en-US" sz="1450" dirty="0">
                <a:solidFill>
                  <a:srgbClr val="1A2733"/>
                </a:solidFill>
                <a:latin typeface="Calibri" pitchFamily="34" charset="0"/>
                <a:ea typeface="Calibri" pitchFamily="34" charset="-122"/>
                <a:cs typeface="Calibri" pitchFamily="34" charset="-120"/>
              </a:rPr>
              <a:t>run cells top to bottom, in order. If something breaks, use Runtime → Run all to start clean. And always File → Save a copy in Drive so it's yours.</a:t>
            </a:r>
            <a:endParaRPr lang="en-US" sz="1450" dirty="0"/>
          </a:p>
        </p:txBody>
      </p:sp>
      <p:sp>
        <p:nvSpPr>
          <p:cNvPr id="15" name="Text 10"/>
          <p:cNvSpPr/>
          <p:nvPr/>
        </p:nvSpPr>
        <p:spPr>
          <a:xfrm>
            <a:off x="548640" y="6473952"/>
            <a:ext cx="11091672" cy="274320"/>
          </a:xfrm>
          <a:prstGeom prst="rect">
            <a:avLst/>
          </a:prstGeom>
          <a:noFill/>
          <a:ln/>
        </p:spPr>
        <p:txBody>
          <a:bodyPr wrap="square" lIns="0" tIns="0" rIns="0" bIns="0" rtlCol="0" anchor="ctr"/>
          <a:lstStyle/>
          <a:p>
            <a:pPr marL="0" indent="0">
              <a:buNone/>
            </a:pPr>
            <a:r>
              <a:rPr lang="en-US" sz="900" dirty="0">
                <a:solidFill>
                  <a:srgbClr val="5B6470"/>
                </a:solidFill>
                <a:latin typeface="Calibri" pitchFamily="34" charset="0"/>
                <a:ea typeface="Calibri" pitchFamily="34" charset="-122"/>
                <a:cs typeface="Calibri" pitchFamily="34" charset="-120"/>
              </a:rPr>
              <a:t>Digital Communication &amp; Emerging Technologies · NCCU ISS 2026 · Day 2  |  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48640" y="292608"/>
            <a:ext cx="11091672" cy="658368"/>
          </a:xfrm>
          <a:prstGeom prst="rect">
            <a:avLst/>
          </a:prstGeom>
          <a:noFill/>
          <a:ln/>
        </p:spPr>
        <p:txBody>
          <a:bodyPr wrap="square" lIns="0" tIns="0" rIns="0" bIns="0" rtlCol="0" anchor="ctr"/>
          <a:lstStyle/>
          <a:p>
            <a:pPr marL="0" indent="0">
              <a:buNone/>
            </a:pPr>
            <a:r>
              <a:rPr lang="en-US" sz="3100" b="1" dirty="0">
                <a:solidFill>
                  <a:srgbClr val="1A2733"/>
                </a:solidFill>
                <a:latin typeface="Cambria" pitchFamily="34" charset="0"/>
                <a:ea typeface="Cambria" pitchFamily="34" charset="-122"/>
                <a:cs typeface="Cambria" pitchFamily="34" charset="-120"/>
              </a:rPr>
              <a:t>Try it: your first two cells</a:t>
            </a:r>
            <a:endParaRPr lang="en-US" sz="3100" dirty="0"/>
          </a:p>
        </p:txBody>
      </p:sp>
      <p:sp>
        <p:nvSpPr>
          <p:cNvPr id="3" name="Text 1"/>
          <p:cNvSpPr/>
          <p:nvPr/>
        </p:nvSpPr>
        <p:spPr>
          <a:xfrm>
            <a:off x="548640" y="896112"/>
            <a:ext cx="11091672" cy="365760"/>
          </a:xfrm>
          <a:prstGeom prst="rect">
            <a:avLst/>
          </a:prstGeom>
          <a:noFill/>
          <a:ln/>
        </p:spPr>
        <p:txBody>
          <a:bodyPr wrap="square" lIns="0" tIns="0" rIns="0" bIns="0" rtlCol="0" anchor="ctr"/>
          <a:lstStyle/>
          <a:p>
            <a:pPr marL="0" indent="0">
              <a:buNone/>
            </a:pPr>
            <a:r>
              <a:rPr lang="en-US" sz="1500" i="1" dirty="0">
                <a:solidFill>
                  <a:srgbClr val="5B6470"/>
                </a:solidFill>
                <a:latin typeface="Calibri" pitchFamily="34" charset="0"/>
                <a:ea typeface="Calibri" pitchFamily="34" charset="-122"/>
                <a:cs typeface="Calibri" pitchFamily="34" charset="-120"/>
              </a:rPr>
              <a:t>You don't need to write code — just run it and read the result</a:t>
            </a:r>
            <a:endParaRPr lang="en-US" sz="1500" dirty="0"/>
          </a:p>
        </p:txBody>
      </p:sp>
      <p:sp>
        <p:nvSpPr>
          <p:cNvPr id="4" name="Shape 2"/>
          <p:cNvSpPr/>
          <p:nvPr/>
        </p:nvSpPr>
        <p:spPr>
          <a:xfrm>
            <a:off x="548640" y="1554480"/>
            <a:ext cx="11091672" cy="1325880"/>
          </a:xfrm>
          <a:prstGeom prst="roundRect">
            <a:avLst>
              <a:gd name="adj" fmla="val 4138"/>
            </a:avLst>
          </a:prstGeom>
          <a:solidFill>
            <a:srgbClr val="1E2A36"/>
          </a:solidFill>
          <a:ln/>
        </p:spPr>
      </p:sp>
      <p:sp>
        <p:nvSpPr>
          <p:cNvPr id="5" name="Shape 3"/>
          <p:cNvSpPr/>
          <p:nvPr/>
        </p:nvSpPr>
        <p:spPr>
          <a:xfrm>
            <a:off x="713232" y="1810512"/>
            <a:ext cx="502920" cy="502920"/>
          </a:xfrm>
          <a:prstGeom prst="roundRect">
            <a:avLst>
              <a:gd name="adj" fmla="val 49091"/>
            </a:avLst>
          </a:prstGeom>
          <a:solidFill>
            <a:srgbClr val="0B5CAD"/>
          </a:solidFill>
          <a:ln/>
        </p:spPr>
      </p:sp>
      <p:sp>
        <p:nvSpPr>
          <p:cNvPr id="6" name="Text 4"/>
          <p:cNvSpPr/>
          <p:nvPr/>
        </p:nvSpPr>
        <p:spPr>
          <a:xfrm>
            <a:off x="713232" y="1810512"/>
            <a:ext cx="502920" cy="502920"/>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a:t>
            </a:r>
            <a:endParaRPr lang="en-US" sz="1500" dirty="0"/>
          </a:p>
        </p:txBody>
      </p:sp>
      <p:sp>
        <p:nvSpPr>
          <p:cNvPr id="7" name="Text 5"/>
          <p:cNvSpPr/>
          <p:nvPr/>
        </p:nvSpPr>
        <p:spPr>
          <a:xfrm>
            <a:off x="1417320" y="1554480"/>
            <a:ext cx="9966960" cy="777240"/>
          </a:xfrm>
          <a:prstGeom prst="rect">
            <a:avLst/>
          </a:prstGeom>
          <a:noFill/>
          <a:ln/>
        </p:spPr>
        <p:txBody>
          <a:bodyPr wrap="square" lIns="0" tIns="0" rIns="0" bIns="0" rtlCol="0" anchor="ctr"/>
          <a:lstStyle/>
          <a:p>
            <a:pPr marL="0" indent="0">
              <a:buNone/>
            </a:pPr>
            <a:r>
              <a:rPr lang="en-US" sz="1600" dirty="0">
                <a:solidFill>
                  <a:srgbClr val="9CDCFE"/>
                </a:solidFill>
                <a:latin typeface="Consolas" pitchFamily="34" charset="0"/>
                <a:ea typeface="Consolas" pitchFamily="34" charset="-122"/>
                <a:cs typeface="Consolas" pitchFamily="34" charset="-120"/>
              </a:rPr>
              <a:t>print(</a:t>
            </a:r>
            <a:r>
              <a:rPr lang="en-US" sz="1600" dirty="0">
                <a:solidFill>
                  <a:srgbClr val="CE9178"/>
                </a:solidFill>
                <a:latin typeface="Consolas" pitchFamily="34" charset="0"/>
                <a:ea typeface="Consolas" pitchFamily="34" charset="-122"/>
                <a:cs typeface="Consolas" pitchFamily="34" charset="-120"/>
              </a:rPr>
              <a:t>"Hello, NCCU! I just ran my first code."</a:t>
            </a:r>
            <a:r>
              <a:rPr lang="en-US" sz="1600" dirty="0">
                <a:solidFill>
                  <a:srgbClr val="9CDCFE"/>
                </a:solidFill>
                <a:latin typeface="Consolas" pitchFamily="34" charset="0"/>
                <a:ea typeface="Consolas" pitchFamily="34" charset="-122"/>
                <a:cs typeface="Consolas" pitchFamily="34" charset="-120"/>
              </a:rPr>
              <a:t>)</a:t>
            </a:r>
            <a:endParaRPr lang="en-US" sz="1600" dirty="0"/>
          </a:p>
        </p:txBody>
      </p:sp>
      <p:sp>
        <p:nvSpPr>
          <p:cNvPr id="8" name="Text 6"/>
          <p:cNvSpPr/>
          <p:nvPr/>
        </p:nvSpPr>
        <p:spPr>
          <a:xfrm>
            <a:off x="1417320" y="2286000"/>
            <a:ext cx="9966960" cy="457200"/>
          </a:xfrm>
          <a:prstGeom prst="rect">
            <a:avLst/>
          </a:prstGeom>
          <a:noFill/>
          <a:ln/>
        </p:spPr>
        <p:txBody>
          <a:bodyPr wrap="square" lIns="0" tIns="0" rIns="0" bIns="0" rtlCol="0" anchor="ctr"/>
          <a:lstStyle/>
          <a:p>
            <a:pPr marL="0" indent="0">
              <a:buNone/>
            </a:pPr>
            <a:r>
              <a:rPr lang="en-US" sz="1300" i="1" dirty="0">
                <a:solidFill>
                  <a:srgbClr val="6A9955"/>
                </a:solidFill>
                <a:latin typeface="Consolas" pitchFamily="34" charset="0"/>
                <a:ea typeface="Consolas" pitchFamily="34" charset="-122"/>
                <a:cs typeface="Consolas" pitchFamily="34" charset="-120"/>
              </a:rPr>
              <a:t>output:  </a:t>
            </a:r>
            <a:r>
              <a:rPr lang="en-US" sz="1300" dirty="0">
                <a:solidFill>
                  <a:srgbClr val="D4D4D4"/>
                </a:solidFill>
                <a:latin typeface="Consolas" pitchFamily="34" charset="0"/>
                <a:ea typeface="Consolas" pitchFamily="34" charset="-122"/>
                <a:cs typeface="Consolas" pitchFamily="34" charset="-120"/>
              </a:rPr>
              <a:t>Hello, NCCU! I just ran my first code.</a:t>
            </a:r>
            <a:endParaRPr lang="en-US" sz="1300" dirty="0"/>
          </a:p>
        </p:txBody>
      </p:sp>
      <p:sp>
        <p:nvSpPr>
          <p:cNvPr id="9" name="Shape 7"/>
          <p:cNvSpPr/>
          <p:nvPr/>
        </p:nvSpPr>
        <p:spPr>
          <a:xfrm>
            <a:off x="548640" y="3063240"/>
            <a:ext cx="11091672" cy="1600200"/>
          </a:xfrm>
          <a:prstGeom prst="roundRect">
            <a:avLst>
              <a:gd name="adj" fmla="val 3429"/>
            </a:avLst>
          </a:prstGeom>
          <a:solidFill>
            <a:srgbClr val="1E2A36"/>
          </a:solidFill>
          <a:ln/>
        </p:spPr>
      </p:sp>
      <p:sp>
        <p:nvSpPr>
          <p:cNvPr id="10" name="Shape 8"/>
          <p:cNvSpPr/>
          <p:nvPr/>
        </p:nvSpPr>
        <p:spPr>
          <a:xfrm>
            <a:off x="713232" y="3310128"/>
            <a:ext cx="502920" cy="502920"/>
          </a:xfrm>
          <a:prstGeom prst="roundRect">
            <a:avLst>
              <a:gd name="adj" fmla="val 49091"/>
            </a:avLst>
          </a:prstGeom>
          <a:solidFill>
            <a:srgbClr val="0B5CAD"/>
          </a:solidFill>
          <a:ln/>
        </p:spPr>
      </p:sp>
      <p:sp>
        <p:nvSpPr>
          <p:cNvPr id="11" name="Text 9"/>
          <p:cNvSpPr/>
          <p:nvPr/>
        </p:nvSpPr>
        <p:spPr>
          <a:xfrm>
            <a:off x="713232" y="3310128"/>
            <a:ext cx="502920" cy="502920"/>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417320" y="3200400"/>
            <a:ext cx="9966960" cy="1005840"/>
          </a:xfrm>
          <a:prstGeom prst="rect">
            <a:avLst/>
          </a:prstGeom>
          <a:noFill/>
          <a:ln/>
        </p:spPr>
        <p:txBody>
          <a:bodyPr wrap="square" lIns="0" tIns="0" rIns="0" bIns="0" rtlCol="0" anchor="ctr"/>
          <a:lstStyle/>
          <a:p>
            <a:pPr marL="0" indent="0">
              <a:buNone/>
            </a:pPr>
            <a:r>
              <a:rPr lang="en-US" sz="1500" dirty="0">
                <a:solidFill>
                  <a:srgbClr val="9CDCFE"/>
                </a:solidFill>
                <a:latin typeface="Consolas" pitchFamily="34" charset="0"/>
                <a:ea typeface="Consolas" pitchFamily="34" charset="-122"/>
                <a:cs typeface="Consolas" pitchFamily="34" charset="-120"/>
              </a:rPr>
              <a:t>name  </a:t>
            </a:r>
            <a:r>
              <a:rPr lang="en-US" sz="1500" dirty="0">
                <a:solidFill>
                  <a:srgbClr val="D4D4D4"/>
                </a:solidFill>
                <a:latin typeface="Consolas" pitchFamily="34" charset="0"/>
                <a:ea typeface="Consolas" pitchFamily="34" charset="-122"/>
                <a:cs typeface="Consolas" pitchFamily="34" charset="-120"/>
              </a:rPr>
              <a:t>= </a:t>
            </a:r>
            <a:r>
              <a:rPr lang="en-US" sz="1500" dirty="0">
                <a:solidFill>
                  <a:srgbClr val="CE9178"/>
                </a:solidFill>
                <a:latin typeface="Consolas" pitchFamily="34" charset="0"/>
                <a:ea typeface="Consolas" pitchFamily="34" charset="-122"/>
                <a:cs typeface="Consolas" pitchFamily="34" charset="-120"/>
              </a:rPr>
              <a:t>"your name"
</a:t>
            </a:r>
            <a:r>
              <a:rPr lang="en-US" sz="1500" dirty="0">
                <a:solidFill>
                  <a:srgbClr val="9CDCFE"/>
                </a:solidFill>
                <a:latin typeface="Consolas" pitchFamily="34" charset="0"/>
                <a:ea typeface="Consolas" pitchFamily="34" charset="-122"/>
                <a:cs typeface="Consolas" pitchFamily="34" charset="-120"/>
              </a:rPr>
              <a:t>shirts </a:t>
            </a:r>
            <a:r>
              <a:rPr lang="en-US" sz="1500" dirty="0">
                <a:solidFill>
                  <a:srgbClr val="D4D4D4"/>
                </a:solidFill>
                <a:latin typeface="Consolas" pitchFamily="34" charset="0"/>
                <a:ea typeface="Consolas" pitchFamily="34" charset="-122"/>
                <a:cs typeface="Consolas" pitchFamily="34" charset="-120"/>
              </a:rPr>
              <a:t>= </a:t>
            </a:r>
            <a:r>
              <a:rPr lang="en-US" sz="1500" dirty="0">
                <a:solidFill>
                  <a:srgbClr val="B5CEA8"/>
                </a:solidFill>
                <a:latin typeface="Consolas" pitchFamily="34" charset="0"/>
                <a:ea typeface="Consolas" pitchFamily="34" charset="-122"/>
                <a:cs typeface="Consolas" pitchFamily="34" charset="-120"/>
              </a:rPr>
              <a:t>6000
</a:t>
            </a:r>
            <a:r>
              <a:rPr lang="en-US" sz="1500" dirty="0">
                <a:solidFill>
                  <a:srgbClr val="9CDCFE"/>
                </a:solidFill>
                <a:latin typeface="Consolas" pitchFamily="34" charset="0"/>
                <a:ea typeface="Consolas" pitchFamily="34" charset="-122"/>
                <a:cs typeface="Consolas" pitchFamily="34" charset="-120"/>
              </a:rPr>
              <a:t>print(</a:t>
            </a:r>
            <a:r>
              <a:rPr lang="en-US" sz="1500" dirty="0">
                <a:solidFill>
                  <a:srgbClr val="CE9178"/>
                </a:solidFill>
                <a:latin typeface="Consolas" pitchFamily="34" charset="0"/>
                <a:ea typeface="Consolas" pitchFamily="34" charset="-122"/>
                <a:cs typeface="Consolas" pitchFamily="34" charset="-120"/>
              </a:rPr>
              <a:t>f"Hi {name} — today we train on {shirts} shirts."</a:t>
            </a:r>
            <a:r>
              <a:rPr lang="en-US" sz="1500" dirty="0">
                <a:solidFill>
                  <a:srgbClr val="9CDCFE"/>
                </a:solidFill>
                <a:latin typeface="Consolas" pitchFamily="34" charset="0"/>
                <a:ea typeface="Consolas" pitchFamily="34" charset="-122"/>
                <a:cs typeface="Consolas" pitchFamily="34" charset="-120"/>
              </a:rPr>
              <a:t>)</a:t>
            </a:r>
            <a:endParaRPr lang="en-US" sz="1500" dirty="0"/>
          </a:p>
        </p:txBody>
      </p:sp>
      <p:sp>
        <p:nvSpPr>
          <p:cNvPr id="13" name="Text 11"/>
          <p:cNvSpPr/>
          <p:nvPr/>
        </p:nvSpPr>
        <p:spPr>
          <a:xfrm>
            <a:off x="1417320" y="4160520"/>
            <a:ext cx="9966960" cy="411480"/>
          </a:xfrm>
          <a:prstGeom prst="rect">
            <a:avLst/>
          </a:prstGeom>
          <a:noFill/>
          <a:ln/>
        </p:spPr>
        <p:txBody>
          <a:bodyPr wrap="square" lIns="0" tIns="0" rIns="0" bIns="0" rtlCol="0" anchor="ctr"/>
          <a:lstStyle/>
          <a:p>
            <a:pPr marL="0" indent="0">
              <a:buNone/>
            </a:pPr>
            <a:r>
              <a:rPr lang="en-US" sz="1250" i="1" dirty="0">
                <a:solidFill>
                  <a:srgbClr val="6A9955"/>
                </a:solidFill>
                <a:latin typeface="Consolas" pitchFamily="34" charset="0"/>
                <a:ea typeface="Consolas" pitchFamily="34" charset="-122"/>
                <a:cs typeface="Consolas" pitchFamily="34" charset="-120"/>
              </a:rPr>
              <a:t>output:  </a:t>
            </a:r>
            <a:r>
              <a:rPr lang="en-US" sz="1250" dirty="0">
                <a:solidFill>
                  <a:srgbClr val="D4D4D4"/>
                </a:solidFill>
                <a:latin typeface="Consolas" pitchFamily="34" charset="0"/>
                <a:ea typeface="Consolas" pitchFamily="34" charset="-122"/>
                <a:cs typeface="Consolas" pitchFamily="34" charset="-120"/>
              </a:rPr>
              <a:t>Hi Jack — today we train on 6000 shirts.</a:t>
            </a:r>
            <a:endParaRPr lang="en-US" sz="1250" dirty="0"/>
          </a:p>
        </p:txBody>
      </p:sp>
      <p:sp>
        <p:nvSpPr>
          <p:cNvPr id="14" name="Text 12"/>
          <p:cNvSpPr/>
          <p:nvPr/>
        </p:nvSpPr>
        <p:spPr>
          <a:xfrm>
            <a:off x="548640" y="4892040"/>
            <a:ext cx="11091672" cy="685800"/>
          </a:xfrm>
          <a:prstGeom prst="rect">
            <a:avLst/>
          </a:prstGeom>
          <a:noFill/>
          <a:ln/>
        </p:spPr>
        <p:txBody>
          <a:bodyPr wrap="square" lIns="0" tIns="0" rIns="0" bIns="0" rtlCol="0" anchor="ctr"/>
          <a:lstStyle/>
          <a:p>
            <a:pPr marL="0" indent="0">
              <a:buNone/>
            </a:pPr>
            <a:r>
              <a:rPr lang="en-US" sz="1400" b="1" dirty="0">
                <a:solidFill>
                  <a:srgbClr val="0B5CAD"/>
                </a:solidFill>
                <a:latin typeface="Calibri" pitchFamily="34" charset="0"/>
                <a:ea typeface="Calibri" pitchFamily="34" charset="-122"/>
                <a:cs typeface="Calibri" pitchFamily="34" charset="-120"/>
              </a:rPr>
              <a:t>What to notice: </a:t>
            </a:r>
            <a:r>
              <a:rPr lang="en-US" sz="1400" dirty="0">
                <a:solidFill>
                  <a:srgbClr val="1A2733"/>
                </a:solidFill>
                <a:latin typeface="Calibri" pitchFamily="34" charset="0"/>
                <a:ea typeface="Calibri" pitchFamily="34" charset="-122"/>
                <a:cs typeface="Calibri" pitchFamily="34" charset="-120"/>
              </a:rPr>
              <a:t>the computer does exactly what each line says, in order. That's all code is — precise instructions. The lab notebook is just longer, and it's already written for you.</a:t>
            </a:r>
            <a:endParaRPr lang="en-US" sz="1400" dirty="0"/>
          </a:p>
        </p:txBody>
      </p:sp>
      <p:sp>
        <p:nvSpPr>
          <p:cNvPr id="15" name="Text 13"/>
          <p:cNvSpPr/>
          <p:nvPr/>
        </p:nvSpPr>
        <p:spPr>
          <a:xfrm>
            <a:off x="548640" y="6473952"/>
            <a:ext cx="11091672" cy="274320"/>
          </a:xfrm>
          <a:prstGeom prst="rect">
            <a:avLst/>
          </a:prstGeom>
          <a:noFill/>
          <a:ln/>
        </p:spPr>
        <p:txBody>
          <a:bodyPr wrap="square" lIns="0" tIns="0" rIns="0" bIns="0" rtlCol="0" anchor="ctr"/>
          <a:lstStyle/>
          <a:p>
            <a:pPr marL="0" indent="0">
              <a:buNone/>
            </a:pPr>
            <a:r>
              <a:rPr lang="en-US" sz="900" dirty="0">
                <a:solidFill>
                  <a:srgbClr val="5B6470"/>
                </a:solidFill>
                <a:latin typeface="Calibri" pitchFamily="34" charset="0"/>
                <a:ea typeface="Calibri" pitchFamily="34" charset="-122"/>
                <a:cs typeface="Calibri" pitchFamily="34" charset="-120"/>
              </a:rPr>
              <a:t>Digital Communication &amp; Emerging Technologies · NCCU ISS 2026 · Day 2  |  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48640" y="292608"/>
            <a:ext cx="11091672" cy="658368"/>
          </a:xfrm>
          <a:prstGeom prst="rect">
            <a:avLst/>
          </a:prstGeom>
          <a:noFill/>
          <a:ln/>
        </p:spPr>
        <p:txBody>
          <a:bodyPr wrap="square" lIns="0" tIns="0" rIns="0" bIns="0" rtlCol="0" anchor="ctr"/>
          <a:lstStyle/>
          <a:p>
            <a:pPr marL="0" indent="0">
              <a:buNone/>
            </a:pPr>
            <a:r>
              <a:rPr lang="en-US" sz="3100" b="1" dirty="0">
                <a:solidFill>
                  <a:srgbClr val="1A2733"/>
                </a:solidFill>
                <a:latin typeface="Cambria" pitchFamily="34" charset="0"/>
                <a:ea typeface="Cambria" pitchFamily="34" charset="-122"/>
                <a:cs typeface="Cambria" pitchFamily="34" charset="-120"/>
              </a:rPr>
              <a:t>Now: train your own image classifier</a:t>
            </a:r>
            <a:endParaRPr lang="en-US" sz="3100" dirty="0"/>
          </a:p>
        </p:txBody>
      </p:sp>
      <p:sp>
        <p:nvSpPr>
          <p:cNvPr id="3" name="Text 1"/>
          <p:cNvSpPr/>
          <p:nvPr/>
        </p:nvSpPr>
        <p:spPr>
          <a:xfrm>
            <a:off x="548640" y="896112"/>
            <a:ext cx="11091672" cy="365760"/>
          </a:xfrm>
          <a:prstGeom prst="rect">
            <a:avLst/>
          </a:prstGeom>
          <a:noFill/>
          <a:ln/>
        </p:spPr>
        <p:txBody>
          <a:bodyPr wrap="square" lIns="0" tIns="0" rIns="0" bIns="0" rtlCol="0" anchor="ctr"/>
          <a:lstStyle/>
          <a:p>
            <a:pPr marL="0" indent="0">
              <a:buNone/>
            </a:pPr>
            <a:r>
              <a:rPr lang="en-US" sz="1500" i="1" dirty="0">
                <a:solidFill>
                  <a:srgbClr val="5B6470"/>
                </a:solidFill>
                <a:latin typeface="Calibri" pitchFamily="34" charset="0"/>
                <a:ea typeface="Calibri" pitchFamily="34" charset="-122"/>
                <a:cs typeface="Calibri" pitchFamily="34" charset="-120"/>
              </a:rPr>
              <a:t>Fashion-MNIST in a ready-made Colab notebook — no setup</a:t>
            </a:r>
            <a:endParaRPr lang="en-US" sz="1500" dirty="0"/>
          </a:p>
        </p:txBody>
      </p:sp>
      <p:sp>
        <p:nvSpPr>
          <p:cNvPr id="4" name="Shape 2"/>
          <p:cNvSpPr/>
          <p:nvPr/>
        </p:nvSpPr>
        <p:spPr>
          <a:xfrm>
            <a:off x="548640" y="1691640"/>
            <a:ext cx="3575304" cy="3200400"/>
          </a:xfrm>
          <a:prstGeom prst="roundRect">
            <a:avLst>
              <a:gd name="adj" fmla="val 2286"/>
            </a:avLst>
          </a:prstGeom>
          <a:solidFill>
            <a:srgbClr val="F5F8FB"/>
          </a:solidFill>
          <a:ln w="12700">
            <a:solidFill>
              <a:srgbClr val="DDE5EC"/>
            </a:solidFill>
            <a:prstDash val="solid"/>
          </a:ln>
        </p:spPr>
      </p:sp>
      <p:pic>
        <p:nvPicPr>
          <p:cNvPr id="5" name="Image 0" descr="preencoded.png"/>
          <p:cNvPicPr>
            <a:picLocks noChangeAspect="1"/>
          </p:cNvPicPr>
          <p:nvPr/>
        </p:nvPicPr>
        <p:blipFill>
          <a:blip r:embed="rId3"/>
          <a:stretch>
            <a:fillRect/>
          </a:stretch>
        </p:blipFill>
        <p:spPr>
          <a:xfrm>
            <a:off x="822960" y="1920240"/>
            <a:ext cx="457200" cy="457200"/>
          </a:xfrm>
          <a:prstGeom prst="rect">
            <a:avLst/>
          </a:prstGeom>
        </p:spPr>
      </p:pic>
      <p:sp>
        <p:nvSpPr>
          <p:cNvPr id="6" name="Text 3"/>
          <p:cNvSpPr/>
          <p:nvPr/>
        </p:nvSpPr>
        <p:spPr>
          <a:xfrm>
            <a:off x="822960" y="2487168"/>
            <a:ext cx="3017520" cy="2286000"/>
          </a:xfrm>
          <a:prstGeom prst="rect">
            <a:avLst/>
          </a:prstGeom>
          <a:noFill/>
          <a:ln/>
        </p:spPr>
        <p:txBody>
          <a:bodyPr wrap="square" lIns="0" tIns="0" rIns="0" bIns="0" rtlCol="0" anchor="ctr"/>
          <a:lstStyle/>
          <a:p>
            <a:pPr marL="0" indent="0">
              <a:buNone/>
            </a:pPr>
            <a:r>
              <a:rPr lang="en-US" sz="1600" b="1" dirty="0">
                <a:solidFill>
                  <a:srgbClr val="0B5CAD"/>
                </a:solidFill>
                <a:latin typeface="Calibri" pitchFamily="34" charset="0"/>
                <a:ea typeface="Calibri" pitchFamily="34" charset="-122"/>
                <a:cs typeface="Calibri" pitchFamily="34" charset="-120"/>
              </a:rPr>
              <a:t>1 · Open &amp; run
</a:t>
            </a:r>
            <a:r>
              <a:rPr lang="en-US" sz="1300" dirty="0">
                <a:solidFill>
                  <a:srgbClr val="1A2733"/>
                </a:solidFill>
                <a:latin typeface="Calibri" pitchFamily="34" charset="0"/>
                <a:ea typeface="Calibri" pitchFamily="34" charset="-122"/>
                <a:cs typeface="Calibri" pitchFamily="34" charset="-120"/>
              </a:rPr>
              <a:t>Open the shared Colab; File &gt; Save a copy in Drive. Look at the 10 clothing classes and sample images.</a:t>
            </a:r>
            <a:endParaRPr lang="en-US" sz="1600" dirty="0"/>
          </a:p>
        </p:txBody>
      </p:sp>
      <p:sp>
        <p:nvSpPr>
          <p:cNvPr id="7" name="Shape 4"/>
          <p:cNvSpPr/>
          <p:nvPr/>
        </p:nvSpPr>
        <p:spPr>
          <a:xfrm>
            <a:off x="4306824" y="1691640"/>
            <a:ext cx="3575304" cy="3200400"/>
          </a:xfrm>
          <a:prstGeom prst="roundRect">
            <a:avLst>
              <a:gd name="adj" fmla="val 2286"/>
            </a:avLst>
          </a:prstGeom>
          <a:solidFill>
            <a:srgbClr val="F5F8FB"/>
          </a:solidFill>
          <a:ln w="12700">
            <a:solidFill>
              <a:srgbClr val="DDE5EC"/>
            </a:solidFill>
            <a:prstDash val="solid"/>
          </a:ln>
        </p:spPr>
      </p:sp>
      <p:pic>
        <p:nvPicPr>
          <p:cNvPr id="8" name="Image 1" descr="preencoded.png"/>
          <p:cNvPicPr>
            <a:picLocks noChangeAspect="1"/>
          </p:cNvPicPr>
          <p:nvPr/>
        </p:nvPicPr>
        <p:blipFill>
          <a:blip r:embed="rId4"/>
          <a:stretch>
            <a:fillRect/>
          </a:stretch>
        </p:blipFill>
        <p:spPr>
          <a:xfrm>
            <a:off x="4581144" y="1920240"/>
            <a:ext cx="457200" cy="457200"/>
          </a:xfrm>
          <a:prstGeom prst="rect">
            <a:avLst/>
          </a:prstGeom>
        </p:spPr>
      </p:pic>
      <p:sp>
        <p:nvSpPr>
          <p:cNvPr id="9" name="Text 5"/>
          <p:cNvSpPr/>
          <p:nvPr/>
        </p:nvSpPr>
        <p:spPr>
          <a:xfrm>
            <a:off x="4581144" y="2487168"/>
            <a:ext cx="3017520" cy="2286000"/>
          </a:xfrm>
          <a:prstGeom prst="rect">
            <a:avLst/>
          </a:prstGeom>
          <a:noFill/>
          <a:ln/>
        </p:spPr>
        <p:txBody>
          <a:bodyPr wrap="square" lIns="0" tIns="0" rIns="0" bIns="0" rtlCol="0" anchor="ctr"/>
          <a:lstStyle/>
          <a:p>
            <a:pPr marL="0" indent="0">
              <a:buNone/>
            </a:pPr>
            <a:r>
              <a:rPr lang="en-US" sz="1600" b="1" dirty="0">
                <a:solidFill>
                  <a:srgbClr val="0B5CAD"/>
                </a:solidFill>
                <a:latin typeface="Calibri" pitchFamily="34" charset="0"/>
                <a:ea typeface="Calibri" pitchFamily="34" charset="-122"/>
                <a:cs typeface="Calibri" pitchFamily="34" charset="-120"/>
              </a:rPr>
              <a:t>2 · Train &amp; read
</a:t>
            </a:r>
            <a:r>
              <a:rPr lang="en-US" sz="1300" dirty="0">
                <a:solidFill>
                  <a:srgbClr val="1A2733"/>
                </a:solidFill>
                <a:latin typeface="Calibri" pitchFamily="34" charset="0"/>
                <a:ea typeface="Calibri" pitchFamily="34" charset="-122"/>
                <a:cs typeface="Calibri" pitchFamily="34" charset="-120"/>
              </a:rPr>
              <a:t>Build and train the model. Read training vs validation accuracy. Find one image it gets wrong.</a:t>
            </a:r>
            <a:endParaRPr lang="en-US" sz="1600" dirty="0"/>
          </a:p>
        </p:txBody>
      </p:sp>
      <p:sp>
        <p:nvSpPr>
          <p:cNvPr id="10" name="Shape 6"/>
          <p:cNvSpPr/>
          <p:nvPr/>
        </p:nvSpPr>
        <p:spPr>
          <a:xfrm>
            <a:off x="8065008" y="1691640"/>
            <a:ext cx="3575304" cy="3200400"/>
          </a:xfrm>
          <a:prstGeom prst="roundRect">
            <a:avLst>
              <a:gd name="adj" fmla="val 2286"/>
            </a:avLst>
          </a:prstGeom>
          <a:solidFill>
            <a:srgbClr val="F5F8FB"/>
          </a:solidFill>
          <a:ln w="12700">
            <a:solidFill>
              <a:srgbClr val="DDE5EC"/>
            </a:solidFill>
            <a:prstDash val="solid"/>
          </a:ln>
        </p:spPr>
      </p:sp>
      <p:pic>
        <p:nvPicPr>
          <p:cNvPr id="11" name="Image 2" descr="preencoded.png"/>
          <p:cNvPicPr>
            <a:picLocks noChangeAspect="1"/>
          </p:cNvPicPr>
          <p:nvPr/>
        </p:nvPicPr>
        <p:blipFill>
          <a:blip r:embed="rId5"/>
          <a:stretch>
            <a:fillRect/>
          </a:stretch>
        </p:blipFill>
        <p:spPr>
          <a:xfrm>
            <a:off x="8339328" y="1920240"/>
            <a:ext cx="457200" cy="457200"/>
          </a:xfrm>
          <a:prstGeom prst="rect">
            <a:avLst/>
          </a:prstGeom>
        </p:spPr>
      </p:pic>
      <p:sp>
        <p:nvSpPr>
          <p:cNvPr id="12" name="Text 7"/>
          <p:cNvSpPr/>
          <p:nvPr/>
        </p:nvSpPr>
        <p:spPr>
          <a:xfrm>
            <a:off x="8339328" y="2487168"/>
            <a:ext cx="3017520" cy="2286000"/>
          </a:xfrm>
          <a:prstGeom prst="rect">
            <a:avLst/>
          </a:prstGeom>
          <a:noFill/>
          <a:ln/>
        </p:spPr>
        <p:txBody>
          <a:bodyPr wrap="square" lIns="0" tIns="0" rIns="0" bIns="0" rtlCol="0" anchor="ctr"/>
          <a:lstStyle/>
          <a:p>
            <a:pPr marL="0" indent="0">
              <a:buNone/>
            </a:pPr>
            <a:r>
              <a:rPr lang="en-US" sz="1600" b="1" dirty="0">
                <a:solidFill>
                  <a:srgbClr val="0B5CAD"/>
                </a:solidFill>
                <a:latin typeface="Calibri" pitchFamily="34" charset="0"/>
                <a:ea typeface="Calibri" pitchFamily="34" charset="-122"/>
                <a:cs typeface="Calibri" pitchFamily="34" charset="-120"/>
              </a:rPr>
              <a:t>3 · Experiment
</a:t>
            </a:r>
            <a:r>
              <a:rPr lang="en-US" sz="1300" dirty="0">
                <a:solidFill>
                  <a:srgbClr val="1A2733"/>
                </a:solidFill>
                <a:latin typeface="Calibri" pitchFamily="34" charset="0"/>
                <a:ea typeface="Calibri" pitchFamily="34" charset="-122"/>
                <a:cs typeface="Calibri" pitchFamily="34" charset="-120"/>
              </a:rPr>
              <a:t>Change one thing at a time (layers, epochs, augmentation) and re-run. What moved the accuracy?</a:t>
            </a:r>
            <a:endParaRPr lang="en-US" sz="1600" dirty="0"/>
          </a:p>
        </p:txBody>
      </p:sp>
      <p:sp>
        <p:nvSpPr>
          <p:cNvPr id="13" name="Text 8"/>
          <p:cNvSpPr/>
          <p:nvPr/>
        </p:nvSpPr>
        <p:spPr>
          <a:xfrm>
            <a:off x="548640" y="5120640"/>
            <a:ext cx="11064240" cy="640080"/>
          </a:xfrm>
          <a:prstGeom prst="rect">
            <a:avLst/>
          </a:prstGeom>
          <a:noFill/>
          <a:ln/>
        </p:spPr>
        <p:txBody>
          <a:bodyPr wrap="square" lIns="0" tIns="0" rIns="0" bIns="0" rtlCol="0" anchor="ctr"/>
          <a:lstStyle/>
          <a:p>
            <a:pPr marL="0" indent="0">
              <a:buNone/>
            </a:pPr>
            <a:r>
              <a:rPr lang="en-US" sz="1400" b="1" dirty="0">
                <a:solidFill>
                  <a:srgbClr val="0B5CAD"/>
                </a:solidFill>
                <a:latin typeface="Calibri" pitchFamily="34" charset="0"/>
                <a:ea typeface="Calibri" pitchFamily="34" charset="-122"/>
                <a:cs typeface="Calibri" pitchFamily="34" charset="-120"/>
              </a:rPr>
              <a:t>Deliverable: </a:t>
            </a:r>
            <a:r>
              <a:rPr lang="en-US" sz="1400" dirty="0">
                <a:solidFill>
                  <a:srgbClr val="1A2733"/>
                </a:solidFill>
                <a:latin typeface="Calibri" pitchFamily="34" charset="0"/>
                <a:ea typeface="Calibri" pitchFamily="34" charset="-122"/>
                <a:cs typeface="Calibri" pitchFamily="34" charset="-120"/>
              </a:rPr>
              <a:t>your best validation accuracy and the settings that produced it, plus one misclassified image with a one-line guess at why the model was fooled.</a:t>
            </a:r>
            <a:endParaRPr lang="en-US" sz="1400" dirty="0"/>
          </a:p>
        </p:txBody>
      </p:sp>
      <p:sp>
        <p:nvSpPr>
          <p:cNvPr id="14" name="Text 9"/>
          <p:cNvSpPr/>
          <p:nvPr/>
        </p:nvSpPr>
        <p:spPr>
          <a:xfrm>
            <a:off x="548640" y="6473952"/>
            <a:ext cx="11091672" cy="274320"/>
          </a:xfrm>
          <a:prstGeom prst="rect">
            <a:avLst/>
          </a:prstGeom>
          <a:noFill/>
          <a:ln/>
        </p:spPr>
        <p:txBody>
          <a:bodyPr wrap="square" lIns="0" tIns="0" rIns="0" bIns="0" rtlCol="0" anchor="ctr"/>
          <a:lstStyle/>
          <a:p>
            <a:pPr marL="0" indent="0">
              <a:buNone/>
            </a:pPr>
            <a:r>
              <a:rPr lang="en-US" sz="900" dirty="0">
                <a:solidFill>
                  <a:srgbClr val="5B6470"/>
                </a:solidFill>
                <a:latin typeface="Calibri" pitchFamily="34" charset="0"/>
                <a:ea typeface="Calibri" pitchFamily="34" charset="-122"/>
                <a:cs typeface="Calibri" pitchFamily="34" charset="-120"/>
              </a:rPr>
              <a:t>Digital Communication &amp; Emerging Technologies · NCCU ISS 2026 · Day 2  |  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93F76"/>
        </a:solidFill>
        <a:effectLst/>
      </p:bgPr>
    </p:bg>
    <p:spTree>
      <p:nvGrpSpPr>
        <p:cNvPr id="1" name=""/>
        <p:cNvGrpSpPr/>
        <p:nvPr/>
      </p:nvGrpSpPr>
      <p:grpSpPr>
        <a:xfrm>
          <a:off x="0" y="0"/>
          <a:ext cx="0" cy="0"/>
          <a:chOff x="0" y="0"/>
          <a:chExt cx="0" cy="0"/>
        </a:xfrm>
      </p:grpSpPr>
      <p:sp>
        <p:nvSpPr>
          <p:cNvPr id="2" name="Text 0"/>
          <p:cNvSpPr/>
          <p:nvPr/>
        </p:nvSpPr>
        <p:spPr>
          <a:xfrm>
            <a:off x="777240" y="777240"/>
            <a:ext cx="100584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What you can now say</a:t>
            </a:r>
            <a:endParaRPr lang="en-US" sz="3200" dirty="0"/>
          </a:p>
        </p:txBody>
      </p:sp>
      <p:sp>
        <p:nvSpPr>
          <p:cNvPr id="3" name="Shape 1"/>
          <p:cNvSpPr/>
          <p:nvPr/>
        </p:nvSpPr>
        <p:spPr>
          <a:xfrm>
            <a:off x="777240" y="1783080"/>
            <a:ext cx="10607040" cy="914400"/>
          </a:xfrm>
          <a:prstGeom prst="roundRect">
            <a:avLst>
              <a:gd name="adj" fmla="val 7000"/>
            </a:avLst>
          </a:prstGeom>
          <a:solidFill>
            <a:srgbClr val="0B5CAD"/>
          </a:solidFill>
          <a:ln/>
        </p:spPr>
      </p:sp>
      <p:sp>
        <p:nvSpPr>
          <p:cNvPr id="4" name="Text 2"/>
          <p:cNvSpPr/>
          <p:nvPr/>
        </p:nvSpPr>
        <p:spPr>
          <a:xfrm>
            <a:off x="1051560" y="1828800"/>
            <a:ext cx="2011680" cy="822960"/>
          </a:xfrm>
          <a:prstGeom prst="rect">
            <a:avLst/>
          </a:prstGeom>
          <a:noFill/>
          <a:ln/>
        </p:spPr>
        <p:txBody>
          <a:bodyPr wrap="square" lIns="0" tIns="0" rIns="0" bIns="0" rtlCol="0" anchor="ctr"/>
          <a:lstStyle/>
          <a:p>
            <a:pPr marL="0" indent="0">
              <a:buNone/>
            </a:pPr>
            <a:r>
              <a:rPr lang="en-US" sz="1700" b="1" dirty="0">
                <a:solidFill>
                  <a:srgbClr val="F0C878"/>
                </a:solidFill>
                <a:latin typeface="Cambria" pitchFamily="34" charset="0"/>
                <a:ea typeface="Cambria" pitchFamily="34" charset="-122"/>
                <a:cs typeface="Cambria" pitchFamily="34" charset="-120"/>
              </a:rPr>
              <a:t>Learning</a:t>
            </a:r>
            <a:endParaRPr lang="en-US" sz="1700" dirty="0"/>
          </a:p>
        </p:txBody>
      </p:sp>
      <p:sp>
        <p:nvSpPr>
          <p:cNvPr id="5" name="Text 3"/>
          <p:cNvSpPr/>
          <p:nvPr/>
        </p:nvSpPr>
        <p:spPr>
          <a:xfrm>
            <a:off x="3108960" y="1828800"/>
            <a:ext cx="8046720" cy="822960"/>
          </a:xfrm>
          <a:prstGeom prst="rect">
            <a:avLst/>
          </a:prstGeom>
          <a:noFill/>
          <a:ln/>
        </p:spPr>
        <p:txBody>
          <a:bodyPr wrap="square" lIns="0" tIns="0" rIns="0" bIns="0" rtlCol="0" anchor="ctr"/>
          <a:lstStyle/>
          <a:p>
            <a:pPr marL="0" indent="0">
              <a:buNone/>
            </a:pPr>
            <a:r>
              <a:rPr lang="en-US" sz="1350" dirty="0">
                <a:solidFill>
                  <a:srgbClr val="EAF2FB"/>
                </a:solidFill>
                <a:latin typeface="Calibri" pitchFamily="34" charset="0"/>
                <a:ea typeface="Calibri" pitchFamily="34" charset="-122"/>
                <a:cs typeface="Calibri" pitchFamily="34" charset="-120"/>
              </a:rPr>
              <a:t>A network learns by measuring its error (loss) and stepping downhill to reduce it.</a:t>
            </a:r>
            <a:endParaRPr lang="en-US" sz="1350" dirty="0"/>
          </a:p>
        </p:txBody>
      </p:sp>
      <p:sp>
        <p:nvSpPr>
          <p:cNvPr id="6" name="Shape 4"/>
          <p:cNvSpPr/>
          <p:nvPr/>
        </p:nvSpPr>
        <p:spPr>
          <a:xfrm>
            <a:off x="777240" y="2843784"/>
            <a:ext cx="10607040" cy="914400"/>
          </a:xfrm>
          <a:prstGeom prst="roundRect">
            <a:avLst>
              <a:gd name="adj" fmla="val 7000"/>
            </a:avLst>
          </a:prstGeom>
          <a:solidFill>
            <a:srgbClr val="0B5CAD"/>
          </a:solidFill>
          <a:ln/>
        </p:spPr>
      </p:sp>
      <p:sp>
        <p:nvSpPr>
          <p:cNvPr id="7" name="Text 5"/>
          <p:cNvSpPr/>
          <p:nvPr/>
        </p:nvSpPr>
        <p:spPr>
          <a:xfrm>
            <a:off x="1051560" y="2889504"/>
            <a:ext cx="2011680" cy="822960"/>
          </a:xfrm>
          <a:prstGeom prst="rect">
            <a:avLst/>
          </a:prstGeom>
          <a:noFill/>
          <a:ln/>
        </p:spPr>
        <p:txBody>
          <a:bodyPr wrap="square" lIns="0" tIns="0" rIns="0" bIns="0" rtlCol="0" anchor="ctr"/>
          <a:lstStyle/>
          <a:p>
            <a:pPr marL="0" indent="0">
              <a:buNone/>
            </a:pPr>
            <a:r>
              <a:rPr lang="en-US" sz="1700" b="1" dirty="0">
                <a:solidFill>
                  <a:srgbClr val="F0C878"/>
                </a:solidFill>
                <a:latin typeface="Cambria" pitchFamily="34" charset="0"/>
                <a:ea typeface="Cambria" pitchFamily="34" charset="-122"/>
                <a:cs typeface="Cambria" pitchFamily="34" charset="-120"/>
              </a:rPr>
              <a:t>Seeing</a:t>
            </a:r>
            <a:endParaRPr lang="en-US" sz="1700" dirty="0"/>
          </a:p>
        </p:txBody>
      </p:sp>
      <p:sp>
        <p:nvSpPr>
          <p:cNvPr id="8" name="Text 6"/>
          <p:cNvSpPr/>
          <p:nvPr/>
        </p:nvSpPr>
        <p:spPr>
          <a:xfrm>
            <a:off x="3108960" y="2889504"/>
            <a:ext cx="8046720" cy="822960"/>
          </a:xfrm>
          <a:prstGeom prst="rect">
            <a:avLst/>
          </a:prstGeom>
          <a:noFill/>
          <a:ln/>
        </p:spPr>
        <p:txBody>
          <a:bodyPr wrap="square" lIns="0" tIns="0" rIns="0" bIns="0" rtlCol="0" anchor="ctr"/>
          <a:lstStyle/>
          <a:p>
            <a:pPr marL="0" indent="0">
              <a:buNone/>
            </a:pPr>
            <a:r>
              <a:rPr lang="en-US" sz="1350" dirty="0">
                <a:solidFill>
                  <a:srgbClr val="EAF2FB"/>
                </a:solidFill>
                <a:latin typeface="Calibri" pitchFamily="34" charset="0"/>
                <a:ea typeface="Calibri" pitchFamily="34" charset="-122"/>
                <a:cs typeface="Calibri" pitchFamily="34" charset="-120"/>
              </a:rPr>
              <a:t>CNNs read images in small patches, building edges into shapes into objects.</a:t>
            </a:r>
            <a:endParaRPr lang="en-US" sz="1350" dirty="0"/>
          </a:p>
        </p:txBody>
      </p:sp>
      <p:sp>
        <p:nvSpPr>
          <p:cNvPr id="9" name="Shape 7"/>
          <p:cNvSpPr/>
          <p:nvPr/>
        </p:nvSpPr>
        <p:spPr>
          <a:xfrm>
            <a:off x="777240" y="3904488"/>
            <a:ext cx="10607040" cy="914400"/>
          </a:xfrm>
          <a:prstGeom prst="roundRect">
            <a:avLst>
              <a:gd name="adj" fmla="val 7000"/>
            </a:avLst>
          </a:prstGeom>
          <a:solidFill>
            <a:srgbClr val="0B5CAD"/>
          </a:solidFill>
          <a:ln/>
        </p:spPr>
      </p:sp>
      <p:sp>
        <p:nvSpPr>
          <p:cNvPr id="10" name="Text 8"/>
          <p:cNvSpPr/>
          <p:nvPr/>
        </p:nvSpPr>
        <p:spPr>
          <a:xfrm>
            <a:off x="1051560" y="3950208"/>
            <a:ext cx="2011680" cy="822960"/>
          </a:xfrm>
          <a:prstGeom prst="rect">
            <a:avLst/>
          </a:prstGeom>
          <a:noFill/>
          <a:ln/>
        </p:spPr>
        <p:txBody>
          <a:bodyPr wrap="square" lIns="0" tIns="0" rIns="0" bIns="0" rtlCol="0" anchor="ctr"/>
          <a:lstStyle/>
          <a:p>
            <a:pPr marL="0" indent="0">
              <a:buNone/>
            </a:pPr>
            <a:r>
              <a:rPr lang="en-US" sz="1700" b="1" dirty="0">
                <a:solidFill>
                  <a:srgbClr val="F0C878"/>
                </a:solidFill>
                <a:latin typeface="Cambria" pitchFamily="34" charset="0"/>
                <a:ea typeface="Cambria" pitchFamily="34" charset="-122"/>
                <a:cs typeface="Cambria" pitchFamily="34" charset="-120"/>
              </a:rPr>
              <a:t>Generalizing</a:t>
            </a:r>
            <a:endParaRPr lang="en-US" sz="1700" dirty="0"/>
          </a:p>
        </p:txBody>
      </p:sp>
      <p:sp>
        <p:nvSpPr>
          <p:cNvPr id="11" name="Text 9"/>
          <p:cNvSpPr/>
          <p:nvPr/>
        </p:nvSpPr>
        <p:spPr>
          <a:xfrm>
            <a:off x="3108960" y="3950208"/>
            <a:ext cx="8046720" cy="822960"/>
          </a:xfrm>
          <a:prstGeom prst="rect">
            <a:avLst/>
          </a:prstGeom>
          <a:noFill/>
          <a:ln/>
        </p:spPr>
        <p:txBody>
          <a:bodyPr wrap="square" lIns="0" tIns="0" rIns="0" bIns="0" rtlCol="0" anchor="ctr"/>
          <a:lstStyle/>
          <a:p>
            <a:pPr marL="0" indent="0">
              <a:buNone/>
            </a:pPr>
            <a:r>
              <a:rPr lang="en-US" sz="1350" dirty="0">
                <a:solidFill>
                  <a:srgbClr val="EAF2FB"/>
                </a:solidFill>
                <a:latin typeface="Calibri" pitchFamily="34" charset="0"/>
                <a:ea typeface="Calibri" pitchFamily="34" charset="-122"/>
                <a:cs typeface="Calibri" pitchFamily="34" charset="-120"/>
              </a:rPr>
              <a:t>Augmentation and transfer learning stop a model from memorizing, so it works on new data.</a:t>
            </a:r>
            <a:endParaRPr lang="en-US" sz="1350" dirty="0"/>
          </a:p>
        </p:txBody>
      </p:sp>
      <p:sp>
        <p:nvSpPr>
          <p:cNvPr id="12" name="Text 10"/>
          <p:cNvSpPr/>
          <p:nvPr/>
        </p:nvSpPr>
        <p:spPr>
          <a:xfrm>
            <a:off x="777240" y="5212080"/>
            <a:ext cx="10607040" cy="457200"/>
          </a:xfrm>
          <a:prstGeom prst="rect">
            <a:avLst/>
          </a:prstGeom>
          <a:noFill/>
          <a:ln/>
        </p:spPr>
        <p:txBody>
          <a:bodyPr wrap="square" lIns="0" tIns="0" rIns="0" bIns="0" rtlCol="0" anchor="ctr"/>
          <a:lstStyle/>
          <a:p>
            <a:pPr marL="0" indent="0">
              <a:buNone/>
            </a:pPr>
            <a:r>
              <a:rPr lang="en-US" sz="1500" i="1" dirty="0">
                <a:solidFill>
                  <a:srgbClr val="BBD4F0"/>
                </a:solidFill>
                <a:latin typeface="Calibri" pitchFamily="34" charset="0"/>
                <a:ea typeface="Calibri" pitchFamily="34" charset="-122"/>
                <a:cs typeface="Calibri" pitchFamily="34" charset="-120"/>
              </a:rPr>
              <a:t>Tomorrow: language, not images — generative AI, LLMs, and the start of your team project. Same room, 09:10.</a:t>
            </a:r>
            <a:endParaRPr lang="en-US" sz="1500" dirty="0"/>
          </a:p>
        </p:txBody>
      </p:sp>
      <p:sp>
        <p:nvSpPr>
          <p:cNvPr id="13" name="Text 11"/>
          <p:cNvSpPr/>
          <p:nvPr/>
        </p:nvSpPr>
        <p:spPr>
          <a:xfrm>
            <a:off x="777240" y="5943600"/>
            <a:ext cx="10607040" cy="365760"/>
          </a:xfrm>
          <a:prstGeom prst="rect">
            <a:avLst/>
          </a:prstGeom>
          <a:noFill/>
          <a:ln/>
        </p:spPr>
        <p:txBody>
          <a:bodyPr wrap="square" lIns="0" tIns="0" rIns="0" bIns="0" rtlCol="0" anchor="ctr"/>
          <a:lstStyle/>
          <a:p>
            <a:pPr marL="0" indent="0">
              <a:buNone/>
            </a:pPr>
            <a:r>
              <a:rPr lang="en-US" sz="1200" dirty="0">
                <a:solidFill>
                  <a:srgbClr val="8FB4DC"/>
                </a:solidFill>
                <a:latin typeface="Calibri" pitchFamily="34" charset="0"/>
                <a:ea typeface="Calibri" pitchFamily="34" charset="-122"/>
                <a:cs typeface="Calibri" pitchFamily="34" charset="-120"/>
              </a:rPr>
              <a:t>changlabtw.github.io/nccu-iss-2026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TotalTime>
  <Words>4199</Words>
  <Application>Microsoft Macintosh PowerPoint</Application>
  <PresentationFormat>寬螢幕</PresentationFormat>
  <Paragraphs>464</Paragraphs>
  <Slides>35</Slides>
  <Notes>35</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35</vt:i4>
      </vt:variant>
    </vt:vector>
  </HeadingPairs>
  <TitlesOfParts>
    <vt:vector size="40" baseType="lpstr">
      <vt:lpstr>Arial</vt:lpstr>
      <vt:lpstr>Calibri</vt:lpstr>
      <vt:lpstr>Cambria</vt:lpstr>
      <vt:lpstr>Consolas</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張家銘</cp:lastModifiedBy>
  <cp:revision>1</cp:revision>
  <dcterms:created xsi:type="dcterms:W3CDTF">2026-07-21T01:03:51Z</dcterms:created>
  <dcterms:modified xsi:type="dcterms:W3CDTF">2026-07-21T02:56:21Z</dcterms:modified>
</cp:coreProperties>
</file>