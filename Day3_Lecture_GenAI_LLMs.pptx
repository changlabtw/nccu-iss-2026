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3F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0B5CAD">
              <a:alpha val="45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515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874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B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NCCU International Summer School 2026 · Course S3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77240" y="228600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AI, Language Models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Agents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777240" y="4160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How machines learned to use language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724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B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22, 2026 · 09:10–12:00 · Jia-Ming Chang, Dept. of Computer Science, NCCU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changlabtw.github.io/nccu-iss-2026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First, let's close the loop on yesterday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trained a real image classifier — here's what it taught us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5623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64592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 it
</a:t>
            </a:r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that sorts clothing photos into 10 classes, trained from 60,000 examples.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044952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83464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saw learning happen
</a:t>
            </a:r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climbed each epoch as the loss fell — gradient descent, live.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48640" y="393192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233672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63040" y="402336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met the enemy
</a:t>
            </a:r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accuracy high, validation lower: overfitting. You fought it with augmentation.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548640" y="5349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 idea to carry forward: </a:t>
            </a:r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turns inputs into numbers, finds patterns, and makes predictions. Today the input is language instead of pixels — same machinery, new frontier.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3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idea worth naming: the sweet spot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simple misses the pattern; too complex memorizes noise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75304" cy="2651760"/>
          </a:xfrm>
          <a:prstGeom prst="roundRect">
            <a:avLst>
              <a:gd name="adj" fmla="val 2759"/>
            </a:avLst>
          </a:prstGeom>
          <a:solidFill>
            <a:srgbClr val="9DB4C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simple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957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the real pattern — wrong on training and new data alike.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06824" y="1783080"/>
            <a:ext cx="3575304" cy="2651760"/>
          </a:xfrm>
          <a:prstGeom prst="roundRect">
            <a:avLst>
              <a:gd name="adj" fmla="val 2759"/>
            </a:avLst>
          </a:prstGeom>
          <a:solidFill>
            <a:srgbClr val="2E7D5B"/>
          </a:solidFill>
          <a:ln/>
        </p:spPr>
      </p:sp>
      <p:sp>
        <p:nvSpPr>
          <p:cNvPr id="9" name="Text 7"/>
          <p:cNvSpPr/>
          <p:nvPr/>
        </p:nvSpPr>
        <p:spPr>
          <a:xfrm>
            <a:off x="4581144" y="2011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 right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81144" y="23957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81144" y="28346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the true shape and generalizes to new data. The goal.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65008" y="1783080"/>
            <a:ext cx="3575304" cy="2651760"/>
          </a:xfrm>
          <a:prstGeom prst="roundRect">
            <a:avLst>
              <a:gd name="adj" fmla="val 2759"/>
            </a:avLst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8339328" y="2011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complex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39328" y="23957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39328" y="28346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Memorizes the training data (and its noise) — fails on new data.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7091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bias–variance trade-off. </a:t>
            </a:r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why we always hold back a validation set: it's the only honest test of whether a model learned the idea, or just the answers. Every model today, including language models, lives with this tension.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3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Today: from words to ChatGPT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steps, then you start building your own project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841248"/>
          </a:xfrm>
          <a:prstGeom prst="roundRect">
            <a:avLst>
              <a:gd name="adj" fmla="val 7609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36192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71907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1536192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→ numbers   </a:t>
            </a:r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language becomes something a network can compute (embeddings)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48640" y="2395728"/>
            <a:ext cx="11091672" cy="841248"/>
          </a:xfrm>
          <a:prstGeom prst="roundRect">
            <a:avLst>
              <a:gd name="adj" fmla="val 7609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450592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263347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57400" y="2450592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&amp; Transformers   </a:t>
            </a:r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2017 idea behind every modern language model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548640" y="3310128"/>
            <a:ext cx="11091672" cy="841248"/>
          </a:xfrm>
          <a:prstGeom prst="roundRect">
            <a:avLst>
              <a:gd name="adj" fmla="val 7609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77240" y="3364992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3547872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57400" y="3364992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&amp; GPT   </a:t>
            </a:r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models, scale, and what ChatGPT actually does</a:t>
            </a:r>
            <a:endParaRPr lang="en-US" sz="1550" dirty="0"/>
          </a:p>
        </p:txBody>
      </p:sp>
      <p:sp>
        <p:nvSpPr>
          <p:cNvPr id="16" name="Shape 11"/>
          <p:cNvSpPr/>
          <p:nvPr/>
        </p:nvSpPr>
        <p:spPr>
          <a:xfrm>
            <a:off x="548640" y="4224528"/>
            <a:ext cx="11091672" cy="841248"/>
          </a:xfrm>
          <a:prstGeom prst="roundRect">
            <a:avLst>
              <a:gd name="adj" fmla="val 7609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77240" y="4279392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4462272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057400" y="4279392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them well   </a:t>
            </a:r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engineering, hallucination, and AI agents</a:t>
            </a:r>
            <a:endParaRPr lang="en-US" sz="1550" dirty="0"/>
          </a:p>
        </p:txBody>
      </p:sp>
      <p:sp>
        <p:nvSpPr>
          <p:cNvPr id="20" name="Shape 14"/>
          <p:cNvSpPr/>
          <p:nvPr/>
        </p:nvSpPr>
        <p:spPr>
          <a:xfrm>
            <a:off x="548640" y="5138928"/>
            <a:ext cx="11091672" cy="841248"/>
          </a:xfrm>
          <a:prstGeom prst="roundRect">
            <a:avLst>
              <a:gd name="adj" fmla="val 7609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77240" y="5193792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8760" y="5376672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057400" y="5193792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&amp; society   </a:t>
            </a:r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video, voice — and deepfakes, misinformation, trust</a:t>
            </a:r>
            <a:endParaRPr lang="en-US" sz="1550" dirty="0"/>
          </a:p>
        </p:txBody>
      </p:sp>
      <p:sp>
        <p:nvSpPr>
          <p:cNvPr id="24" name="Text 17"/>
          <p:cNvSpPr/>
          <p:nvPr/>
        </p:nvSpPr>
        <p:spPr>
          <a:xfrm>
            <a:off x="548640" y="61447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prompt-engineering lab + pick your final-project topic.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3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language is hard for computers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only does math — but words aren't numbers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EAF2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dog barked at a cat.” </a:t>
            </a:r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understand this instantly. A computer sees only symbols with no meaning, no grammar, no sense that “dog” and “cat” are both animals.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challenges of language: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2679192" cy="1554480"/>
          </a:xfrm>
          <a:prstGeom prst="roundRect">
            <a:avLst>
              <a:gd name="adj" fmla="val 4118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38404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
</a:t>
            </a:r>
            <a:pPr indent="0" marL="0">
              <a:buNone/>
            </a:pPr>
            <a:r>
              <a:rPr lang="en-US" sz="125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“bank” = river's edge, or money?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346704" y="3703320"/>
            <a:ext cx="2679192" cy="1554480"/>
          </a:xfrm>
          <a:prstGeom prst="roundRect">
            <a:avLst>
              <a:gd name="adj" fmla="val 4118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7872" y="38404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
</a:t>
            </a:r>
            <a:pPr indent="0" marL="0">
              <a:buNone/>
            </a:pPr>
            <a:r>
              <a:rPr lang="en-US" sz="125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“dog bites man” ≠ “man bites dog”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144768" y="3703320"/>
            <a:ext cx="2679192" cy="1554480"/>
          </a:xfrm>
          <a:prstGeom prst="roundRect">
            <a:avLst>
              <a:gd name="adj" fmla="val 4118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5936" y="38404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Long-range links
</a:t>
            </a:r>
            <a:pPr indent="0" marL="0">
              <a:buNone/>
            </a:pPr>
            <a:r>
              <a:rPr lang="en-US" sz="125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keys … are on the table” (keys → are)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942832" y="3703320"/>
            <a:ext cx="2679192" cy="1554480"/>
          </a:xfrm>
          <a:prstGeom prst="roundRect">
            <a:avLst>
              <a:gd name="adj" fmla="val 4118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0" y="38404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Endless variety
</a:t>
            </a:r>
            <a:pPr indent="0" marL="0">
              <a:buNone/>
            </a:pPr>
            <a:r>
              <a:rPr lang="en-US" sz="125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sentences, from finite words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one to solving all this: turn words into numbers that carry meaning.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3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attempt: one-hot encoding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 word its own slot — simple, but it breaks down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7160" y="18288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448056" cy="448056"/>
          </a:xfrm>
          <a:prstGeom prst="rect">
            <a:avLst/>
          </a:prstGeom>
          <a:solidFill>
            <a:srgbClr val="0B5CAD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25880" y="1828800"/>
            <a:ext cx="448056" cy="448056"/>
          </a:xfrm>
          <a:prstGeom prst="rect">
            <a:avLst/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82880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0" y="1828800"/>
            <a:ext cx="448056" cy="448056"/>
          </a:xfrm>
          <a:prstGeom prst="rect">
            <a:avLst/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182880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31720" y="1828800"/>
            <a:ext cx="448056" cy="448056"/>
          </a:xfrm>
          <a:prstGeom prst="rect">
            <a:avLst/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182880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" y="23317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2331720"/>
            <a:ext cx="448056" cy="448056"/>
          </a:xfrm>
          <a:prstGeom prst="rect">
            <a:avLst/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33172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325880" y="2331720"/>
            <a:ext cx="448056" cy="448056"/>
          </a:xfrm>
          <a:prstGeom prst="rect">
            <a:avLst/>
          </a:prstGeom>
          <a:solidFill>
            <a:srgbClr val="0B5CAD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233172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28800" y="2331720"/>
            <a:ext cx="448056" cy="448056"/>
          </a:xfrm>
          <a:prstGeom prst="rect">
            <a:avLst/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233172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331720" y="2331720"/>
            <a:ext cx="448056" cy="448056"/>
          </a:xfrm>
          <a:prstGeom prst="rect">
            <a:avLst/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31720" y="233172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" y="28346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" y="2834640"/>
            <a:ext cx="448056" cy="448056"/>
          </a:xfrm>
          <a:prstGeom prst="rect">
            <a:avLst/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283464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325880" y="2834640"/>
            <a:ext cx="448056" cy="448056"/>
          </a:xfrm>
          <a:prstGeom prst="rect">
            <a:avLst/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25880" y="283464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828800" y="2834640"/>
            <a:ext cx="448056" cy="448056"/>
          </a:xfrm>
          <a:prstGeom prst="rect">
            <a:avLst/>
          </a:prstGeom>
          <a:solidFill>
            <a:srgbClr val="0B5CAD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0" y="283464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331720" y="2834640"/>
            <a:ext cx="448056" cy="448056"/>
          </a:xfrm>
          <a:prstGeom prst="rect">
            <a:avLst/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31720" y="283464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37160" y="33375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22960" y="3337560"/>
            <a:ext cx="448056" cy="448056"/>
          </a:xfrm>
          <a:prstGeom prst="rect">
            <a:avLst/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333756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325880" y="3337560"/>
            <a:ext cx="448056" cy="448056"/>
          </a:xfrm>
          <a:prstGeom prst="rect">
            <a:avLst/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25880" y="333756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828800" y="3337560"/>
            <a:ext cx="448056" cy="448056"/>
          </a:xfrm>
          <a:prstGeom prst="rect">
            <a:avLst/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28800" y="333756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331720" y="3337560"/>
            <a:ext cx="448056" cy="448056"/>
          </a:xfrm>
          <a:prstGeom prst="rect">
            <a:avLst/>
          </a:prstGeom>
          <a:solidFill>
            <a:srgbClr val="0B5CAD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31720" y="333756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37160" y="3886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word = one “1” in a long row of “0”s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029200" y="1783080"/>
            <a:ext cx="6611112" cy="3200400"/>
          </a:xfrm>
          <a:prstGeom prst="roundRect">
            <a:avLst>
              <a:gd name="adj" fmla="val 2286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0" y="1965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303520" y="2423160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&amp; wasteful — </a:t>
            </a:r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50,000-word vocabulary = a 50,000-long row per word, almost all zeros.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303520" y="3474720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meaning — </a:t>
            </a:r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“cat” and “dog” are exactly as different as “cat” and “car.” The math sees no relationships.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numbers where similar words are actually close together. That's the big idea of embeddings.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3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breakthrough: word embeddings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every word in a “meaning space” where similar words sit close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0" cy="3566160"/>
          </a:xfrm>
          <a:prstGeom prst="roundRect">
            <a:avLst>
              <a:gd name="adj" fmla="val 2051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2286000"/>
            <a:ext cx="146304" cy="14630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6" name="Text 4"/>
          <p:cNvSpPr/>
          <p:nvPr/>
        </p:nvSpPr>
        <p:spPr>
          <a:xfrm>
            <a:off x="1591056" y="21762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920240" y="2651760"/>
            <a:ext cx="146304" cy="14630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8" name="Text 6"/>
          <p:cNvSpPr/>
          <p:nvPr/>
        </p:nvSpPr>
        <p:spPr>
          <a:xfrm>
            <a:off x="2048256" y="2542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280160" y="2926080"/>
            <a:ext cx="146304" cy="14630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1408176" y="28163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kitten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0" y="4297680"/>
            <a:ext cx="146304" cy="146304"/>
          </a:xfrm>
          <a:prstGeom prst="ellipse">
            <a:avLst/>
          </a:prstGeom>
          <a:solidFill>
            <a:srgbClr val="0B5CAD"/>
          </a:solidFill>
          <a:ln/>
        </p:spPr>
      </p:sp>
      <p:sp>
        <p:nvSpPr>
          <p:cNvPr id="12" name="Text 10"/>
          <p:cNvSpPr/>
          <p:nvPr/>
        </p:nvSpPr>
        <p:spPr>
          <a:xfrm>
            <a:off x="4517136" y="4187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37760" y="4572000"/>
            <a:ext cx="146304" cy="146304"/>
          </a:xfrm>
          <a:prstGeom prst="ellipse">
            <a:avLst/>
          </a:prstGeom>
          <a:solidFill>
            <a:srgbClr val="0B5CAD"/>
          </a:solidFill>
          <a:ln/>
        </p:spPr>
      </p:sp>
      <p:sp>
        <p:nvSpPr>
          <p:cNvPr id="14" name="Text 12"/>
          <p:cNvSpPr/>
          <p:nvPr/>
        </p:nvSpPr>
        <p:spPr>
          <a:xfrm>
            <a:off x="5065776" y="44622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0" y="448056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2871216" y="43708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108960" y="484632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3236976" y="4736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4892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animals cluster together; vehicles elsewhere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46520" y="1691640"/>
            <a:ext cx="5193792" cy="3566160"/>
          </a:xfrm>
          <a:prstGeom prst="roundRect">
            <a:avLst>
              <a:gd name="adj" fmla="val 2051"/>
            </a:avLst>
          </a:prstGeom>
          <a:solidFill>
            <a:srgbClr val="EAF2FB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192024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word becomes a list of numbers (a vector) — its coordinates in meaning space.
</a:t>
            </a:r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from billions of sentences: words used in similar contexts end up nearby. </a:t>
            </a:r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famous result:
</a:t>
            </a:r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− man + woman ≈ queen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math can capture meaning. Embeddings are the foundation of everything that follows — and, on Day 4, of how your project chatbot will search documents.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3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poll: meaning space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good word-embedding, which pair sits closest together?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58400" y="45720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3FB984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0" y="4572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Zuvio poll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63040" y="1965960"/>
            <a:ext cx="9235440" cy="841248"/>
          </a:xfrm>
          <a:prstGeom prst="roundRect">
            <a:avLst>
              <a:gd name="adj" fmla="val 8696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91640" y="2157984"/>
            <a:ext cx="457200" cy="457200"/>
          </a:xfrm>
          <a:prstGeom prst="ellipse">
            <a:avLst/>
          </a:prstGeom>
          <a:solidFill>
            <a:srgbClr val="0B5CAD"/>
          </a:solidFill>
          <a:ln/>
        </p:spPr>
      </p:sp>
      <p:sp>
        <p:nvSpPr>
          <p:cNvPr id="8" name="Text 6"/>
          <p:cNvSpPr/>
          <p:nvPr/>
        </p:nvSpPr>
        <p:spPr>
          <a:xfrm>
            <a:off x="1691640" y="2157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377440" y="1965960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“happy” and “joyful”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463040" y="2926080"/>
            <a:ext cx="9235440" cy="841248"/>
          </a:xfrm>
          <a:prstGeom prst="roundRect">
            <a:avLst>
              <a:gd name="adj" fmla="val 8696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91640" y="3118104"/>
            <a:ext cx="457200" cy="457200"/>
          </a:xfrm>
          <a:prstGeom prst="ellipse">
            <a:avLst/>
          </a:prstGeom>
          <a:solidFill>
            <a:srgbClr val="0B5CAD"/>
          </a:solidFill>
          <a:ln/>
        </p:spPr>
      </p:sp>
      <p:sp>
        <p:nvSpPr>
          <p:cNvPr id="12" name="Text 10"/>
          <p:cNvSpPr/>
          <p:nvPr/>
        </p:nvSpPr>
        <p:spPr>
          <a:xfrm>
            <a:off x="1691640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77440" y="2926080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“happy” and “banana”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463040" y="3886200"/>
            <a:ext cx="9235440" cy="841248"/>
          </a:xfrm>
          <a:prstGeom prst="roundRect">
            <a:avLst>
              <a:gd name="adj" fmla="val 8696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91640" y="4078224"/>
            <a:ext cx="457200" cy="457200"/>
          </a:xfrm>
          <a:prstGeom prst="ellipse">
            <a:avLst/>
          </a:prstGeom>
          <a:solidFill>
            <a:srgbClr val="0B5CAD"/>
          </a:solidFill>
          <a:ln/>
        </p:spPr>
      </p:sp>
      <p:sp>
        <p:nvSpPr>
          <p:cNvPr id="16" name="Text 14"/>
          <p:cNvSpPr/>
          <p:nvPr/>
        </p:nvSpPr>
        <p:spPr>
          <a:xfrm>
            <a:off x="169164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377440" y="3886200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“happy” and “the”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463040" y="4846320"/>
            <a:ext cx="9235440" cy="841248"/>
          </a:xfrm>
          <a:prstGeom prst="roundRect">
            <a:avLst>
              <a:gd name="adj" fmla="val 8696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91640" y="5038344"/>
            <a:ext cx="457200" cy="457200"/>
          </a:xfrm>
          <a:prstGeom prst="ellipse">
            <a:avLst/>
          </a:prstGeom>
          <a:solidFill>
            <a:srgbClr val="0B5CAD"/>
          </a:solidFill>
          <a:ln/>
        </p:spPr>
      </p:sp>
      <p:sp>
        <p:nvSpPr>
          <p:cNvPr id="20" name="Text 18"/>
          <p:cNvSpPr/>
          <p:nvPr/>
        </p:nvSpPr>
        <p:spPr>
          <a:xfrm>
            <a:off x="1691640" y="5038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377440" y="4846320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“happy” and “kilometer”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(Answer: A — words with similar meaning and usage sit closest.)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3  |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a word learn its coordinates?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shall know a word by the company it keeps”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EAF2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10512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 (Word2Vec, 2013): </a:t>
            </a:r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a window across billions of sentences and learn to predict a word from its neighbors. Words that share neighbors (“cat sat on the…”, “dog sat on the…”) drift close together in meaning space.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103120" y="338328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33832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11880" y="338328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EAF2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33832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20640" y="338328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0B5CAD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33832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29400" y="338328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EAF2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33832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338328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33832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quietly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0312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“cat” from its context words → “cat” moves near words with similar contexts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7548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 for your project: </a:t>
            </a:r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let a computer measure how related two pieces of text are. On Day 4, that's exactly how your chatbot will find the right passage in your documents to answer a question.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3  |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in order: RNNs (the old approach)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one word at a time, keeping a memory — but memory fades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3200400"/>
          </a:xfrm>
          <a:prstGeom prst="roundRect">
            <a:avLst>
              <a:gd name="adj" fmla="val 2286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 RNN reads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left to right, passing a running “memory” forward at each word — like reading a sentence while trying to hold everything so far in your head.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402336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EAF2F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0233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40690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03120" y="402336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EAF2FB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40233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63240" y="40690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37560" y="402336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EAF2FB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40233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0" y="40690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0" y="402336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EAF2F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40233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1645920"/>
            <a:ext cx="5468112" cy="3200400"/>
          </a:xfrm>
          <a:prstGeom prst="roundRect">
            <a:avLst>
              <a:gd name="adj" fmla="val 2286"/>
            </a:avLst>
          </a:prstGeom>
          <a:solidFill>
            <a:srgbClr val="EAF2FB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catch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46520" y="228600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a long sentence, the early words have faded. </a:t>
            </a:r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reading strictly in order is slow — you can't process words in parallel.
</a:t>
            </a:r>
            <a:pPr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the model could look at all words at once, and decide which ones matter for each other?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53949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question is answered by attention.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3  |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Attention: look at what matters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word, the model weighs how much every other word matters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EAF2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1051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animal didn't cross the street because it was too tired.” </a:t>
            </a:r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“it” refer to? To answer, the model pays strong attention to “animal.”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“it” attends to each word: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823460"/>
            <a:ext cx="1280160" cy="68580"/>
          </a:xfrm>
          <a:prstGeom prst="rect">
            <a:avLst/>
          </a:prstGeom>
          <a:solidFill>
            <a:srgbClr val="9DB4C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937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3657600"/>
            <a:ext cx="1280160" cy="1234440"/>
          </a:xfrm>
          <a:prstGeom prst="rect">
            <a:avLst/>
          </a:prstGeom>
          <a:solidFill>
            <a:srgbClr val="0B5CAD"/>
          </a:solidFill>
          <a:ln/>
        </p:spPr>
      </p:sp>
      <p:sp>
        <p:nvSpPr>
          <p:cNvPr id="10" name="Text 8"/>
          <p:cNvSpPr/>
          <p:nvPr/>
        </p:nvSpPr>
        <p:spPr>
          <a:xfrm>
            <a:off x="2423160" y="4937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4686300"/>
            <a:ext cx="1280160" cy="205740"/>
          </a:xfrm>
          <a:prstGeom prst="rect">
            <a:avLst/>
          </a:prstGeom>
          <a:solidFill>
            <a:srgbClr val="9DB4C8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4937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4411980"/>
            <a:ext cx="1280160" cy="480060"/>
          </a:xfrm>
          <a:prstGeom prst="rect">
            <a:avLst/>
          </a:prstGeom>
          <a:solidFill>
            <a:srgbClr val="9DB4C8"/>
          </a:solidFill>
          <a:ln/>
        </p:spPr>
      </p:sp>
      <p:sp>
        <p:nvSpPr>
          <p:cNvPr id="14" name="Text 12"/>
          <p:cNvSpPr/>
          <p:nvPr/>
        </p:nvSpPr>
        <p:spPr>
          <a:xfrm>
            <a:off x="5989320" y="4937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0" y="4754880"/>
            <a:ext cx="1280160" cy="137160"/>
          </a:xfrm>
          <a:prstGeom prst="rect">
            <a:avLst/>
          </a:prstGeom>
          <a:solidFill>
            <a:srgbClr val="9DB4C8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0" y="4937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738360" y="4206240"/>
            <a:ext cx="1280160" cy="685800"/>
          </a:xfrm>
          <a:prstGeom prst="rect">
            <a:avLst/>
          </a:prstGeom>
          <a:solidFill>
            <a:srgbClr val="9DB4C8"/>
          </a:solidFill>
          <a:ln/>
        </p:spPr>
      </p:sp>
      <p:sp>
        <p:nvSpPr>
          <p:cNvPr id="18" name="Text 16"/>
          <p:cNvSpPr/>
          <p:nvPr/>
        </p:nvSpPr>
        <p:spPr>
          <a:xfrm>
            <a:off x="9555480" y="4937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link: it → animal. The model learned this from data, not from grammar rules.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3  |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3F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40080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4630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2017: “Attention Is All You Need”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777240" y="21488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landmark paper: Vaswani et al., NeurIPS 2017 — the birth of the Transformer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777240" y="2880360"/>
            <a:ext cx="10607040" cy="868680"/>
          </a:xfrm>
          <a:prstGeom prst="roundRect">
            <a:avLst>
              <a:gd name="adj" fmla="val 7368"/>
            </a:avLst>
          </a:prstGeom>
          <a:solidFill>
            <a:srgbClr val="0B5CAD"/>
          </a:solidFill>
          <a:ln/>
        </p:spPr>
      </p:sp>
      <p:sp>
        <p:nvSpPr>
          <p:cNvPr id="6" name="Text 3"/>
          <p:cNvSpPr/>
          <p:nvPr/>
        </p:nvSpPr>
        <p:spPr>
          <a:xfrm>
            <a:off x="1051560" y="29260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  </a:t>
            </a:r>
            <a:pPr indent="0" marL="0">
              <a:buNone/>
            </a:pPr>
            <a:r>
              <a:rPr lang="en-US" sz="13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slow left-to-right reading. Use attention alone to relate all words in parallel.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77240" y="3867912"/>
            <a:ext cx="10607040" cy="868680"/>
          </a:xfrm>
          <a:prstGeom prst="roundRect">
            <a:avLst>
              <a:gd name="adj" fmla="val 7368"/>
            </a:avLst>
          </a:prstGeom>
          <a:solidFill>
            <a:srgbClr val="0B5CAD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39136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won   </a:t>
            </a:r>
            <a:pPr indent="0" marL="0">
              <a:buNone/>
            </a:pPr>
            <a:r>
              <a:rPr lang="en-US" sz="13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to train, better at long-range meaning, and it scales to enormous size.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77240" y="4855464"/>
            <a:ext cx="10607040" cy="868680"/>
          </a:xfrm>
          <a:prstGeom prst="roundRect">
            <a:avLst>
              <a:gd name="adj" fmla="val 7368"/>
            </a:avLst>
          </a:prstGeom>
          <a:solidFill>
            <a:srgbClr val="0B5CAD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4901184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legacy   </a:t>
            </a:r>
            <a:pPr indent="0" marL="0">
              <a:buNone/>
            </a:pPr>
            <a:r>
              <a:rPr lang="en-US" sz="13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you've heard of — GPT, Claude, BERT, Gemini — is a Transformer. The T in GPT.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a Transformer (the gist)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attention “heads”, stacked in layers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3383280"/>
          </a:xfrm>
          <a:prstGeom prst="roundRect">
            <a:avLst>
              <a:gd name="adj" fmla="val 2162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Multi-head attention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attention several times in parallel, each “head” looking for a different kind of relationship: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one head tracks grammar (subject → verb)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another tracks meaning (it → animal)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another tracks long-range links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468112" cy="3383280"/>
          </a:xfrm>
          <a:prstGeom prst="roundRect">
            <a:avLst>
              <a:gd name="adj" fmla="val 2162"/>
            </a:avLst>
          </a:prstGeom>
          <a:solidFill>
            <a:srgbClr val="EAF2FB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the blocks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28600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dozens of these attention blocks and you get a Transformer. </a:t>
            </a:r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blocks catch simple patterns; deep blocks capture meaning, tone, even reasoning — the same “simple → complex” hierarchy you saw in image CNNs yesterday.
</a:t>
            </a:r>
            <a:pPr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flavors: encoders (understand text, e.g. BERT) and decoders (generate text, e.g. GPT).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5166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the math. The intuition — “attention lets the model focus” — is enough to understand everything that follows.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3  |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branches of the family: understand vs generate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Transformer, wired two ways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3291840"/>
          </a:xfrm>
          <a:prstGeom prst="roundRect">
            <a:avLst>
              <a:gd name="adj" fmla="val 2222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Encoders — understanding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whole sentence at once, both directions, to grasp its meaning. </a:t>
            </a:r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classifying sentiment, answering “which passage answers this?”, search.
</a:t>
            </a:r>
            <a:pPr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BERT (Google).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645920"/>
            <a:ext cx="5468112" cy="3291840"/>
          </a:xfrm>
          <a:prstGeom prst="roundRect">
            <a:avLst>
              <a:gd name="adj" fmla="val 2222"/>
            </a:avLst>
          </a:prstGeom>
          <a:solidFill>
            <a:srgbClr val="EAF2FB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Decoders — generating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228600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word at a time, each based on all the words so far. </a:t>
            </a:r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chatting, writing, coding, summarizing.
</a:t>
            </a:r>
            <a:pPr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GPT, Claude, Gemini — the models you'll use this week.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166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matter for your project: a decoder writes the answers; encoder-style embeddings find the right documents (Day 4).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3  |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large language model actually does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deceptively simple trick: predict the next word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1463040"/>
          </a:xfrm>
          <a:prstGeom prst="roundRect">
            <a:avLst>
              <a:gd name="adj" fmla="val 5000"/>
            </a:avLst>
          </a:prstGeom>
          <a:solidFill>
            <a:srgbClr val="EAF2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capital of France is ___” </a:t>
            </a:r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model predicts the most likely next word: “Paris.” Then it does it again, and again, building a whole answer one word at a time.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it. </a:t>
            </a:r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is a next-word predictor, trained on a huge slice of the internet. Everything else — answering questions, writing code, translating — emerges from doing this incredibly well at massive scale.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434840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5720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trust: </a:t>
            </a:r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predicts what sounds likely, not what is true. Usually those match. When they don't, you get a confident, fluent, wrong answer — a “hallucination.” Keep this in mind all week.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3  |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 models: train once, use everywhere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recipe behind modern AI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75304" cy="2651760"/>
          </a:xfrm>
          <a:prstGeom prst="roundRect">
            <a:avLst>
              <a:gd name="adj" fmla="val 2759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Pre-train
</a:t>
            </a:r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huge chunk of the internet, learning to predict the next word. Months of computing, enormous cost. Done once.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078224" y="28803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06824" y="1783080"/>
            <a:ext cx="3575304" cy="2651760"/>
          </a:xfrm>
          <a:prstGeom prst="roundRect">
            <a:avLst>
              <a:gd name="adj" fmla="val 2759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81144" y="201168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Fine-tune
</a:t>
            </a:r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the trained model for specific behavior — being helpful, following instructions, staying safe.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836408" y="28803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065008" y="1783080"/>
            <a:ext cx="3575304" cy="2651760"/>
          </a:xfrm>
          <a:prstGeom prst="roundRect">
            <a:avLst>
              <a:gd name="adj" fmla="val 2759"/>
            </a:avLst>
          </a:prstGeom>
          <a:solidFill>
            <a:srgbClr val="EAF2FB"/>
          </a:solidFill>
          <a:ln/>
        </p:spPr>
      </p:sp>
      <p:sp>
        <p:nvSpPr>
          <p:cNvPr id="11" name="Text 9"/>
          <p:cNvSpPr/>
          <p:nvPr/>
        </p:nvSpPr>
        <p:spPr>
          <a:xfrm>
            <a:off x="8339328" y="201168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Use
</a:t>
            </a:r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people apply the same model to countless tasks. This is why it's a “foundation.”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47091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as yesterday's transfer learning: </a:t>
            </a:r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start from zero. Build on a model that already learned language from billions of examples.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3  | 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GPT story: scale changes everything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generation, far bigger — and qualitatively smarter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79192" cy="2743200"/>
          </a:xfrm>
          <a:prstGeom prst="roundRect">
            <a:avLst>
              <a:gd name="adj" fmla="val 2730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3957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117M parameters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 sentences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46704" y="1783080"/>
            <a:ext cx="2679192" cy="2743200"/>
          </a:xfrm>
          <a:prstGeom prst="roundRect">
            <a:avLst>
              <a:gd name="adj" fmla="val 2730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75304" y="19659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75304" y="23957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75304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1.5B parameters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75304" y="33832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paragraphs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44768" y="1783080"/>
            <a:ext cx="2679192" cy="2743200"/>
          </a:xfrm>
          <a:prstGeom prst="roundRect">
            <a:avLst>
              <a:gd name="adj" fmla="val 2730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659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73368" y="23957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73368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175B parameters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73368" y="33832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open questions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942832" y="1783080"/>
            <a:ext cx="2679192" cy="2743200"/>
          </a:xfrm>
          <a:prstGeom prst="roundRect">
            <a:avLst>
              <a:gd name="adj" fmla="val 2730"/>
            </a:avLst>
          </a:prstGeom>
          <a:solidFill>
            <a:srgbClr val="0B5CAD"/>
          </a:solidFill>
          <a:ln/>
        </p:spPr>
      </p:sp>
      <p:sp>
        <p:nvSpPr>
          <p:cNvPr id="20" name="Text 18"/>
          <p:cNvSpPr/>
          <p:nvPr/>
        </p:nvSpPr>
        <p:spPr>
          <a:xfrm>
            <a:off x="9171432" y="19659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GPT-4 / 4o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71432" y="23957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71432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~1.8T (est.)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71432" y="33832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8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too; near-expert on many exams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48006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surprise of the last decade: </a:t>
            </a:r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making the same model much bigger, on much more data, produced abilities nobody explicitly programmed. Scale, not new tricks, drove the leap to ChatGPT.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3  | 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scale really costs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power isn't free — and that shapes who builds 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75304" cy="3017520"/>
          </a:xfrm>
          <a:prstGeom prst="roundRect">
            <a:avLst>
              <a:gd name="adj" fmla="val 2424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5603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
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frontier model costs tens to hundreds of millions of dollars and months of computing on thousands of specialized chips.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4306824" y="1737360"/>
            <a:ext cx="3575304" cy="3017520"/>
          </a:xfrm>
          <a:prstGeom prst="roundRect">
            <a:avLst>
              <a:gd name="adj" fmla="val 2424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196596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81144" y="25603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it
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uses real electricity and hardware — roughly a few cents to a dime per rich conversation. It adds up fast at scale.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8065008" y="1737360"/>
            <a:ext cx="3575304" cy="3017520"/>
          </a:xfrm>
          <a:prstGeom prst="roundRect">
            <a:avLst>
              <a:gd name="adj" fmla="val 2424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196596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39328" y="25603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build
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handful of large organizations can train the biggest models. That concentrates power — an issue for society and policy.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548640" y="5029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news for this course: </a:t>
            </a:r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train anything. You use existing models through free tools (OpenRouter, Claude) — all the capability, none of the cost.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3  | 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generative AI is already working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across communication and media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920240"/>
            <a:ext cx="4297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&amp; media
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Drafting, summarizing, translating, and tagging stories at scale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153912" y="173736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20116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68312" y="1920240"/>
            <a:ext cx="4297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
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contracts, finding precedents, automating routine documents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548640" y="356616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84048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63040" y="3749040"/>
            <a:ext cx="4297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&amp; retail
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descriptions, virtual try-on, trend analysis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6153912" y="356616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384048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068312" y="3749040"/>
            <a:ext cx="4297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work
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slides, brainstorming, coding, research assistance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count hundreds of distinct use cases — and communication fields are among the most affected. Which connects to a bigger question…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3  |  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“Will AI replace me?”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useful question: how will you work with it?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EAF2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10512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relationships with AI: </a:t>
            </a:r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make you stronger (augment you), it can be delegated routine parts of your work, or — for purely routine roles — it can replace the task. Which one happens depends on how you use 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2679192" cy="1371600"/>
          </a:xfrm>
          <a:prstGeom prst="roundRect">
            <a:avLst>
              <a:gd name="adj" fmla="val 4667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2918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
</a:t>
            </a:r>
            <a:pPr algn="ctr" indent="0" marL="0">
              <a:buNone/>
            </a:pPr>
            <a:r>
              <a:rPr lang="en-US" sz="12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helps; you lead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46704" y="3108960"/>
            <a:ext cx="2679192" cy="1371600"/>
          </a:xfrm>
          <a:prstGeom prst="roundRect">
            <a:avLst>
              <a:gd name="adj" fmla="val 4667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9584" y="32918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Collaborator
</a:t>
            </a:r>
            <a:pPr algn="ctr" indent="0" marL="0">
              <a:buNone/>
            </a:pPr>
            <a:r>
              <a:rPr lang="en-US" sz="12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and AI co-create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44768" y="3108960"/>
            <a:ext cx="2679192" cy="1371600"/>
          </a:xfrm>
          <a:prstGeom prst="roundRect">
            <a:avLst>
              <a:gd name="adj" fmla="val 4667"/>
            </a:avLst>
          </a:prstGeom>
          <a:solidFill>
            <a:srgbClr val="F1F4F7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7648" y="32918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Delegator
</a:t>
            </a:r>
            <a:pPr algn="ctr" indent="0" marL="0">
              <a:buNone/>
            </a:pPr>
            <a:r>
              <a:rPr lang="en-US" sz="12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assign, AI does, you check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942832" y="3108960"/>
            <a:ext cx="2679192" cy="1371600"/>
          </a:xfrm>
          <a:prstGeom prst="roundRect">
            <a:avLst>
              <a:gd name="adj" fmla="val 4667"/>
            </a:avLst>
          </a:prstGeom>
          <a:solidFill>
            <a:srgbClr val="F1F4F7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25712" y="32918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
</a:t>
            </a:r>
            <a:pPr algn="ctr" indent="0" marL="0">
              <a:buNone/>
            </a:pPr>
            <a:r>
              <a:rPr lang="en-US" sz="12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tasks fully handed off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4709160"/>
            <a:ext cx="10332720" cy="0"/>
          </a:xfrm>
          <a:prstGeom prst="line">
            <a:avLst/>
          </a:prstGeom>
          <a:noFill/>
          <a:ln w="19050">
            <a:solidFill>
              <a:srgbClr val="9DB4C8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2296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human control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052560" y="4754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automation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who thrive won't be those who avoid AI, or those who blindly trust it — but those who learn to direct it well. That's what this week is really about.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3  |  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Poll: when ChatGPT answers a question, it…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what you just learned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58400" y="45720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3FB984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0" y="4572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Zuvio poll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63040" y="1965960"/>
            <a:ext cx="9235440" cy="841248"/>
          </a:xfrm>
          <a:prstGeom prst="roundRect">
            <a:avLst>
              <a:gd name="adj" fmla="val 8696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91640" y="2157984"/>
            <a:ext cx="457200" cy="457200"/>
          </a:xfrm>
          <a:prstGeom prst="ellipse">
            <a:avLst/>
          </a:prstGeom>
          <a:solidFill>
            <a:srgbClr val="0B5CAD"/>
          </a:solidFill>
          <a:ln/>
        </p:spPr>
      </p:sp>
      <p:sp>
        <p:nvSpPr>
          <p:cNvPr id="8" name="Text 6"/>
          <p:cNvSpPr/>
          <p:nvPr/>
        </p:nvSpPr>
        <p:spPr>
          <a:xfrm>
            <a:off x="1691640" y="2157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377440" y="1965960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up the answer in a database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1463040" y="2926080"/>
            <a:ext cx="9235440" cy="841248"/>
          </a:xfrm>
          <a:prstGeom prst="roundRect">
            <a:avLst>
              <a:gd name="adj" fmla="val 8696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91640" y="3118104"/>
            <a:ext cx="457200" cy="457200"/>
          </a:xfrm>
          <a:prstGeom prst="ellipse">
            <a:avLst/>
          </a:prstGeom>
          <a:solidFill>
            <a:srgbClr val="0B5CAD"/>
          </a:solidFill>
          <a:ln/>
        </p:spPr>
      </p:sp>
      <p:sp>
        <p:nvSpPr>
          <p:cNvPr id="12" name="Text 10"/>
          <p:cNvSpPr/>
          <p:nvPr/>
        </p:nvSpPr>
        <p:spPr>
          <a:xfrm>
            <a:off x="1691640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77440" y="2926080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Google in real time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1463040" y="3886200"/>
            <a:ext cx="9235440" cy="841248"/>
          </a:xfrm>
          <a:prstGeom prst="roundRect">
            <a:avLst>
              <a:gd name="adj" fmla="val 8696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91640" y="4078224"/>
            <a:ext cx="457200" cy="457200"/>
          </a:xfrm>
          <a:prstGeom prst="ellipse">
            <a:avLst/>
          </a:prstGeom>
          <a:solidFill>
            <a:srgbClr val="0B5CAD"/>
          </a:solidFill>
          <a:ln/>
        </p:spPr>
      </p:sp>
      <p:sp>
        <p:nvSpPr>
          <p:cNvPr id="16" name="Text 14"/>
          <p:cNvSpPr/>
          <p:nvPr/>
        </p:nvSpPr>
        <p:spPr>
          <a:xfrm>
            <a:off x="169164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377440" y="3886200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likely words, one at a time, from patterns it learned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1463040" y="4846320"/>
            <a:ext cx="9235440" cy="841248"/>
          </a:xfrm>
          <a:prstGeom prst="roundRect">
            <a:avLst>
              <a:gd name="adj" fmla="val 8696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91640" y="5038344"/>
            <a:ext cx="457200" cy="457200"/>
          </a:xfrm>
          <a:prstGeom prst="ellipse">
            <a:avLst/>
          </a:prstGeom>
          <a:solidFill>
            <a:srgbClr val="0B5CAD"/>
          </a:solidFill>
          <a:ln/>
        </p:spPr>
      </p:sp>
      <p:sp>
        <p:nvSpPr>
          <p:cNvPr id="20" name="Text 18"/>
          <p:cNvSpPr/>
          <p:nvPr/>
        </p:nvSpPr>
        <p:spPr>
          <a:xfrm>
            <a:off x="1691640" y="5038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377440" y="4846320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the question the way a human does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463040" y="5989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(Answer: C. That's also why it can be confidently wrong — and why the next section matters.)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3  |  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catch: hallucination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and confident is not the same as correct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BEED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810512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7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hallucination </a:t>
            </a:r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when the model states something false as if it were true — a made-up citation, a fake statistic, a plausible wrong fact. It isn't lying; it's predicting likely-sounding words.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3291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protect yourself: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749040"/>
            <a:ext cx="3575304" cy="1417320"/>
          </a:xfrm>
          <a:prstGeom prst="roundRect">
            <a:avLst>
              <a:gd name="adj" fmla="val 4516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3913632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facts
</a:t>
            </a:r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names, numbers, and quotes against a real source.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306824" y="3749040"/>
            <a:ext cx="3575304" cy="1417320"/>
          </a:xfrm>
          <a:prstGeom prst="roundRect">
            <a:avLst>
              <a:gd name="adj" fmla="val 4516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35424" y="3913632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sources
</a:t>
            </a:r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then check the sources too — they can be invented.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8065008" y="3749040"/>
            <a:ext cx="3575304" cy="1417320"/>
          </a:xfrm>
          <a:prstGeom prst="roundRect">
            <a:avLst>
              <a:gd name="adj" fmla="val 4516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93608" y="3913632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it in documents
</a:t>
            </a:r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model your own texts to answer from (that's RAG, Day 4).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heart of the course's trust theme: powerful, useful, and not automatically reliable.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3  |  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engineering: how you ask matters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model gives far better answers with a better prompt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75304" cy="1463040"/>
          </a:xfrm>
          <a:prstGeom prst="roundRect">
            <a:avLst>
              <a:gd name="adj" fmla="val 4375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2024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856232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role
</a:t>
            </a:r>
            <a:pPr indent="0" marL="0">
              <a:buNone/>
            </a:pPr>
            <a:r>
              <a:rPr lang="en-US" sz="12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are a patient science teacher for 12-year-olds.”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306824" y="1691640"/>
            <a:ext cx="3575304" cy="1463040"/>
          </a:xfrm>
          <a:prstGeom prst="roundRect">
            <a:avLst>
              <a:gd name="adj" fmla="val 4375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424" y="192024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38344" y="1856232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context
</a:t>
            </a:r>
            <a:pPr indent="0" marL="0">
              <a:buNone/>
            </a:pPr>
            <a:r>
              <a:rPr lang="en-US" sz="12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who it's for, the goal, and any constraints.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065008" y="1691640"/>
            <a:ext cx="3575304" cy="1463040"/>
          </a:xfrm>
          <a:prstGeom prst="roundRect">
            <a:avLst>
              <a:gd name="adj" fmla="val 4375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920240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796528" y="1856232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an example
</a:t>
            </a:r>
            <a:pPr indent="0" marL="0">
              <a:buNone/>
            </a:pPr>
            <a:r>
              <a:rPr lang="en-US" sz="12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two examples of what you want (“few-shot”).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3291840"/>
            <a:ext cx="3575304" cy="1463040"/>
          </a:xfrm>
          <a:prstGeom prst="roundRect">
            <a:avLst>
              <a:gd name="adj" fmla="val 4375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520440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3456432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 format
</a:t>
            </a:r>
            <a:pPr indent="0" marL="0">
              <a:buNone/>
            </a:pPr>
            <a:r>
              <a:rPr lang="en-US" sz="12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“Reply in 3 bullet points, each under 15 words.”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306824" y="3291840"/>
            <a:ext cx="3575304" cy="1463040"/>
          </a:xfrm>
          <a:prstGeom prst="roundRect">
            <a:avLst>
              <a:gd name="adj" fmla="val 4375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5424" y="3520440"/>
            <a:ext cx="384048" cy="38404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038344" y="3456432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step by step
</a:t>
            </a:r>
            <a:pPr indent="0" marL="0">
              <a:buNone/>
            </a:pPr>
            <a:r>
              <a:rPr lang="en-US" sz="12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reasoning, ask it to work through steps out loud.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548640" y="5029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practice all five in today's lab. </a:t>
            </a:r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exactly the techniques your team will use to design your project chatbot's system prompt.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3  |  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chatbot to agent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stops just answering and starts doing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3200400"/>
          </a:xfrm>
          <a:prstGeom prst="roundRect">
            <a:avLst>
              <a:gd name="adj" fmla="val 2286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chatbot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ask, it answers. One turn at a time. You do everything with the answer.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“Write me an email.” → draft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645920"/>
            <a:ext cx="5468112" cy="3200400"/>
          </a:xfrm>
          <a:prstGeom prst="roundRect">
            <a:avLst>
              <a:gd name="adj" fmla="val 2286"/>
            </a:avLst>
          </a:prstGeom>
          <a:solidFill>
            <a:srgbClr val="093F76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agent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46520" y="228600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a goal; it plans, uses tools, and takes steps to reach it — checking its own work along the way.
</a:t>
            </a:r>
            <a:pPr indent="0" marL="0">
              <a:buNone/>
            </a:pPr>
            <a:r>
              <a:rPr lang="en-US" sz="1400" i="1" dirty="0">
                <a:solidFill>
                  <a:srgbClr val="D8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“Book a table for 4 near the venue Friday.” → searches, compares, fills the form, confirms.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120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Gates (2023): </a:t>
            </a:r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will change how we use computers as much as the shift from typing commands to clicking icons. This is where the field is heading — and it's tomorrow's reading.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3  |  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 isn't only text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“predict what comes next” idea, for any medium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920240"/>
            <a:ext cx="4297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Image
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it, get a picture (DALL·E, Midjourney, Stable Diffusion)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153912" y="173736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20116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68312" y="1920240"/>
            <a:ext cx="4297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Video
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sentence becomes a short clip (Sora and others)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48640" y="356616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84048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63040" y="3749040"/>
            <a:ext cx="4297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Music
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mood, get a song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6153912" y="356616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384048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068312" y="3749040"/>
            <a:ext cx="4297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cloning
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seconds of audio → a synthetic voice that sounds like you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Astonishing creative power — and the same power makes convincing fakes. That tension is next.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3  |  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dark side: deepfakes &amp; misinformation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anyone can fabricate convincing reality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3383280"/>
          </a:xfrm>
          <a:prstGeom prst="roundRect">
            <a:avLst>
              <a:gd name="adj" fmla="val 2162"/>
            </a:avLst>
          </a:prstGeom>
          <a:solidFill>
            <a:srgbClr val="F7E9E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4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Deepfakes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+ fake. </a:t>
            </a:r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AI-synthesized video, audio, or images of real people saying or doing things they never did.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2018 a manipulated video put fabricated words in a former US president's mouth — an early, viral warning. The tech has only improved since.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645920"/>
            <a:ext cx="5468112" cy="3383280"/>
          </a:xfrm>
          <a:prstGeom prst="roundRect">
            <a:avLst>
              <a:gd name="adj" fmla="val 2162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“This X Does Not Exist”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228600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 generate endless photorealistic faces of people who have never existed. </a:t>
            </a:r>
            <a:pPr indent="0" marL="0">
              <a:buNone/>
            </a:pPr>
            <a:r>
              <a:rPr lang="en-US" sz="13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photo looks real. The person isn't.
</a:t>
            </a:r>
            <a:pPr indent="0" marL="0">
              <a:buNone/>
            </a:pPr>
            <a:r>
              <a:rPr lang="en-US" sz="135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communication student this is the core question: when seeing is no longer believing, how do we establish what's true?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return to detection and trust throughout the week — and your project will include a guardrail against misuse.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3  |  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 harder questions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tools force choices about right and wrong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75304" cy="3108960"/>
          </a:xfrm>
          <a:prstGeom prst="roundRect">
            <a:avLst>
              <a:gd name="adj" fmla="val 2353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56032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responsible?
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AI causes harm — a biased decision, a crash, a defamatory fake — who is accountable? Builder, user, or the tool?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4306824" y="1737360"/>
            <a:ext cx="3575304" cy="3108960"/>
          </a:xfrm>
          <a:prstGeom prst="roundRect">
            <a:avLst>
              <a:gd name="adj" fmla="val 2353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196596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81144" y="256032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it refuse?
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a model help write malware? Impersonate a voice? The “trolley problem” for self-driving cars asks who a machine should protect.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8065008" y="1737360"/>
            <a:ext cx="3575304" cy="3108960"/>
          </a:xfrm>
          <a:prstGeom prst="roundRect">
            <a:avLst>
              <a:gd name="adj" fmla="val 2353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196596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39328" y="256032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Whose values?
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trained on the internet absorbs the internet's biases. Whose norms should it follow, across cultures and languages?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answers — but as future communicators, you'll help shape how society uses these tools. That starts with understanding them.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3  |  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Discuss, then vote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news you read online, what worries you most?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58400" y="45720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3FB984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0" y="4572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Zuvio poll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63040" y="1965960"/>
            <a:ext cx="9235440" cy="841248"/>
          </a:xfrm>
          <a:prstGeom prst="roundRect">
            <a:avLst>
              <a:gd name="adj" fmla="val 8696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91640" y="2157984"/>
            <a:ext cx="457200" cy="457200"/>
          </a:xfrm>
          <a:prstGeom prst="ellipse">
            <a:avLst/>
          </a:prstGeom>
          <a:solidFill>
            <a:srgbClr val="0B5CAD"/>
          </a:solidFill>
          <a:ln/>
        </p:spPr>
      </p:sp>
      <p:sp>
        <p:nvSpPr>
          <p:cNvPr id="8" name="Text 6"/>
          <p:cNvSpPr/>
          <p:nvPr/>
        </p:nvSpPr>
        <p:spPr>
          <a:xfrm>
            <a:off x="1691640" y="2157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377440" y="1965960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images or video of real events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1463040" y="2926080"/>
            <a:ext cx="9235440" cy="841248"/>
          </a:xfrm>
          <a:prstGeom prst="roundRect">
            <a:avLst>
              <a:gd name="adj" fmla="val 8696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91640" y="3118104"/>
            <a:ext cx="457200" cy="457200"/>
          </a:xfrm>
          <a:prstGeom prst="ellipse">
            <a:avLst/>
          </a:prstGeom>
          <a:solidFill>
            <a:srgbClr val="0B5CAD"/>
          </a:solidFill>
          <a:ln/>
        </p:spPr>
      </p:sp>
      <p:sp>
        <p:nvSpPr>
          <p:cNvPr id="12" name="Text 10"/>
          <p:cNvSpPr/>
          <p:nvPr/>
        </p:nvSpPr>
        <p:spPr>
          <a:xfrm>
            <a:off x="1691640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77440" y="2926080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AI-written articles with made-up facts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1463040" y="3886200"/>
            <a:ext cx="9235440" cy="841248"/>
          </a:xfrm>
          <a:prstGeom prst="roundRect">
            <a:avLst>
              <a:gd name="adj" fmla="val 8696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91640" y="4078224"/>
            <a:ext cx="457200" cy="457200"/>
          </a:xfrm>
          <a:prstGeom prst="ellipse">
            <a:avLst/>
          </a:prstGeom>
          <a:solidFill>
            <a:srgbClr val="0B5CAD"/>
          </a:solidFill>
          <a:ln/>
        </p:spPr>
      </p:sp>
      <p:sp>
        <p:nvSpPr>
          <p:cNvPr id="16" name="Text 14"/>
          <p:cNvSpPr/>
          <p:nvPr/>
        </p:nvSpPr>
        <p:spPr>
          <a:xfrm>
            <a:off x="169164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377440" y="3886200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knowing if a person online is real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1463040" y="4846320"/>
            <a:ext cx="9235440" cy="841248"/>
          </a:xfrm>
          <a:prstGeom prst="roundRect">
            <a:avLst>
              <a:gd name="adj" fmla="val 8696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91640" y="5038344"/>
            <a:ext cx="457200" cy="457200"/>
          </a:xfrm>
          <a:prstGeom prst="ellipse">
            <a:avLst/>
          </a:prstGeom>
          <a:solidFill>
            <a:srgbClr val="0B5CAD"/>
          </a:solidFill>
          <a:ln/>
        </p:spPr>
      </p:sp>
      <p:sp>
        <p:nvSpPr>
          <p:cNvPr id="20" name="Text 18"/>
          <p:cNvSpPr/>
          <p:nvPr/>
        </p:nvSpPr>
        <p:spPr>
          <a:xfrm>
            <a:off x="1691640" y="5038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377440" y="4846320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trust in everything — even real news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463040" y="5943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with your neighbor for 90 seconds first, then vote. We'll discuss the spread.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3  |  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Now: prompt engineering + pick your project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three-day project that you'll present on Day 6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75304" cy="3017520"/>
          </a:xfrm>
          <a:prstGeom prst="roundRect">
            <a:avLst>
              <a:gd name="adj" fmla="val 2424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542032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Prompt lab
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Colab; get a free OpenRouter key; try the five techniques and the “Who's on First” model comparison.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4306824" y="1737360"/>
            <a:ext cx="3575304" cy="3017520"/>
          </a:xfrm>
          <a:prstGeom prst="roundRect">
            <a:avLst>
              <a:gd name="adj" fmla="val 2424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196596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81144" y="2542032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Choose a topic
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team, pick your final-project topic — be creative; it can relate to your own field.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8065008" y="1737360"/>
            <a:ext cx="3575304" cy="3017520"/>
          </a:xfrm>
          <a:prstGeom prst="roundRect">
            <a:avLst>
              <a:gd name="adj" fmla="val 2424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196596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39328" y="2542032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Draft a prompt
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chatbot's system prompt using at least two techniques from today.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548640" y="4983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</a:t>
            </a:r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project topic and a first system prompt using at least two prompt-engineering techniques, plus a note on what changed when you improved the prompt.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3  |  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93F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can now say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77240" y="1600200"/>
            <a:ext cx="10607040" cy="914400"/>
          </a:xfrm>
          <a:prstGeom prst="roundRect">
            <a:avLst>
              <a:gd name="adj" fmla="val 7000"/>
            </a:avLst>
          </a:prstGeom>
          <a:solidFill>
            <a:srgbClr val="0B5CAD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645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→ numbers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4069080" y="16459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place words in a meaning space where math captures similarity.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2642616"/>
            <a:ext cx="10607040" cy="914400"/>
          </a:xfrm>
          <a:prstGeom prst="roundRect">
            <a:avLst>
              <a:gd name="adj" fmla="val 7000"/>
            </a:avLst>
          </a:prstGeom>
          <a:solidFill>
            <a:srgbClr val="0B5CAD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688336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 &amp; Transformers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069080" y="2688336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focus on the words that matter; this powers every modern LLM.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3685032"/>
            <a:ext cx="10607040" cy="914400"/>
          </a:xfrm>
          <a:prstGeom prst="roundRect">
            <a:avLst>
              <a:gd name="adj" fmla="val 7000"/>
            </a:avLst>
          </a:prstGeom>
          <a:solidFill>
            <a:srgbClr val="0B5CAD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73075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LLM is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069080" y="3730752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next-word predictor at massive scale — fluent, useful, and sometimes confidently wrong.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727448"/>
            <a:ext cx="10607040" cy="914400"/>
          </a:xfrm>
          <a:prstGeom prst="roundRect">
            <a:avLst>
              <a:gd name="adj" fmla="val 7000"/>
            </a:avLst>
          </a:prstGeom>
          <a:solidFill>
            <a:srgbClr val="0B5CAD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77316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&amp; responsibility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069080" y="4773168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creates and fabricates. Verifying and building trust is our job.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B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Tomorrow: AI at the frontier of science — AlphaGo, AlphaFold, and the 2024 Nobels — plus building your project's knowledge with RAG.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2026-07-21T16:42:26Z</dcterms:created>
  <dcterms:modified xsi:type="dcterms:W3CDTF">2026-07-21T16:42:26Z</dcterms:modified>
</cp:coreProperties>
</file>