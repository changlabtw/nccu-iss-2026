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CASP accuracy (GDT)</c:v>
                </c:pt>
              </c:strCache>
            </c:strRef>
          </c:tx>
          <c:spPr>
            <a:solidFill>
              <a:srgbClr val="9DB4C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A27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DB4C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DB4C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5CA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CASP11
2014</c:v>
                  </c:pt>
                  <c:pt idx="1">
                    <c:v>CASP12
2016</c:v>
                  </c:pt>
                  <c:pt idx="2">
                    <c:v>CASP13
2018</c:v>
                  </c:pt>
                  <c:pt idx="3">
                    <c:v>CASP14
2020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40</c:v>
                </c:pt>
                <c:pt idx="2">
                  <c:v>60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A27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7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5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3F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0B5CAD">
              <a:alpha val="45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0515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874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B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NCCU International Summer School 2026 · Course S3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77240" y="228600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at the Frontier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Science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777240" y="4160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From board games to the code of life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7724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B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23, 2026 · 09:10–12:00 · Jia-Ming Chang, Dept. of Computer Science, NCCU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changlabtw.github.io/nccu-iss-2026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Yesterday, and today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learned to steer an AI — today you'll see what AI is doing to science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4023360"/>
          </a:xfrm>
          <a:prstGeom prst="roundRect">
            <a:avLst>
              <a:gd name="adj" fmla="val 1818"/>
            </a:avLst>
          </a:prstGeom>
          <a:solidFill>
            <a:srgbClr val="EAF2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Yesterday you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Learned how language becomes numbers (embeddings).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Met attention and the Transformer.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Practiced the five prompt techniques.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29768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Chose your project topic and drafted a system prompt.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1463040"/>
            <a:ext cx="5468112" cy="4023360"/>
          </a:xfrm>
          <a:prstGeom prst="roundRect">
            <a:avLst>
              <a:gd name="adj" fmla="val 1818"/>
            </a:avLst>
          </a:prstGeom>
          <a:solidFill>
            <a:srgbClr val="093F76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46520" y="2103120"/>
            <a:ext cx="4983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AlphaGo  </a:t>
            </a:r>
            <a:pPr indent="0" marL="0">
              <a:buNone/>
            </a:pPr>
            <a:r>
              <a:rPr lang="en-US" sz="1250" dirty="0">
                <a:solidFill>
                  <a:srgbClr val="BB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how a machine mastered a game we thought was too human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46520" y="2852928"/>
            <a:ext cx="4983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  </a:t>
            </a:r>
            <a:pPr indent="0" marL="0">
              <a:buNone/>
            </a:pPr>
            <a:r>
              <a:rPr lang="en-US" sz="1250" dirty="0">
                <a:solidFill>
                  <a:srgbClr val="BB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50-year grand challenge in biology, solved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46520" y="3602736"/>
            <a:ext cx="4983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Nobel Prizes  </a:t>
            </a:r>
            <a:pPr indent="0" marL="0">
              <a:buNone/>
            </a:pPr>
            <a:r>
              <a:rPr lang="en-US" sz="1250" dirty="0">
                <a:solidFill>
                  <a:srgbClr val="BB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why 2024 was AI's year in science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46520" y="4352544"/>
            <a:ext cx="4983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genome  </a:t>
            </a:r>
            <a:pPr indent="0" marL="0">
              <a:buNone/>
            </a:pPr>
            <a:r>
              <a:rPr lang="en-US" sz="1250" dirty="0">
                <a:solidFill>
                  <a:srgbClr val="BB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AI reading the code of life — my own field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in the lab: give your project chatbot real knowledge with RAG.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4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did AI researchers care about games?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game is a laboratory: clear rules, clear winner, endless practice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75304" cy="2743200"/>
          </a:xfrm>
          <a:prstGeom prst="roundRect">
            <a:avLst>
              <a:gd name="adj" fmla="val 2667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56032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rules
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 can play by itself, millions of times, without a human supervising.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4306824" y="1737360"/>
            <a:ext cx="3575304" cy="2743200"/>
          </a:xfrm>
          <a:prstGeom prst="roundRect">
            <a:avLst>
              <a:gd name="adj" fmla="val 2667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196596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81144" y="256032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score
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or lose is unambiguous — so the machine always knows if it did well.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8065008" y="1737360"/>
            <a:ext cx="3575304" cy="2743200"/>
          </a:xfrm>
          <a:prstGeom prst="roundRect">
            <a:avLst>
              <a:gd name="adj" fmla="val 2667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196596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39328" y="256032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hard
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 and Go demand planning and intuition. Beating humans proves something real.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548640" y="4709160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EAF2FB"/>
          </a:solidFill>
          <a:ln/>
        </p:spPr>
      </p:sp>
      <p:sp>
        <p:nvSpPr>
          <p:cNvPr id="14" name="Text 9"/>
          <p:cNvSpPr/>
          <p:nvPr/>
        </p:nvSpPr>
        <p:spPr>
          <a:xfrm>
            <a:off x="868680" y="4864608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 fell in 1997 (Deep Blue). </a:t>
            </a:r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Go was different — and that difference is why AlphaGo mattered so much more.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4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Go defeated computers for 20 more years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are not close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Tic-tac-toe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377440" y="1938528"/>
            <a:ext cx="493776" cy="420624"/>
          </a:xfrm>
          <a:prstGeom prst="roundRect">
            <a:avLst>
              <a:gd name="adj" fmla="val 10870"/>
            </a:avLst>
          </a:prstGeom>
          <a:solidFill>
            <a:srgbClr val="9DB4C8"/>
          </a:solidFill>
          <a:ln/>
        </p:spPr>
      </p:sp>
      <p:sp>
        <p:nvSpPr>
          <p:cNvPr id="6" name="Text 4"/>
          <p:cNvSpPr/>
          <p:nvPr/>
        </p:nvSpPr>
        <p:spPr>
          <a:xfrm>
            <a:off x="3008376" y="1828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~10⁵ positions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377440" y="2807208"/>
            <a:ext cx="1975104" cy="420624"/>
          </a:xfrm>
          <a:prstGeom prst="roundRect">
            <a:avLst>
              <a:gd name="adj" fmla="val 10870"/>
            </a:avLst>
          </a:prstGeom>
          <a:solidFill>
            <a:srgbClr val="0B5CAD"/>
          </a:solidFill>
          <a:ln/>
        </p:spPr>
      </p:sp>
      <p:sp>
        <p:nvSpPr>
          <p:cNvPr id="9" name="Text 7"/>
          <p:cNvSpPr/>
          <p:nvPr/>
        </p:nvSpPr>
        <p:spPr>
          <a:xfrm>
            <a:off x="4489704" y="2697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~10⁴⁰ positions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377440" y="3675888"/>
            <a:ext cx="8229600" cy="420624"/>
          </a:xfrm>
          <a:prstGeom prst="roundRect">
            <a:avLst>
              <a:gd name="adj" fmla="val 10870"/>
            </a:avLst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356616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~10¹⁷⁰ positions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11091672" cy="1325880"/>
          </a:xfrm>
          <a:prstGeom prst="roundRect">
            <a:avLst>
              <a:gd name="adj" fmla="val 5517"/>
            </a:avLst>
          </a:prstGeom>
          <a:solidFill>
            <a:srgbClr val="093F7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7548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more legal Go positions than atoms in the observable universe. </a:t>
            </a:r>
            <a:pPr indent="0" marL="0">
              <a:buNone/>
            </a:pPr>
            <a:r>
              <a:rPr lang="en-US" sz="15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search your way to victory. Strong Go players talk about “feel” and “shape” — exactly the intuition we assumed machines could never have.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4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AlphaGo's answer: learn the intuition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neural networks, guiding a smart search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75304" cy="2834640"/>
          </a:xfrm>
          <a:prstGeom prst="roundRect">
            <a:avLst>
              <a:gd name="adj" fmla="val 2581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5146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network
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at a board and suggests: “these few moves are worth considering.” Prunes billions of options down to a handful.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4306824" y="1691640"/>
            <a:ext cx="3575304" cy="2834640"/>
          </a:xfrm>
          <a:prstGeom prst="roundRect">
            <a:avLst>
              <a:gd name="adj" fmla="val 2581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192024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81144" y="25146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network
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at a board and estimates: “how likely am I to win from here?” No need to play to the end.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8065008" y="1691640"/>
            <a:ext cx="3575304" cy="2834640"/>
          </a:xfrm>
          <a:prstGeom prst="roundRect">
            <a:avLst>
              <a:gd name="adj" fmla="val 2581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192024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39328" y="25146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search
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the promising moves the networks suggest — the Monte Carlo tree search you met on Day 1.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548640" y="48006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met learning. </a:t>
            </a:r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networks supplied the human-like intuition; the search supplied the machine-like calculation. Neither alone was enough.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4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Seoul, March 2016: AlphaGo vs. Lee Sedol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five, watched by hundreds of millions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3291840"/>
          </a:xfrm>
          <a:prstGeom prst="roundRect">
            <a:avLst>
              <a:gd name="adj" fmla="val 2222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37 (game 2)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AlphaGo played a move no human would choose. Commentators thought it was a mistake. </a:t>
            </a:r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won the game — and is now studied as a genuinely creative move. A machine taught humans something new about a 2,500-year-old game.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645920"/>
            <a:ext cx="5468112" cy="3291840"/>
          </a:xfrm>
          <a:prstGeom prst="roundRect">
            <a:avLst>
              <a:gd name="adj" fmla="val 2222"/>
            </a:avLst>
          </a:prstGeom>
          <a:solidFill>
            <a:srgbClr val="EAF2FB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78 (game 4) — 神之一手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228600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Sedol's reply: the “divine move.” </a:t>
            </a:r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brilliant wedge that AlphaGo had judged nearly impossible — and it broke the machine's evaluation. Lee won game 4.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score: AlphaGo 4, Lee Sedol 1. That single human win is now historic.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166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Watch: “AlphaGo” (2017), the full documentary — free online, and genuinely moving.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4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2017: the end of the contest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year later, no human could compete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 2017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514600" y="1783080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Wuzhen, China
</a:t>
            </a:r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AlphaGo beats Ke Jie — then the world's top-ranked player — 3–0. He called it “perfect, flawless.”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0632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 2017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514600" y="3063240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
</a:t>
            </a:r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DeepMind retires AlphaGo from competition. There was nothing left to prove.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EAF2F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3434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2019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14600" y="4343400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Sedol retires
</a:t>
            </a:r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“With the debut of AI, I've realised I'm not at the top even if I become number one.”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93F7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596128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human game didn't die — it changed. </a:t>
            </a:r>
            <a:pPr indent="0" marL="0">
              <a:buNone/>
            </a:pPr>
            <a:r>
              <a:rPr lang="en-US" sz="14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players now train with AI, and opening theory has been rewritten. A machine became a teacher.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4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engine underneath: reinforcement learning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from consequences, not from labelled examples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0" y="201168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1488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
</a:t>
            </a:r>
            <a:pPr algn="ctr"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127248" y="24231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0" y="201168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21488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
</a:t>
            </a:r>
            <a:pPr algn="ctr"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a move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870448" y="24231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0" y="201168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1488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
</a:t>
            </a:r>
            <a:pPr algn="ctr"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 responds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13648" y="24231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0" y="201168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EAF2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21488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
</a:t>
            </a:r>
            <a:pPr algn="ctr"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= good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011680" y="3200400"/>
            <a:ext cx="8229600" cy="502920"/>
          </a:xfrm>
          <a:prstGeom prst="line">
            <a:avLst/>
          </a:prstGeom>
          <a:noFill/>
          <a:ln w="19050">
            <a:solidFill>
              <a:srgbClr val="9DB4C8"/>
            </a:solidFill>
            <a:prstDash val="solid"/>
            <a:headEnd type="triangle"/>
          </a:ln>
        </p:spPr>
      </p:sp>
      <p:sp>
        <p:nvSpPr>
          <p:cNvPr id="16" name="Text 14"/>
          <p:cNvSpPr/>
          <p:nvPr/>
        </p:nvSpPr>
        <p:spPr>
          <a:xfrm>
            <a:off x="3657600" y="3703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strategy, repeat millions of times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25196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EAF2F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407408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from Days 1–3. </a:t>
            </a:r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There, we showed the network the right answers (this is a shirt; this word follows). In reinforcement learning nobody says which move was right — the AI only learns whether it eventually won, and works backwards from there. It's how you'd learn a game with no teacher: play, lose, adjust.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4  |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2017: AlphaGo Zero — throw away the human data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from a blank slate (tabula rasa)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3108960"/>
          </a:xfrm>
          <a:prstGeom prst="roundRect">
            <a:avLst>
              <a:gd name="adj" fmla="val 2353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AlphaGo (2016)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first from a database of human expert games, then improved by playing itself.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468112" cy="3108960"/>
          </a:xfrm>
          <a:prstGeom prst="roundRect">
            <a:avLst>
              <a:gd name="adj" fmla="val 2353"/>
            </a:avLst>
          </a:prstGeom>
          <a:solidFill>
            <a:srgbClr val="093F76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AlphaGo Zero (2017)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6520" y="233172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only the rules. No human games at all. </a:t>
            </a:r>
            <a:pPr indent="0" marL="0">
              <a:buNone/>
            </a:pPr>
            <a:r>
              <a:rPr lang="en-US" sz="1400" dirty="0">
                <a:solidFill>
                  <a:srgbClr val="D8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played itself from random moves, and within days surpassed every earlier version — beating the Lee Sedol-era AlphaGo 100 games to 0.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8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rediscovered centuries of human Go theory on its own, then went beyond it.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 that echoes through the rest of today: </a:t>
            </a:r>
            <a:pPr indent="0" marL="0">
              <a:buNone/>
            </a:pPr>
            <a:r>
              <a:rPr lang="en-US" sz="15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human knowledge is a ceiling, not a floor.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4  |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idea, many problems: the Alpha family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were never the point — they were the training ground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700784" cy="2286000"/>
          </a:xfrm>
          <a:prstGeom prst="roundRect">
            <a:avLst>
              <a:gd name="adj" fmla="val 3763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1031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AlphaGo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21792" y="29718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12848" y="2880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87168" y="1920240"/>
            <a:ext cx="1700784" cy="2286000"/>
          </a:xfrm>
          <a:prstGeom prst="roundRect">
            <a:avLst>
              <a:gd name="adj" fmla="val 3763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21031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AlphaZero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560320" y="29718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chess, shogi, Go — one algorithm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51376" y="2880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25696" y="1920240"/>
            <a:ext cx="1700784" cy="2286000"/>
          </a:xfrm>
          <a:prstGeom prst="roundRect">
            <a:avLst>
              <a:gd name="adj" fmla="val 3763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8848" y="21031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MuZero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2019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498848" y="29718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the rules too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89904" y="2880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64224" y="1920240"/>
            <a:ext cx="1700784" cy="2286000"/>
          </a:xfrm>
          <a:prstGeom prst="roundRect">
            <a:avLst>
              <a:gd name="adj" fmla="val 3763"/>
            </a:avLst>
          </a:prstGeom>
          <a:solidFill>
            <a:srgbClr val="EAF2FB"/>
          </a:solidFill>
          <a:ln/>
        </p:spPr>
      </p:sp>
      <p:sp>
        <p:nvSpPr>
          <p:cNvPr id="17" name="Text 15"/>
          <p:cNvSpPr/>
          <p:nvPr/>
        </p:nvSpPr>
        <p:spPr>
          <a:xfrm>
            <a:off x="6437376" y="21031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AlphaFold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37376" y="29718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structure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028432" y="2880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302752" y="1920240"/>
            <a:ext cx="1700784" cy="2286000"/>
          </a:xfrm>
          <a:prstGeom prst="roundRect">
            <a:avLst>
              <a:gd name="adj" fmla="val 3763"/>
            </a:avLst>
          </a:prstGeom>
          <a:solidFill>
            <a:srgbClr val="EAF2FB"/>
          </a:solidFill>
          <a:ln/>
        </p:spPr>
      </p:sp>
      <p:sp>
        <p:nvSpPr>
          <p:cNvPr id="21" name="Text 19"/>
          <p:cNvSpPr/>
          <p:nvPr/>
        </p:nvSpPr>
        <p:spPr>
          <a:xfrm>
            <a:off x="8375904" y="21031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AlphaCode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75904" y="29718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programming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966960" y="2880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241280" y="1920240"/>
            <a:ext cx="1700784" cy="2286000"/>
          </a:xfrm>
          <a:prstGeom prst="roundRect">
            <a:avLst>
              <a:gd name="adj" fmla="val 3763"/>
            </a:avLst>
          </a:prstGeom>
          <a:solidFill>
            <a:srgbClr val="EAF2FB"/>
          </a:solidFill>
          <a:ln/>
        </p:spPr>
      </p:sp>
      <p:sp>
        <p:nvSpPr>
          <p:cNvPr id="25" name="Text 23"/>
          <p:cNvSpPr/>
          <p:nvPr/>
        </p:nvSpPr>
        <p:spPr>
          <a:xfrm>
            <a:off x="10314432" y="21031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AlphaGenome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0314432" y="29718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genome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4617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shift at 2020: </a:t>
            </a:r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games to real science. The same core recipe — deep networks plus search plus self-improvement — pointed at problems that actually matter. That's where we go next.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4  |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poll: what does a protein do?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biology background needed — just guess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58400" y="45720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3FB984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0" y="4572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Zuvio poll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63040" y="1965960"/>
            <a:ext cx="9235440" cy="841248"/>
          </a:xfrm>
          <a:prstGeom prst="roundRect">
            <a:avLst>
              <a:gd name="adj" fmla="val 8696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91640" y="2157984"/>
            <a:ext cx="457200" cy="457200"/>
          </a:xfrm>
          <a:prstGeom prst="ellipse">
            <a:avLst/>
          </a:prstGeom>
          <a:solidFill>
            <a:srgbClr val="0B5CAD"/>
          </a:solidFill>
          <a:ln/>
        </p:spPr>
      </p:sp>
      <p:sp>
        <p:nvSpPr>
          <p:cNvPr id="8" name="Text 6"/>
          <p:cNvSpPr/>
          <p:nvPr/>
        </p:nvSpPr>
        <p:spPr>
          <a:xfrm>
            <a:off x="1691640" y="2157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377440" y="1965960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only what you eat to build muscle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1463040" y="2926080"/>
            <a:ext cx="9235440" cy="841248"/>
          </a:xfrm>
          <a:prstGeom prst="roundRect">
            <a:avLst>
              <a:gd name="adj" fmla="val 8696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91640" y="3118104"/>
            <a:ext cx="457200" cy="457200"/>
          </a:xfrm>
          <a:prstGeom prst="ellipse">
            <a:avLst/>
          </a:prstGeom>
          <a:solidFill>
            <a:srgbClr val="0B5CAD"/>
          </a:solidFill>
          <a:ln/>
        </p:spPr>
      </p:sp>
      <p:sp>
        <p:nvSpPr>
          <p:cNvPr id="12" name="Text 10"/>
          <p:cNvSpPr/>
          <p:nvPr/>
        </p:nvSpPr>
        <p:spPr>
          <a:xfrm>
            <a:off x="1691640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77440" y="2926080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molecular machinery that does nearly everything in a cell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1463040" y="3886200"/>
            <a:ext cx="9235440" cy="841248"/>
          </a:xfrm>
          <a:prstGeom prst="roundRect">
            <a:avLst>
              <a:gd name="adj" fmla="val 8696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91640" y="4078224"/>
            <a:ext cx="457200" cy="457200"/>
          </a:xfrm>
          <a:prstGeom prst="ellipse">
            <a:avLst/>
          </a:prstGeom>
          <a:solidFill>
            <a:srgbClr val="0B5CAD"/>
          </a:solidFill>
          <a:ln/>
        </p:spPr>
      </p:sp>
      <p:sp>
        <p:nvSpPr>
          <p:cNvPr id="16" name="Text 14"/>
          <p:cNvSpPr/>
          <p:nvPr/>
        </p:nvSpPr>
        <p:spPr>
          <a:xfrm>
            <a:off x="1691640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377440" y="3886200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another name for DNA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1463040" y="4846320"/>
            <a:ext cx="9235440" cy="841248"/>
          </a:xfrm>
          <a:prstGeom prst="roundRect">
            <a:avLst>
              <a:gd name="adj" fmla="val 8696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91640" y="5038344"/>
            <a:ext cx="457200" cy="457200"/>
          </a:xfrm>
          <a:prstGeom prst="ellipse">
            <a:avLst/>
          </a:prstGeom>
          <a:solidFill>
            <a:srgbClr val="0B5CAD"/>
          </a:solidFill>
          <a:ln/>
        </p:spPr>
      </p:sp>
      <p:sp>
        <p:nvSpPr>
          <p:cNvPr id="20" name="Text 18"/>
          <p:cNvSpPr/>
          <p:nvPr/>
        </p:nvSpPr>
        <p:spPr>
          <a:xfrm>
            <a:off x="1691640" y="5038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377440" y="4846320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type of vitamin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463040" y="5943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(Answer: B. Proteins are the workers, not the blueprint — next slide.)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4  |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Proteins: the machines that run life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is the instruction manual. Proteins do the work.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protein starts as a chain of amino acids…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457200" cy="457200"/>
          </a:xfrm>
          <a:prstGeom prst="ellipse">
            <a:avLst/>
          </a:prstGeom>
          <a:solidFill>
            <a:srgbClr val="0B5CA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52728" y="2011680"/>
            <a:ext cx="457200" cy="457200"/>
          </a:xfrm>
          <a:prstGeom prst="ellipse">
            <a:avLst/>
          </a:prstGeom>
          <a:solidFill>
            <a:srgbClr val="0B5CA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5272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19656" y="2011680"/>
            <a:ext cx="457200" cy="457200"/>
          </a:xfrm>
          <a:prstGeom prst="ellipse">
            <a:avLst/>
          </a:prstGeom>
          <a:solidFill>
            <a:srgbClr val="0B5CA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19656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86584" y="2011680"/>
            <a:ext cx="457200" cy="457200"/>
          </a:xfrm>
          <a:prstGeom prst="ellipse">
            <a:avLst/>
          </a:prstGeom>
          <a:solidFill>
            <a:srgbClr val="0B5CA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86584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53512" y="2011680"/>
            <a:ext cx="457200" cy="457200"/>
          </a:xfrm>
          <a:prstGeom prst="ellipse">
            <a:avLst/>
          </a:prstGeom>
          <a:solidFill>
            <a:srgbClr val="0B5CA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53512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20440" y="2011680"/>
            <a:ext cx="457200" cy="457200"/>
          </a:xfrm>
          <a:prstGeom prst="ellipse">
            <a:avLst/>
          </a:prstGeom>
          <a:solidFill>
            <a:srgbClr val="0B5CA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087368" y="2011680"/>
            <a:ext cx="457200" cy="457200"/>
          </a:xfrm>
          <a:prstGeom prst="ellipse">
            <a:avLst/>
          </a:prstGeom>
          <a:solidFill>
            <a:srgbClr val="0B5CA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8736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54296" y="2011680"/>
            <a:ext cx="457200" cy="457200"/>
          </a:xfrm>
          <a:prstGeom prst="ellipse">
            <a:avLst/>
          </a:prstGeom>
          <a:solidFill>
            <a:srgbClr val="0B5CA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54296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2788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…then folds into a precise 3-D shape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 flipV="1">
            <a:off x="914400" y="3383280"/>
            <a:ext cx="640080" cy="457200"/>
          </a:xfrm>
          <a:prstGeom prst="line">
            <a:avLst/>
          </a:prstGeom>
          <a:noFill/>
          <a:ln w="44450">
            <a:solidFill>
              <a:srgbClr val="1F7A8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54480" y="3383280"/>
            <a:ext cx="640080" cy="640080"/>
          </a:xfrm>
          <a:prstGeom prst="line">
            <a:avLst/>
          </a:prstGeom>
          <a:noFill/>
          <a:ln w="44450">
            <a:solidFill>
              <a:srgbClr val="1F7A8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2194560" y="3291840"/>
            <a:ext cx="640080" cy="731520"/>
          </a:xfrm>
          <a:prstGeom prst="line">
            <a:avLst/>
          </a:prstGeom>
          <a:noFill/>
          <a:ln w="44450">
            <a:solidFill>
              <a:srgbClr val="1F7A8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34640" y="3291840"/>
            <a:ext cx="640080" cy="640080"/>
          </a:xfrm>
          <a:prstGeom prst="line">
            <a:avLst/>
          </a:prstGeom>
          <a:noFill/>
          <a:ln w="44450">
            <a:solidFill>
              <a:srgbClr val="1F7A8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3474720" y="3474720"/>
            <a:ext cx="640080" cy="457200"/>
          </a:xfrm>
          <a:prstGeom prst="line">
            <a:avLst/>
          </a:prstGeom>
          <a:noFill/>
          <a:ln w="44450">
            <a:solidFill>
              <a:srgbClr val="1F7A8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0" y="3474720"/>
            <a:ext cx="640080" cy="640080"/>
          </a:xfrm>
          <a:prstGeom prst="line">
            <a:avLst/>
          </a:prstGeom>
          <a:noFill/>
          <a:ln w="44450">
            <a:solidFill>
              <a:srgbClr val="1F7A8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35040" y="1600200"/>
            <a:ext cx="5605272" cy="3291840"/>
          </a:xfrm>
          <a:prstGeom prst="roundRect">
            <a:avLst>
              <a:gd name="adj" fmla="val 2222"/>
            </a:avLst>
          </a:prstGeom>
          <a:solidFill>
            <a:srgbClr val="EAF2FB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1810512"/>
            <a:ext cx="5074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is everything.
</a:t>
            </a:r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protein's 3-D shape determines what it can do — which molecules it grabs, which reactions it speeds up, which drug can block it.
</a:t>
            </a:r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Muscle, digestion, immunity, oxygen transport, thought itself: all proteins doing their jobs because of how they fold.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So: if you know the shape, you understand the function. If you can't see the shape, you're guessing.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4  |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50-year grand challenge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is easy to read. Shape was brutally hard to find.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EAF2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10512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1972, Christian Anfinsen's Nobel lecture: </a:t>
            </a:r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protein's amino-acid sequence should, in principle, fully determine its 3-D shape. In theory the answer is already in the sequence. In practice, nobody could compute 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3575304" cy="2468880"/>
          </a:xfrm>
          <a:prstGeom prst="roundRect">
            <a:avLst>
              <a:gd name="adj" fmla="val 2963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2918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8862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
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 crystallography: years of work and serious money to solve one structure.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4306824" y="3063240"/>
            <a:ext cx="3575304" cy="2468880"/>
          </a:xfrm>
          <a:prstGeom prst="roundRect">
            <a:avLst>
              <a:gd name="adj" fmla="val 2963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32918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81144" y="38862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
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known sequences, but only ~200,000 solved structures. A vast blind spot.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8065008" y="3063240"/>
            <a:ext cx="3575304" cy="2468880"/>
          </a:xfrm>
          <a:prstGeom prst="roundRect">
            <a:avLst>
              <a:gd name="adj" fmla="val 2963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32918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39328" y="38862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contest
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CASP, held every two years since 1994: predict structures kept secret, then compare to the lab result.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25 years CASP scores crept up slowly. Then something happened.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4  |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CASP14, 2020: the problem falls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AlphaFold2's accuracy was comparable to laboratory experiments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5836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600200"/>
            <a:ext cx="4233672" cy="3657600"/>
          </a:xfrm>
          <a:prstGeom prst="roundRect">
            <a:avLst>
              <a:gd name="adj" fmla="val 2000"/>
            </a:avLst>
          </a:prstGeom>
          <a:solidFill>
            <a:srgbClr val="EAF2FB"/>
          </a:solidFill>
          <a:ln/>
        </p:spPr>
      </p:sp>
      <p:sp>
        <p:nvSpPr>
          <p:cNvPr id="6" name="Text 3"/>
          <p:cNvSpPr/>
          <p:nvPr/>
        </p:nvSpPr>
        <p:spPr>
          <a:xfrm>
            <a:off x="7680960" y="1828800"/>
            <a:ext cx="3703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above ~90 GDT is considered roughly as good as an experiment.
</a:t>
            </a:r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AlphaFold2 hit a median of 92.4.
</a:t>
            </a:r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CASP organisers said the 50-year-old problem was, in essence, solved. Structural biologists watching the results describe it as one of the most stunning moments of their careers.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landmark paper: Jumper et al. (2021), “Highly accurate protein structure prediction with AlphaFold,” Nature 596.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4  |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AlphaFold works, in plain terms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left clues — the network learned to read them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75304" cy="2834640"/>
          </a:xfrm>
          <a:prstGeom prst="roundRect">
            <a:avLst>
              <a:gd name="adj" fmla="val 2581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5146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family
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same protein across many species. Positions that always change together are probably touching in 3-D.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4306824" y="1691640"/>
            <a:ext cx="3575304" cy="2834640"/>
          </a:xfrm>
          <a:prstGeom prst="roundRect">
            <a:avLst>
              <a:gd name="adj" fmla="val 2581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192024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81144" y="25146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with attention
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attention idea from yesterday, applied to amino acids instead of words — which parts relate to which.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8065008" y="1691640"/>
            <a:ext cx="3575304" cy="2834640"/>
          </a:xfrm>
          <a:prstGeom prst="roundRect">
            <a:avLst>
              <a:gd name="adj" fmla="val 2581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192024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39328" y="25146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refine
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a 3-D structure, then repeatedly refine it, feeding the result back in until it settles.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548640" y="4709160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868680" y="4864608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detail worth telling: </a:t>
            </a:r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hit a dead end after CASP13. It was a relatively new member, John Jumper, whose ideas broke the deadlock — and who shared the Nobel four years later.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4  |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happened next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200,000 structures to essentially all of them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093F7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10512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DeepMind released the AlphaFold Protein Structure Database — over 200 million predicted structures, free to everyone. </a:t>
            </a:r>
            <a:pPr indent="0" marL="0">
              <a:buNone/>
            </a:pPr>
            <a:r>
              <a:rPr lang="en-US" sz="15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every protein known to science, released in a single act of open publication.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5394960" cy="1097280"/>
          </a:xfrm>
          <a:prstGeom prst="roundRect">
            <a:avLst>
              <a:gd name="adj" fmla="val 5833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47472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329184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discovery  </a:t>
            </a:r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 target's shape before designing a molecule to fit it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53912" y="3200400"/>
            <a:ext cx="5394960" cy="1097280"/>
          </a:xfrm>
          <a:prstGeom prst="roundRect">
            <a:avLst>
              <a:gd name="adj" fmla="val 5833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347472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31152" y="329184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Neglected diseases  </a:t>
            </a:r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on malaria, Chagas, leishmaniasis that couldn't attract lab funding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4434840"/>
            <a:ext cx="5394960" cy="1097280"/>
          </a:xfrm>
          <a:prstGeom prst="roundRect">
            <a:avLst>
              <a:gd name="adj" fmla="val 5833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70916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452628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Enzymes for plastic  </a:t>
            </a:r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proteins that break down plastic waste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153912" y="4434840"/>
            <a:ext cx="5394960" cy="1097280"/>
          </a:xfrm>
          <a:prstGeom prst="roundRect">
            <a:avLst>
              <a:gd name="adj" fmla="val 5833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4709160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31152" y="452628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biology  </a:t>
            </a:r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researchers now start from a structure, not a guess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AlphaFold3 (2024) went further: predicting how proteins interact with DNA, RNA, and drug molecules together.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4  | 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other half: designing proteins from scratch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Baker — not just reading nature's proteins, writing new ones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EAF2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10512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asks: </a:t>
            </a:r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this sequence, what shape does it fold into? </a:t>
            </a:r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asks the reverse: </a:t>
            </a:r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a molecule with this shape and this job — what sequence would build it?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3575304" cy="2468880"/>
          </a:xfrm>
          <a:prstGeom prst="roundRect">
            <a:avLst>
              <a:gd name="adj" fmla="val 2963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2918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8862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Brand-new molecules
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Baker's lab creates proteins that have never existed in nature — built to order for a purpose.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4306824" y="3063240"/>
            <a:ext cx="3575304" cy="2468880"/>
          </a:xfrm>
          <a:prstGeom prst="roundRect">
            <a:avLst>
              <a:gd name="adj" fmla="val 2963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32918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81144" y="38862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applications
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 components, sensors that detect toxins, enzymes that break down pollutants, new medicines.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8065008" y="3063240"/>
            <a:ext cx="3575304" cy="2468880"/>
          </a:xfrm>
          <a:prstGeom prst="roundRect">
            <a:avLst>
              <a:gd name="adj" fmla="val 2963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32918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39328" y="38862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AI-accelerated
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design tools generate candidate proteins the way image models generate pictures — then test them in the lab.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the 2024 Chemistry prize was split: one half for reading the language of proteins, one half for writing in it.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4  | 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93F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94360"/>
            <a:ext cx="6858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3716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Nobel Prize in Chemistry 2024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777240" y="20574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Proteins: reading them, and writing them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77240" y="274320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0B5CAD"/>
          </a:solidFill>
          <a:ln/>
        </p:spPr>
      </p:sp>
      <p:sp>
        <p:nvSpPr>
          <p:cNvPr id="6" name="Text 3"/>
          <p:cNvSpPr/>
          <p:nvPr/>
        </p:nvSpPr>
        <p:spPr>
          <a:xfrm>
            <a:off x="1051560" y="292608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David Baker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051560" y="336499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half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51560" y="374904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computational protein design — building entirely new proteins that never existed in nature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274320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0B5CAD"/>
          </a:solidFill>
          <a:ln/>
        </p:spPr>
      </p:sp>
      <p:sp>
        <p:nvSpPr>
          <p:cNvPr id="10" name="Text 7"/>
          <p:cNvSpPr/>
          <p:nvPr/>
        </p:nvSpPr>
        <p:spPr>
          <a:xfrm>
            <a:off x="6537960" y="292608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Hassabis &amp; Jumper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537960" y="336499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half, jointly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537960" y="374904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protein structure prediction — AlphaFold, solving the 50-year folding problem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7240" y="52578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pairing: Baker learned to design proteins; AlphaFold learned to predict them. Together, a new kind of biology.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2024: AI's week in Stockholm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prizes, three days apart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3200400"/>
          </a:xfrm>
          <a:prstGeom prst="roundRect">
            <a:avLst>
              <a:gd name="adj" fmla="val 2286"/>
            </a:avLst>
          </a:prstGeom>
          <a:solidFill>
            <a:srgbClr val="EAF2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Physics — 8 October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Hopfield &amp; Hinton, </a:t>
            </a:r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foundational discoveries that made machine learning with neural networks possible.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met them on Day 1: the energy landscape, and backpropagation.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468112" cy="3200400"/>
          </a:xfrm>
          <a:prstGeom prst="roundRect">
            <a:avLst>
              <a:gd name="adj" fmla="val 2286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Chemistry — 9 October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233172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Baker, Hassabis &amp; Jumper, </a:t>
            </a:r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designing and predicting protein structures.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built by the Physics laureates made the Chemistry prize possible. One prize built the machinery; the other used it.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120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we say AI is now infrastructure for science. </a:t>
            </a:r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subject of its own — a tool that reshapes every other subject, including yours.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4  |  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a problem suitable for AI?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Hassabis's criteria, from his Nobel lecture — useful for your own field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801368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massive search space
</a:t>
            </a:r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possibilities to try one by one — like Go positions, or the ways a protein can fold.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EAF2F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3081528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objective
</a:t>
            </a:r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measure whether an answer is good. Without that, a machine has nothing to optimise.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526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4361688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Lots of data, or a simulator
</a:t>
            </a:r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abundant existing examples, or a way to generate practice attempts cheaply.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48640" y="553212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093F7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6235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on your own field: </a:t>
            </a:r>
            <a:pPr indent="0" marL="0">
              <a:buNone/>
            </a:pPr>
            <a:r>
              <a:rPr lang="en-US" sz="14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problems in communication, media, or your discipline fit all three?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4  |  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own field: reading the genome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is a language — so language models can learn 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EAF2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genome: 3 billion letters (A, C, G, T). </a:t>
            </a:r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read all of it cheaply now. The hard part is understanding what it says — especially the ~98% that doesn't code for proteins.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280160" y="3063240"/>
            <a:ext cx="548640" cy="640080"/>
          </a:xfrm>
          <a:prstGeom prst="roundRect">
            <a:avLst>
              <a:gd name="adj" fmla="val 10000"/>
            </a:avLst>
          </a:prstGeom>
          <a:solidFill>
            <a:srgbClr val="0B5CAD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3063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901952" y="3063240"/>
            <a:ext cx="548640" cy="640080"/>
          </a:xfrm>
          <a:prstGeom prst="roundRect">
            <a:avLst>
              <a:gd name="adj" fmla="val 10000"/>
            </a:avLst>
          </a:prstGeom>
          <a:solidFill>
            <a:srgbClr val="1F7A8C"/>
          </a:solidFill>
          <a:ln/>
        </p:spPr>
      </p:sp>
      <p:sp>
        <p:nvSpPr>
          <p:cNvPr id="9" name="Text 7"/>
          <p:cNvSpPr/>
          <p:nvPr/>
        </p:nvSpPr>
        <p:spPr>
          <a:xfrm>
            <a:off x="1901952" y="3063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523744" y="3063240"/>
            <a:ext cx="548640" cy="640080"/>
          </a:xfrm>
          <a:prstGeom prst="roundRect">
            <a:avLst>
              <a:gd name="adj" fmla="val 10000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2523744" y="3063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145536" y="3063240"/>
            <a:ext cx="548640" cy="640080"/>
          </a:xfrm>
          <a:prstGeom prst="roundRect">
            <a:avLst>
              <a:gd name="adj" fmla="val 10000"/>
            </a:avLst>
          </a:prstGeom>
          <a:solidFill>
            <a:srgbClr val="2E7D5B"/>
          </a:solidFill>
          <a:ln/>
        </p:spPr>
      </p:sp>
      <p:sp>
        <p:nvSpPr>
          <p:cNvPr id="13" name="Text 11"/>
          <p:cNvSpPr/>
          <p:nvPr/>
        </p:nvSpPr>
        <p:spPr>
          <a:xfrm>
            <a:off x="3145536" y="3063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767328" y="3063240"/>
            <a:ext cx="548640" cy="640080"/>
          </a:xfrm>
          <a:prstGeom prst="roundRect">
            <a:avLst>
              <a:gd name="adj" fmla="val 10000"/>
            </a:avLst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3767328" y="3063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89120" y="3063240"/>
            <a:ext cx="548640" cy="640080"/>
          </a:xfrm>
          <a:prstGeom prst="roundRect">
            <a:avLst>
              <a:gd name="adj" fmla="val 10000"/>
            </a:avLst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3063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10912" y="3063240"/>
            <a:ext cx="548640" cy="640080"/>
          </a:xfrm>
          <a:prstGeom prst="roundRect">
            <a:avLst>
              <a:gd name="adj" fmla="val 10000"/>
            </a:avLst>
          </a:prstGeom>
          <a:solidFill>
            <a:srgbClr val="1F7A8C"/>
          </a:solidFill>
          <a:ln/>
        </p:spPr>
      </p:sp>
      <p:sp>
        <p:nvSpPr>
          <p:cNvPr id="19" name="Text 17"/>
          <p:cNvSpPr/>
          <p:nvPr/>
        </p:nvSpPr>
        <p:spPr>
          <a:xfrm>
            <a:off x="5010912" y="3063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632704" y="3063240"/>
            <a:ext cx="548640" cy="640080"/>
          </a:xfrm>
          <a:prstGeom prst="roundRect">
            <a:avLst>
              <a:gd name="adj" fmla="val 10000"/>
            </a:avLst>
          </a:prstGeom>
          <a:solidFill>
            <a:srgbClr val="0B5CAD"/>
          </a:solidFill>
          <a:ln/>
        </p:spPr>
      </p:sp>
      <p:sp>
        <p:nvSpPr>
          <p:cNvPr id="21" name="Text 19"/>
          <p:cNvSpPr/>
          <p:nvPr/>
        </p:nvSpPr>
        <p:spPr>
          <a:xfrm>
            <a:off x="5632704" y="3063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54496" y="3063240"/>
            <a:ext cx="548640" cy="640080"/>
          </a:xfrm>
          <a:prstGeom prst="roundRect">
            <a:avLst>
              <a:gd name="adj" fmla="val 10000"/>
            </a:avLst>
          </a:prstGeom>
          <a:solidFill>
            <a:srgbClr val="0B5CAD"/>
          </a:solidFill>
          <a:ln/>
        </p:spPr>
      </p:sp>
      <p:sp>
        <p:nvSpPr>
          <p:cNvPr id="23" name="Text 21"/>
          <p:cNvSpPr/>
          <p:nvPr/>
        </p:nvSpPr>
        <p:spPr>
          <a:xfrm>
            <a:off x="6254496" y="3063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876288" y="3063240"/>
            <a:ext cx="548640" cy="640080"/>
          </a:xfrm>
          <a:prstGeom prst="roundRect">
            <a:avLst>
              <a:gd name="adj" fmla="val 10000"/>
            </a:avLst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876288" y="3063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498080" y="3063240"/>
            <a:ext cx="548640" cy="640080"/>
          </a:xfrm>
          <a:prstGeom prst="roundRect">
            <a:avLst>
              <a:gd name="adj" fmla="val 10000"/>
            </a:avLst>
          </a:prstGeom>
          <a:solidFill>
            <a:srgbClr val="1F7A8C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0" y="3063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119872" y="3063240"/>
            <a:ext cx="548640" cy="640080"/>
          </a:xfrm>
          <a:prstGeom prst="roundRect">
            <a:avLst>
              <a:gd name="adj" fmla="val 10000"/>
            </a:avLst>
          </a:prstGeom>
          <a:solidFill>
            <a:srgbClr val="E8A33D"/>
          </a:solidFill>
          <a:ln/>
        </p:spPr>
      </p:sp>
      <p:sp>
        <p:nvSpPr>
          <p:cNvPr id="29" name="Text 27"/>
          <p:cNvSpPr/>
          <p:nvPr/>
        </p:nvSpPr>
        <p:spPr>
          <a:xfrm>
            <a:off x="8119872" y="3063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741664" y="3063240"/>
            <a:ext cx="548640" cy="640080"/>
          </a:xfrm>
          <a:prstGeom prst="roundRect">
            <a:avLst>
              <a:gd name="adj" fmla="val 10000"/>
            </a:avLst>
          </a:prstGeom>
          <a:solidFill>
            <a:srgbClr val="E8A33D"/>
          </a:solidFill>
          <a:ln/>
        </p:spPr>
      </p:sp>
      <p:sp>
        <p:nvSpPr>
          <p:cNvPr id="31" name="Text 29"/>
          <p:cNvSpPr/>
          <p:nvPr/>
        </p:nvSpPr>
        <p:spPr>
          <a:xfrm>
            <a:off x="8741664" y="3063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363456" y="3063240"/>
            <a:ext cx="548640" cy="640080"/>
          </a:xfrm>
          <a:prstGeom prst="roundRect">
            <a:avLst>
              <a:gd name="adj" fmla="val 10000"/>
            </a:avLst>
          </a:prstGeom>
          <a:solidFill>
            <a:srgbClr val="0B5CAD"/>
          </a:solidFill>
          <a:ln/>
        </p:spPr>
      </p:sp>
      <p:sp>
        <p:nvSpPr>
          <p:cNvPr id="33" name="Text 31"/>
          <p:cNvSpPr/>
          <p:nvPr/>
        </p:nvSpPr>
        <p:spPr>
          <a:xfrm>
            <a:off x="9363456" y="3063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985248" y="3063240"/>
            <a:ext cx="548640" cy="640080"/>
          </a:xfrm>
          <a:prstGeom prst="roundRect">
            <a:avLst>
              <a:gd name="adj" fmla="val 10000"/>
            </a:avLst>
          </a:prstGeom>
          <a:solidFill>
            <a:srgbClr val="2E7D5B"/>
          </a:solidFill>
          <a:ln/>
        </p:spPr>
      </p:sp>
      <p:sp>
        <p:nvSpPr>
          <p:cNvPr id="35" name="Text 33"/>
          <p:cNvSpPr/>
          <p:nvPr/>
        </p:nvSpPr>
        <p:spPr>
          <a:xfrm>
            <a:off x="9985248" y="3063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10607040" y="3063240"/>
            <a:ext cx="548640" cy="640080"/>
          </a:xfrm>
          <a:prstGeom prst="roundRect">
            <a:avLst>
              <a:gd name="adj" fmla="val 10000"/>
            </a:avLst>
          </a:prstGeom>
          <a:solidFill>
            <a:srgbClr val="1F7A8C"/>
          </a:solidFill>
          <a:ln/>
        </p:spPr>
      </p:sp>
      <p:sp>
        <p:nvSpPr>
          <p:cNvPr id="37" name="Text 35"/>
          <p:cNvSpPr/>
          <p:nvPr/>
        </p:nvSpPr>
        <p:spPr>
          <a:xfrm>
            <a:off x="10607040" y="3063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28016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3,000,000,000 letters in total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429768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8680" y="4462272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 that changed my field: </a:t>
            </a:r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DNA is a sequence with grammar and meaning, then the same architecture that learned human language — the Transformer — can learn the language of life. Same tools as yesterday, pointed at the genome.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4  |  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AlphaGenome (2025–26)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million DNA letters at once to predict what they do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75304" cy="2286000"/>
          </a:xfrm>
          <a:prstGeom prst="roundRect">
            <a:avLst>
              <a:gd name="adj" fmla="val 3200"/>
            </a:avLst>
          </a:prstGeom>
          <a:solidFill>
            <a:srgbClr val="EAF2F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659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million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letters read in one go — long enough to see distant regulatory effects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06824" y="1737360"/>
            <a:ext cx="3575304" cy="2286000"/>
          </a:xfrm>
          <a:prstGeom prst="roundRect">
            <a:avLst>
              <a:gd name="adj" fmla="val 3200"/>
            </a:avLst>
          </a:prstGeom>
          <a:solidFill>
            <a:srgbClr val="EAF2FB"/>
          </a:solidFill>
          <a:ln/>
        </p:spPr>
      </p:sp>
      <p:sp>
        <p:nvSpPr>
          <p:cNvPr id="8" name="Text 6"/>
          <p:cNvSpPr/>
          <p:nvPr/>
        </p:nvSpPr>
        <p:spPr>
          <a:xfrm>
            <a:off x="4535424" y="19659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Thousands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35424" y="269748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molecular properties predicted: gene activity, splicing, DNA packaging, and more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65008" y="1737360"/>
            <a:ext cx="3575304" cy="2286000"/>
          </a:xfrm>
          <a:prstGeom prst="roundRect">
            <a:avLst>
              <a:gd name="adj" fmla="val 3200"/>
            </a:avLst>
          </a:prstGeom>
          <a:solidFill>
            <a:srgbClr val="EAF2FB"/>
          </a:solidFill>
          <a:ln/>
        </p:spPr>
      </p:sp>
      <p:sp>
        <p:nvSpPr>
          <p:cNvPr id="11" name="Text 9"/>
          <p:cNvSpPr/>
          <p:nvPr/>
        </p:nvSpPr>
        <p:spPr>
          <a:xfrm>
            <a:off x="8293608" y="19659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of 26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293608" y="269748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tests where it matched or beat the best specialist models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11091672" cy="1325880"/>
          </a:xfrm>
          <a:prstGeom prst="roundRect">
            <a:avLst>
              <a:gd name="adj" fmla="val 5517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407408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us carries millions of small DNA variants. Most are harmless; a few cause disease. Testing each one in a lab is impossible. AlphaGenome scores a variant in about a second — turning an unanswerable question into a screening problem.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Avsec et al., “Advancing regulatory variant effect prediction with AlphaGenome,” Nature (2026). Free for non-commercial research via API.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4  |  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 2: a foundation model for all of life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Institute + NVIDIA — and it can write DNA, not just read 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9.3 trillion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063240" y="178308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letters of training data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53912" y="169164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28232" y="17830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128,000+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68512" y="178308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genomes, across all three domains of life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546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billion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63240" y="315468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— the scale of a frontier language model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53912" y="306324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31546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million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668512" y="315468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 of context, at single-letter resolution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093F76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681728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biology: </a:t>
            </a:r>
            <a:pPr indent="0" marL="0">
              <a:buNone/>
            </a:pPr>
            <a:r>
              <a:rPr lang="en-US" sz="14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 2 can predict whether a mutation causes disease — and generate new DNA sequences, up to the length of a simple bacterial genome. Everything is open source: weights, code, and training data.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48640" y="5852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Brixi et al., “Genome modelling and design across all domains of life with Evo 2,” Nature (2026).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4  |  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Discuss, then vote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now generate new DNA sequences. Where should the line be?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58400" y="45720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3FB984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0" y="4572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Zuvio poll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63040" y="1965960"/>
            <a:ext cx="9235440" cy="841248"/>
          </a:xfrm>
          <a:prstGeom prst="roundRect">
            <a:avLst>
              <a:gd name="adj" fmla="val 8696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91640" y="2157984"/>
            <a:ext cx="457200" cy="457200"/>
          </a:xfrm>
          <a:prstGeom prst="ellipse">
            <a:avLst/>
          </a:prstGeom>
          <a:solidFill>
            <a:srgbClr val="0B5CAD"/>
          </a:solidFill>
          <a:ln/>
        </p:spPr>
      </p:sp>
      <p:sp>
        <p:nvSpPr>
          <p:cNvPr id="8" name="Text 6"/>
          <p:cNvSpPr/>
          <p:nvPr/>
        </p:nvSpPr>
        <p:spPr>
          <a:xfrm>
            <a:off x="1691640" y="2157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377440" y="1965960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 it helps medicine — the benefits outweigh the risks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463040" y="2926080"/>
            <a:ext cx="9235440" cy="841248"/>
          </a:xfrm>
          <a:prstGeom prst="roundRect">
            <a:avLst>
              <a:gd name="adj" fmla="val 8696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91640" y="3118104"/>
            <a:ext cx="457200" cy="457200"/>
          </a:xfrm>
          <a:prstGeom prst="ellipse">
            <a:avLst/>
          </a:prstGeom>
          <a:solidFill>
            <a:srgbClr val="0B5CAD"/>
          </a:solidFill>
          <a:ln/>
        </p:spPr>
      </p:sp>
      <p:sp>
        <p:nvSpPr>
          <p:cNvPr id="12" name="Text 10"/>
          <p:cNvSpPr/>
          <p:nvPr/>
        </p:nvSpPr>
        <p:spPr>
          <a:xfrm>
            <a:off x="1691640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77440" y="2926080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for research, but strict limits on anything released into the world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463040" y="3886200"/>
            <a:ext cx="9235440" cy="841248"/>
          </a:xfrm>
          <a:prstGeom prst="roundRect">
            <a:avLst>
              <a:gd name="adj" fmla="val 8696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91640" y="4078224"/>
            <a:ext cx="457200" cy="457200"/>
          </a:xfrm>
          <a:prstGeom prst="ellipse">
            <a:avLst/>
          </a:prstGeom>
          <a:solidFill>
            <a:srgbClr val="0B5CAD"/>
          </a:solidFill>
          <a:ln/>
        </p:spPr>
      </p:sp>
      <p:sp>
        <p:nvSpPr>
          <p:cNvPr id="16" name="Text 14"/>
          <p:cNvSpPr/>
          <p:nvPr/>
        </p:nvSpPr>
        <p:spPr>
          <a:xfrm>
            <a:off x="1691640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377440" y="3886200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with international oversight, like nuclear technology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463040" y="4846320"/>
            <a:ext cx="9235440" cy="841248"/>
          </a:xfrm>
          <a:prstGeom prst="roundRect">
            <a:avLst>
              <a:gd name="adj" fmla="val 8696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91640" y="5038344"/>
            <a:ext cx="457200" cy="457200"/>
          </a:xfrm>
          <a:prstGeom prst="ellipse">
            <a:avLst/>
          </a:prstGeom>
          <a:solidFill>
            <a:srgbClr val="0B5CAD"/>
          </a:solidFill>
          <a:ln/>
        </p:spPr>
      </p:sp>
      <p:sp>
        <p:nvSpPr>
          <p:cNvPr id="20" name="Text 18"/>
          <p:cNvSpPr/>
          <p:nvPr/>
        </p:nvSpPr>
        <p:spPr>
          <a:xfrm>
            <a:off x="1691640" y="5038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377440" y="4846320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shouldn't design living things at all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5943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with your neighbour for 90 seconds, then vote. There's no right answer — scientists disagree too.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4  |  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pattern behind every story today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recipe, four different sciences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960120"/>
          </a:xfrm>
          <a:prstGeom prst="roundRect">
            <a:avLst>
              <a:gd name="adj" fmla="val 6667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834640" y="16459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self-play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0" y="18745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040880" y="164592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Superhuman play, and new strategy humans adopted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79192"/>
            <a:ext cx="11091672" cy="960120"/>
          </a:xfrm>
          <a:prstGeom prst="roundRect">
            <a:avLst>
              <a:gd name="adj" fmla="val 6667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24912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Proteins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834640" y="2724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 + known structures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295351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40880" y="2724912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200M+ structures, free to all biology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58184"/>
            <a:ext cx="11091672" cy="960120"/>
          </a:xfrm>
          <a:prstGeom prst="roundRect">
            <a:avLst>
              <a:gd name="adj" fmla="val 6667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03904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Genome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834640" y="3803904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billion letters + measurements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403250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40880" y="3803904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what a mutation does, in a second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837176"/>
            <a:ext cx="11091672" cy="96012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882896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project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834640" y="4882896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documents + a language model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5111496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40880" y="4882896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chatbot that answers from real sources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a model the right data, give it a clear goal, let it practise. </a:t>
            </a:r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what you're about to do in the lab — at a much smaller scale, but with the same logic.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4  |  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closing thought: the perception gap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Andrej Karpathy: the gap in how people understand AI is widening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3108960"/>
          </a:xfrm>
          <a:prstGeom prst="roundRect">
            <a:avLst>
              <a:gd name="adj" fmla="val 2353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casual view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“It's a chatbot. It writes emails and sometimes makes things up.” Useful, a bit overhyped, basically a toy.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645920"/>
            <a:ext cx="5468112" cy="3108960"/>
          </a:xfrm>
          <a:prstGeom prst="roundRect">
            <a:avLst>
              <a:gd name="adj" fmla="val 2353"/>
            </a:avLst>
          </a:prstGeom>
          <a:solidFill>
            <a:srgbClr val="093F76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frontier 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6520" y="228600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just solved a 50-year problem in biology, and it's now reading the genome.” </a:t>
            </a:r>
            <a:pPr indent="0" marL="0">
              <a:buNone/>
            </a:pPr>
            <a:r>
              <a:rPr lang="en-US" sz="1400" dirty="0">
                <a:solidFill>
                  <a:srgbClr val="D8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underlying technology — wildly different sense of what it means.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983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point: </a:t>
            </a:r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views describe real things. Knowing both — the limitations you saw yesterday and the breakthroughs you saw today — is what makes you a useful voice in this conversation, whatever field you enter.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4  |  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Now, your project's problem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Yesterday's chatbot doesn't know your topic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3200400"/>
          </a:xfrm>
          <a:prstGeom prst="roundRect">
            <a:avLst>
              <a:gd name="adj" fmla="val 2286"/>
            </a:avLst>
          </a:prstGeom>
          <a:solidFill>
            <a:srgbClr val="FBEED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76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limits you've already met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cutoff — </a:t>
            </a:r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only knows what it was trained on, up to a date.
</a:t>
            </a:r>
            <a:pPr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— </a:t>
            </a:r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doesn't know, it may invent something fluent and wrong.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645920"/>
            <a:ext cx="5468112" cy="3200400"/>
          </a:xfrm>
          <a:prstGeom prst="roundRect">
            <a:avLst>
              <a:gd name="adj" fmla="val 2286"/>
            </a:avLst>
          </a:prstGeom>
          <a:solidFill>
            <a:srgbClr val="EAF2FB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fix: give it your documents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6520" y="228600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asking the model to remember, let it look things up — in texts you choose — and answer from what it finds.
</a:t>
            </a:r>
            <a:pPr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Retrieval-Augmented Generation (RAG), and it's today's lab.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also how you make an AI answer trustworthy: grounded in sources you can name and check.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4  |  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RAG works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→ augment → generate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75304" cy="2743200"/>
          </a:xfrm>
          <a:prstGeom prst="roundRect">
            <a:avLst>
              <a:gd name="adj" fmla="val 2667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56032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Retrieve
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question is compared to your documents (using embeddings, from yesterday) to find the most relevant passages.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078224" y="28803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306824" y="1737360"/>
            <a:ext cx="3575304" cy="2743200"/>
          </a:xfrm>
          <a:prstGeom prst="roundRect">
            <a:avLst>
              <a:gd name="adj" fmla="val 2667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19659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81144" y="256032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Augment
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passages are pasted into the prompt, alongside your question.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836408" y="28803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8065008" y="1737360"/>
            <a:ext cx="3575304" cy="2743200"/>
          </a:xfrm>
          <a:prstGeom prst="roundRect">
            <a:avLst>
              <a:gd name="adj" fmla="val 2667"/>
            </a:avLst>
          </a:prstGeom>
          <a:solidFill>
            <a:srgbClr val="EAF2F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19659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39328" y="256032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Generate
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answers using that text — so the answer is grounded in your sources, not its memory.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548640" y="48006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embeddings from yesterday? </a:t>
            </a:r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they earn their keep: they're how the system knows which passage is about your question, even when the words differ.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4  |  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Now: build your project's knowledge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the lab is your build time — RAG on your own texts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75304" cy="3017520"/>
          </a:xfrm>
          <a:prstGeom prst="roundRect">
            <a:avLst>
              <a:gd name="adj" fmla="val 2424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542032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Set up
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RAG Colab, add your API key, Run all. Watch it work on the sample texts first.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4306824" y="1737360"/>
            <a:ext cx="3575304" cy="3017520"/>
          </a:xfrm>
          <a:prstGeom prst="roundRect">
            <a:avLst>
              <a:gd name="adj" fmla="val 2424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196596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81144" y="2542032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Add your texts
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2–3 Wikipedia pages (or your own documents) as PDF and upload them.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8065008" y="1737360"/>
            <a:ext cx="3575304" cy="3017520"/>
          </a:xfrm>
          <a:prstGeom prst="roundRect">
            <a:avLst>
              <a:gd name="adj" fmla="val 2424"/>
            </a:avLst>
          </a:prstGeom>
          <a:solidFill>
            <a:srgbClr val="F5F8FB"/>
          </a:solidFill>
          <a:ln w="12700">
            <a:solidFill>
              <a:srgbClr val="DDE5EC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196596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39328" y="2542032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Interrogate it
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in-text, out-of-text, and memory questions. Then add a guardrail to keep it on topic.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548640" y="4983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</a:t>
            </a:r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RAG notebook on your topic, your uploaded texts, and a saved chat log showing an in-text answer, an out-of-text question, and a memory question.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Communication &amp; Emerging Technologies · NCCU ISS 2026 · Day 4  |  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93F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can now say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77240" y="1600200"/>
            <a:ext cx="10607040" cy="914400"/>
          </a:xfrm>
          <a:prstGeom prst="roundRect">
            <a:avLst>
              <a:gd name="adj" fmla="val 7000"/>
            </a:avLst>
          </a:prstGeom>
          <a:solidFill>
            <a:srgbClr val="0B5CAD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645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Reinforcement learning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160520" y="164592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AlphaGo learned from consequences, not answer keys — and invented moves humans now study.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2642616"/>
            <a:ext cx="10607040" cy="914400"/>
          </a:xfrm>
          <a:prstGeom prst="roundRect">
            <a:avLst>
              <a:gd name="adj" fmla="val 7000"/>
            </a:avLst>
          </a:prstGeom>
          <a:solidFill>
            <a:srgbClr val="0B5CAD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68833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AlphaFold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60520" y="2688336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50-year biology problem fell in 2020, and 200M protein structures became free to everyone.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3685032"/>
            <a:ext cx="10607040" cy="914400"/>
          </a:xfrm>
          <a:prstGeom prst="roundRect">
            <a:avLst>
              <a:gd name="adj" fmla="val 7000"/>
            </a:avLst>
          </a:prstGeom>
          <a:solidFill>
            <a:srgbClr val="0B5CAD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73075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Nobels, 2024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60520" y="3730752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for the machinery of neural networks; Chemistry for what that machinery unlocked.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4727448"/>
            <a:ext cx="10607040" cy="914400"/>
          </a:xfrm>
          <a:prstGeom prst="roundRect">
            <a:avLst>
              <a:gd name="adj" fmla="val 7000"/>
            </a:avLst>
          </a:prstGeom>
          <a:solidFill>
            <a:srgbClr val="0B5CAD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77316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reads life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60520" y="4773168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AlphaGenome and Evo 2 apply language models to DNA — predicting, and now designing, biology.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B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Monday 7/27 — turn your RAG system into a shareable web app with Gradio, and assemble your final project.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2026-07-22T16:34:51Z</dcterms:created>
  <dcterms:modified xsi:type="dcterms:W3CDTF">2026-07-22T16:34:51Z</dcterms:modified>
</cp:coreProperties>
</file>